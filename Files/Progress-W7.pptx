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70" r:id="rId7"/>
    <p:sldId id="260" r:id="rId8"/>
    <p:sldId id="262" r:id="rId9"/>
    <p:sldId id="263" r:id="rId10"/>
    <p:sldId id="275" r:id="rId11"/>
    <p:sldId id="276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5D5C5-E709-4221-9553-16A6DA7BD286}" v="47" dt="2026-04-21T06:44:56.432"/>
    <p1510:client id="{C1A19C19-D724-489E-9753-5F56A047BFCA}" v="1188" dt="2026-04-21T06:58:48.761"/>
    <p1510:client id="{D12C6B88-D3AB-21E7-238C-82F2975E0FE0}" v="561" vWet="563" dt="2026-04-21T06:58:43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36" autoAdjust="0"/>
  </p:normalViewPr>
  <p:slideViewPr>
    <p:cSldViewPr snapToGrid="0">
      <p:cViewPr varScale="1">
        <p:scale>
          <a:sx n="127" d="100"/>
          <a:sy n="127" d="100"/>
        </p:scale>
        <p:origin x="10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61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ahmed1090822.github.io/Ahmed109.github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sel-ghunaim.github.io/" TargetMode="External"/><Relationship Id="rId5" Type="http://schemas.openxmlformats.org/officeDocument/2006/relationships/hyperlink" Target="https://sabeehahasham.github.io/" TargetMode="External"/><Relationship Id="rId4" Type="http://schemas.openxmlformats.org/officeDocument/2006/relationships/hyperlink" Target="https://maherrrrr99.github.io/maherrrrr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463542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14/4/2026 – 21/4/2026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007406" y="2332072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Execution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3 Active</a:t>
            </a:r>
            <a:endParaRPr lang="en-US" sz="119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Successfully built and tested and IK model using </a:t>
            </a:r>
            <a:r>
              <a:rPr lang="en-US" sz="800" dirty="0" err="1">
                <a:latin typeface="Inter "/>
              </a:rPr>
              <a:t>moveit</a:t>
            </a:r>
            <a:r>
              <a:rPr lang="en-US" sz="800" dirty="0">
                <a:latin typeface="Inter "/>
              </a:rPr>
              <a:t> and Rviz for visualizing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Built, tested and successfully controlled a pneumatic suction system that is capable of relatively high pay loads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Set up the Raspberry pi with the current yolov8 model, connected and set up the camera – the full system is almost in place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Blocker: Continued printing issues – prototype and assembly can’t be made yet</a:t>
            </a:r>
            <a:r>
              <a:rPr lang="en-US" sz="800">
                <a:latin typeface="Inter "/>
              </a:rPr>
              <a:t>, causing significant delays</a:t>
            </a: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B2297B-5BBF-E577-E0CE-59FC2FF3B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558" y="2264516"/>
            <a:ext cx="239111" cy="1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52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5345976" y="60174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 dirty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 dirty="0"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6FED9-B1AD-C7ED-7F71-1A14B42B7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4" y="1052270"/>
            <a:ext cx="4449055" cy="216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8A0DB-16A8-2B34-DF3A-D6A5BA1A5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624" y="3214027"/>
            <a:ext cx="4502675" cy="16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 dirty="0">
                <a:latin typeface="Times New Roman"/>
                <a:ea typeface="Calibri"/>
                <a:cs typeface="Times New Roman"/>
              </a:rPr>
              <a:t>Finalize and deploy the computer vision model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8</a:t>
            </a:r>
          </a:p>
        </p:txBody>
      </p:sp>
      <p:sp>
        <p:nvSpPr>
          <p:cNvPr id="34" name="Shape 31"/>
          <p:cNvSpPr/>
          <p:nvPr/>
        </p:nvSpPr>
        <p:spPr>
          <a:xfrm>
            <a:off x="4351186" y="2315101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59908"/>
            <a:ext cx="2192489" cy="2764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latin typeface="Times New Roman"/>
                <a:ea typeface="Calibri"/>
                <a:cs typeface="Times New Roman"/>
              </a:rPr>
              <a:t>Finish the IK kinematics  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85050"/>
            <a:ext cx="2192489" cy="2787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  <a:ea typeface="Calibri"/>
                <a:cs typeface="Calibri"/>
              </a:rPr>
              <a:t>Procure, assemble, and experiment on gripper.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4358329" y="2862349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</a:rPr>
              <a:t>Finalize a manual override system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D39F-A107-DB92-438C-F1C07FE11B48}"/>
              </a:ext>
            </a:extLst>
          </p:cNvPr>
          <p:cNvSpPr txBox="1"/>
          <p:nvPr/>
        </p:nvSpPr>
        <p:spPr>
          <a:xfrm>
            <a:off x="403152" y="1674511"/>
            <a:ext cx="37726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Fabrication delays</a:t>
            </a:r>
          </a:p>
          <a:p>
            <a:pPr>
              <a:buClr>
                <a:schemeClr val="accent2"/>
              </a:buClr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No access to university is slowing down work efforts, and overall progress.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5213A-04DC-99F6-56D0-C31C13B51EA9}"/>
              </a:ext>
            </a:extLst>
          </p:cNvPr>
          <p:cNvSpPr txBox="1"/>
          <p:nvPr/>
        </p:nvSpPr>
        <p:spPr>
          <a:xfrm>
            <a:off x="439675" y="3139997"/>
            <a:ext cx="377260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Conduct virtual meetings often.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Constant communication and updates.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Each member should take their own initiatives.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Aim to make any sort of progress, regardless of how small or big.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7715250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INDIVIDUAL UPDATES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2962349" cy="26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1: Maher Abo Abed</a:t>
            </a:r>
            <a:endParaRPr lang="en-US" sz="1602"/>
          </a:p>
        </p:txBody>
      </p:sp>
      <p:sp>
        <p:nvSpPr>
          <p:cNvPr id="4" name="Shape 1"/>
          <p:cNvSpPr/>
          <p:nvPr/>
        </p:nvSpPr>
        <p:spPr>
          <a:xfrm>
            <a:off x="428625" y="109385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09385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01923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18" name="Text 15"/>
          <p:cNvSpPr/>
          <p:nvPr/>
        </p:nvSpPr>
        <p:spPr>
          <a:xfrm>
            <a:off x="428625" y="26449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8188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5486400" y="1101923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1101923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1101923"/>
            <a:ext cx="3228975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</a:t>
            </a:r>
            <a:endParaRPr lang="en-US" sz="784"/>
          </a:p>
        </p:txBody>
      </p:sp>
      <p:sp>
        <p:nvSpPr>
          <p:cNvPr id="41" name="Text 38"/>
          <p:cNvSpPr/>
          <p:nvPr/>
        </p:nvSpPr>
        <p:spPr>
          <a:xfrm>
            <a:off x="5593556" y="44737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C5C11AB-4298-1F3D-4BAB-A15E04959EA3}"/>
              </a:ext>
            </a:extLst>
          </p:cNvPr>
          <p:cNvSpPr/>
          <p:nvPr/>
        </p:nvSpPr>
        <p:spPr>
          <a:xfrm>
            <a:off x="432197" y="210666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D4137FF8-BCB6-131E-C126-133FA6B6492C}"/>
              </a:ext>
            </a:extLst>
          </p:cNvPr>
          <p:cNvSpPr/>
          <p:nvPr/>
        </p:nvSpPr>
        <p:spPr>
          <a:xfrm>
            <a:off x="428625" y="2305644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F8F1F96-9CDD-DA54-2FD8-627D600644BE}"/>
              </a:ext>
            </a:extLst>
          </p:cNvPr>
          <p:cNvSpPr/>
          <p:nvPr/>
        </p:nvSpPr>
        <p:spPr>
          <a:xfrm>
            <a:off x="428625" y="2450997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57E5E1-D9EE-98B2-92F1-5A277F23A7CA}"/>
              </a:ext>
            </a:extLst>
          </p:cNvPr>
          <p:cNvSpPr txBox="1"/>
          <p:nvPr/>
        </p:nvSpPr>
        <p:spPr>
          <a:xfrm>
            <a:off x="426720" y="1476705"/>
            <a:ext cx="4618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Finished IK (ROS Based)</a:t>
            </a:r>
          </a:p>
          <a:p>
            <a:pPr marL="628650" lvl="1" indent="-1714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800" dirty="0" err="1">
                <a:latin typeface="Inter "/>
              </a:rPr>
              <a:t>IKFast</a:t>
            </a:r>
            <a:r>
              <a:rPr lang="en-US" sz="800" dirty="0">
                <a:latin typeface="Inter "/>
              </a:rPr>
              <a:t> – Not successful (older solution, requires almost perfect </a:t>
            </a:r>
            <a:r>
              <a:rPr lang="en-US" sz="800" dirty="0" err="1">
                <a:latin typeface="Inter "/>
              </a:rPr>
              <a:t>urdf</a:t>
            </a:r>
            <a:r>
              <a:rPr lang="en-US" sz="800" dirty="0">
                <a:latin typeface="Inter "/>
              </a:rPr>
              <a:t>, visualizing is difficult)</a:t>
            </a:r>
          </a:p>
          <a:p>
            <a:pPr marL="628650" lvl="1" indent="-1714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800" dirty="0">
                <a:latin typeface="Inter "/>
              </a:rPr>
              <a:t>Hand calculations – attempted but preferred other solutions</a:t>
            </a:r>
          </a:p>
          <a:p>
            <a:pPr marL="628650" lvl="1" indent="-1714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800" dirty="0" err="1">
                <a:latin typeface="Inter "/>
              </a:rPr>
              <a:t>Moveit</a:t>
            </a:r>
            <a:r>
              <a:rPr lang="en-US" sz="800" dirty="0">
                <a:latin typeface="Inter "/>
              </a:rPr>
              <a:t> – working, trial and tested, can be visualized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Analyzed the reachable workspace using this newly made model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Attempted random poses, and verified solution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Started with object tracking/following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Made a successful code, but suffered with hardware issues</a:t>
            </a:r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CB3CB0D9-571B-33FB-9203-503A4DD142BF}"/>
              </a:ext>
            </a:extLst>
          </p:cNvPr>
          <p:cNvSpPr/>
          <p:nvPr/>
        </p:nvSpPr>
        <p:spPr>
          <a:xfrm>
            <a:off x="428625" y="272122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r>
              <a:rPr lang="en-US" sz="800" b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 PROGRESS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2F31ABC2-C27E-9258-D5CF-D35B548E4FE2}"/>
              </a:ext>
            </a:extLst>
          </p:cNvPr>
          <p:cNvSpPr/>
          <p:nvPr/>
        </p:nvSpPr>
        <p:spPr>
          <a:xfrm>
            <a:off x="428625" y="272122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0EE0C4A1-62DE-BC2B-5C97-F1823850A00B}"/>
              </a:ext>
            </a:extLst>
          </p:cNvPr>
          <p:cNvSpPr/>
          <p:nvPr/>
        </p:nvSpPr>
        <p:spPr>
          <a:xfrm>
            <a:off x="428625" y="2729293"/>
            <a:ext cx="4843463" cy="26981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059FF9-8741-C360-B346-CD9C1E9C826B}"/>
              </a:ext>
            </a:extLst>
          </p:cNvPr>
          <p:cNvSpPr txBox="1"/>
          <p:nvPr/>
        </p:nvSpPr>
        <p:spPr>
          <a:xfrm>
            <a:off x="428625" y="3025909"/>
            <a:ext cx="4618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Inverse kinematic for the suction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Object tracking and following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Awaiting printed parts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A9F6B7-30B7-104D-1FAE-5250DE80EAE7}"/>
              </a:ext>
            </a:extLst>
          </p:cNvPr>
          <p:cNvSpPr txBox="1"/>
          <p:nvPr/>
        </p:nvSpPr>
        <p:spPr>
          <a:xfrm>
            <a:off x="426720" y="3986574"/>
            <a:ext cx="461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Mechanical assembly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Finish the  IK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Finish the object tracking/following.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pic>
        <p:nvPicPr>
          <p:cNvPr id="9" name="ikvid">
            <a:hlinkClick r:id="" action="ppaction://media"/>
            <a:extLst>
              <a:ext uri="{FF2B5EF4-FFF2-40B4-BE49-F238E27FC236}">
                <a16:creationId xmlns:a16="http://schemas.microsoft.com/office/drawing/2014/main" id="{7D90D467-DD19-24EF-A66B-4632864B54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93377" y="1606280"/>
            <a:ext cx="4106973" cy="3023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2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E0AC180-91DF-5FD8-2EBD-032175C84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2033" y="0"/>
            <a:ext cx="5844100" cy="328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C1AD3CE-A6FC-A5BA-3A51-8E7BB7FE5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05582" y="1689940"/>
            <a:ext cx="6139664" cy="345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25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59F04-120F-2229-7E56-25646BC78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747656" cy="3197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FF18B1-72FC-FFCC-0EE8-40169FBE8D63}"/>
              </a:ext>
            </a:extLst>
          </p:cNvPr>
          <p:cNvSpPr txBox="1"/>
          <p:nvPr/>
        </p:nvSpPr>
        <p:spPr>
          <a:xfrm>
            <a:off x="5932073" y="169049"/>
            <a:ext cx="275856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The program uses a camera to detect objects in real time using a YOLOv8 model.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It is specifically configured to detect only </a:t>
            </a:r>
            <a:r>
              <a:rPr lang="en-US" sz="800" dirty="0" err="1">
                <a:latin typeface="Inter "/>
              </a:rPr>
              <a:t>apples.For</a:t>
            </a:r>
            <a:r>
              <a:rPr lang="en-US" sz="800" dirty="0">
                <a:latin typeface="Inter "/>
              </a:rPr>
              <a:t> every video frame, the model finds objects and filters out everything except apples with sufficient </a:t>
            </a:r>
            <a:r>
              <a:rPr lang="en-US" sz="800" dirty="0" err="1">
                <a:latin typeface="Inter "/>
              </a:rPr>
              <a:t>confidence.If</a:t>
            </a:r>
            <a:r>
              <a:rPr lang="en-US" sz="800" dirty="0">
                <a:latin typeface="Inter "/>
              </a:rPr>
              <a:t> multiple apples are detected, the program selects the largest one (closest to the camera)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It calculates the horizontal position (center) and size (area) of the selected apple.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The program compares the apple’s position to the center of the screen.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If the apple is to the left, it sends a "L" command (turn left).If the apple is to the right, it sends a "R" command (turn right).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If the apple is </a:t>
            </a:r>
            <a:r>
              <a:rPr lang="en-US" sz="800" dirty="0" err="1">
                <a:latin typeface="Inter "/>
              </a:rPr>
              <a:t>centered:It</a:t>
            </a:r>
            <a:r>
              <a:rPr lang="en-US" sz="800" dirty="0">
                <a:latin typeface="Inter "/>
              </a:rPr>
              <a:t> sends "F" (move forward) if the apple is far </a:t>
            </a:r>
            <a:r>
              <a:rPr lang="en-US" sz="800" dirty="0" err="1">
                <a:latin typeface="Inter "/>
              </a:rPr>
              <a:t>away.It</a:t>
            </a:r>
            <a:r>
              <a:rPr lang="en-US" sz="800" dirty="0">
                <a:latin typeface="Inter "/>
              </a:rPr>
              <a:t> sends "S" (stop) if the apple is close enough.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Commands are sent through a serial connection to a device like an </a:t>
            </a:r>
            <a:r>
              <a:rPr lang="en-US" sz="800" dirty="0" err="1">
                <a:latin typeface="Inter "/>
              </a:rPr>
              <a:t>Arduino.The</a:t>
            </a:r>
            <a:r>
              <a:rPr lang="en-US" sz="800" dirty="0">
                <a:latin typeface="Inter "/>
              </a:rPr>
              <a:t> program avoids sending the same command repeatedly unless it changes.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It displays the video feed with detection boxes and shows the current target and command on screen.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The loop runs continuously until the user presses "q" to quit.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When exiting, it sends a stop command, closes the serial connection, and releases the camera</a:t>
            </a:r>
          </a:p>
        </p:txBody>
      </p:sp>
    </p:spTree>
    <p:extLst>
      <p:ext uri="{BB962C8B-B14F-4D97-AF65-F5344CB8AC3E}">
        <p14:creationId xmlns:p14="http://schemas.microsoft.com/office/powerpoint/2010/main" val="161390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642072"/>
            <a:ext cx="3446456" cy="287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2: Sabeeha Hasham </a:t>
            </a:r>
            <a:endParaRPr lang="en-US">
              <a:latin typeface="Roboto Mono"/>
              <a:ea typeface="Roboto Mono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59994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59994"/>
            <a:ext cx="4843463" cy="2669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750" b="1">
                <a:solidFill>
                  <a:srgbClr val="FFFFFF"/>
                </a:solidFill>
                <a:latin typeface="Roboto Mono"/>
                <a:ea typeface="Roboto Mono"/>
              </a:rPr>
              <a:t>ACCOMPLISHED (SINCE LAST REPORT)</a:t>
            </a:r>
            <a:endParaRPr lang="en-US" sz="7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6845" y="1495813"/>
            <a:ext cx="4615182" cy="135421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173355" indent="-173355" algn="l" rtl="0">
              <a:buFont typeface="Arial"/>
              <a:buChar char="•"/>
            </a:pPr>
            <a:endParaRPr lang="en-US" sz="800">
              <a:latin typeface="Times New Roman"/>
              <a:cs typeface="Times New Roman"/>
            </a:endParaRPr>
          </a:p>
          <a:p>
            <a:pPr marL="173355" indent="-173355" algn="l" rtl="0">
              <a:buFont typeface="Arial"/>
              <a:buChar char="•"/>
            </a:pPr>
            <a:r>
              <a:rPr lang="en-US" sz="800" kern="1200">
                <a:latin typeface="Times New Roman"/>
                <a:cs typeface="Times New Roman"/>
              </a:rPr>
              <a:t>Installed or worked on camera-related tools (like v4l-utils) for camera support </a:t>
            </a:r>
          </a:p>
          <a:p>
            <a:pPr marL="630555" lvl="1" indent="-173355">
              <a:buFont typeface="Courier New"/>
              <a:buChar char="o"/>
            </a:pPr>
            <a:r>
              <a:rPr lang="en-US" sz="800" kern="1200">
                <a:latin typeface="Times New Roman"/>
                <a:cs typeface="Times New Roman"/>
              </a:rPr>
              <a:t>Connected the Raspberry Pi Camera Module 2 to the Pi</a:t>
            </a:r>
            <a:endParaRPr lang="en-US" sz="800">
              <a:latin typeface="Times New Roman"/>
              <a:cs typeface="Times New Roman"/>
            </a:endParaRPr>
          </a:p>
          <a:p>
            <a:pPr marL="173355" indent="-173355">
              <a:buFont typeface="Arial"/>
              <a:buChar char="•"/>
            </a:pPr>
            <a:r>
              <a:rPr lang="en-US" sz="800">
                <a:latin typeface="Times New Roman"/>
                <a:ea typeface="+mn-lt"/>
                <a:cs typeface="Times New Roman"/>
              </a:rPr>
              <a:t>Used Windows PowerShell with the </a:t>
            </a:r>
            <a:r>
              <a:rPr lang="en-US" sz="800" err="1">
                <a:latin typeface="Times New Roman"/>
                <a:cs typeface="Times New Roman"/>
              </a:rPr>
              <a:t>scp</a:t>
            </a:r>
            <a:r>
              <a:rPr lang="en-US" sz="800">
                <a:latin typeface="Times New Roman"/>
                <a:ea typeface="+mn-lt"/>
                <a:cs typeface="Times New Roman"/>
              </a:rPr>
              <a:t> command to directly transfer best.zip from my PC to the Raspberry Pi over the network, instead of using file-sharing apps like WhatsApp or Google Drive – they didn’t work</a:t>
            </a:r>
            <a:endParaRPr lang="en-US" sz="800" kern="1200">
              <a:latin typeface="Times New Roman"/>
              <a:cs typeface="Times New Roman"/>
            </a:endParaRPr>
          </a:p>
          <a:p>
            <a:pPr marL="173355" indent="-173355" algn="l" rtl="0">
              <a:buFont typeface="Arial"/>
              <a:buChar char="•"/>
            </a:pPr>
            <a:r>
              <a:rPr lang="en-US" sz="800" kern="1200">
                <a:latin typeface="Times New Roman"/>
                <a:cs typeface="Times New Roman"/>
              </a:rPr>
              <a:t>Attempted to run your object detection system using YOLOv8  </a:t>
            </a:r>
          </a:p>
          <a:p>
            <a:pPr marL="630555" indent="-173355">
              <a:buFont typeface="Arial"/>
              <a:buChar char="•"/>
            </a:pPr>
            <a:r>
              <a:rPr lang="en-US" sz="800" kern="1200">
                <a:latin typeface="Times New Roman"/>
                <a:cs typeface="Times New Roman"/>
              </a:rPr>
              <a:t>Encountered an error: “Illegal instruction (core dumped</a:t>
            </a:r>
            <a:r>
              <a:rPr lang="en-US" sz="800">
                <a:latin typeface="Times New Roman"/>
                <a:cs typeface="Times New Roman"/>
              </a:rPr>
              <a:t>)”</a:t>
            </a:r>
            <a:r>
              <a:rPr lang="en-US" sz="800" kern="1200">
                <a:latin typeface="Times New Roman"/>
                <a:cs typeface="Times New Roman"/>
              </a:rPr>
              <a:t> the model or environment </a:t>
            </a:r>
            <a:r>
              <a:rPr lang="en-US" sz="800">
                <a:latin typeface="Times New Roman"/>
                <a:cs typeface="Times New Roman"/>
              </a:rPr>
              <a:t>isn't compatible</a:t>
            </a:r>
            <a:r>
              <a:rPr lang="en-US" sz="800" kern="1200">
                <a:latin typeface="Times New Roman"/>
                <a:cs typeface="Times New Roman"/>
              </a:rPr>
              <a:t> with </a:t>
            </a:r>
            <a:r>
              <a:rPr lang="en-US" sz="800">
                <a:latin typeface="Times New Roman"/>
                <a:cs typeface="Times New Roman"/>
              </a:rPr>
              <a:t>the Pi</a:t>
            </a:r>
            <a:r>
              <a:rPr lang="en-US" sz="800" kern="1200">
                <a:latin typeface="Times New Roman"/>
                <a:cs typeface="Times New Roman"/>
              </a:rPr>
              <a:t> setup </a:t>
            </a:r>
          </a:p>
          <a:p>
            <a:pPr marL="173355" indent="-173355" algn="l" rtl="0">
              <a:buFont typeface="Arial"/>
              <a:buChar char="•"/>
            </a:pPr>
            <a:r>
              <a:rPr lang="en-US" sz="800" kern="1200">
                <a:latin typeface="Times New Roman"/>
                <a:cs typeface="Times New Roman"/>
              </a:rPr>
              <a:t>Worked inside a Python virtual environment (</a:t>
            </a:r>
            <a:r>
              <a:rPr lang="en-US" sz="800" kern="1200" err="1">
                <a:latin typeface="Times New Roman"/>
                <a:cs typeface="Times New Roman"/>
              </a:rPr>
              <a:t>yolovenv</a:t>
            </a:r>
            <a:r>
              <a:rPr lang="en-US" sz="100" kern="1200">
                <a:latin typeface="Times New Roman"/>
                <a:cs typeface="Times New Roman"/>
              </a:rPr>
              <a:t>))</a:t>
            </a:r>
            <a:endParaRPr lang="en-US" sz="100" kern="1200">
              <a:latin typeface="Times New Roman"/>
              <a:ea typeface="Calibri"/>
              <a:cs typeface="Times New Roman"/>
            </a:endParaRPr>
          </a:p>
          <a:p>
            <a:pPr marL="173355" indent="-173355" algn="l" rtl="0">
              <a:buFont typeface="Arial"/>
              <a:buChar char="•"/>
            </a:pPr>
            <a:r>
              <a:rPr lang="en-US" sz="800">
                <a:latin typeface="Times New Roman"/>
                <a:cs typeface="Times New Roman"/>
              </a:rPr>
              <a:t>Adjusted</a:t>
            </a:r>
            <a:r>
              <a:rPr lang="en-US" sz="800" kern="1200">
                <a:latin typeface="Times New Roman"/>
                <a:cs typeface="Times New Roman"/>
              </a:rPr>
              <a:t> system settings (like memory/swap limits) to improve performance </a:t>
            </a:r>
            <a:endParaRPr lang="en-US" sz="7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1510038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1707189"/>
            <a:ext cx="65" cy="127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650" b="1">
              <a:solidFill>
                <a:srgbClr val="FF5722"/>
              </a:solidFill>
              <a:latin typeface="Inter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625" y="1904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3" name="Shape 10"/>
          <p:cNvSpPr/>
          <p:nvPr/>
        </p:nvSpPr>
        <p:spPr>
          <a:xfrm>
            <a:off x="435083" y="2986627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4337" y="291828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5331" y="3332874"/>
            <a:ext cx="4890438" cy="4154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900">
                <a:latin typeface="Times New Roman"/>
                <a:ea typeface="Calibri"/>
                <a:cs typeface="Times New Roman"/>
              </a:rPr>
              <a:t>Camera is physically connected but the detection code crashes due to compatibility/performance issues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 sz="9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8625" y="2845366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9" name="Text 16"/>
          <p:cNvSpPr/>
          <p:nvPr/>
        </p:nvSpPr>
        <p:spPr>
          <a:xfrm>
            <a:off x="381652" y="3269551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0" name="Shape 17"/>
          <p:cNvSpPr/>
          <p:nvPr/>
        </p:nvSpPr>
        <p:spPr>
          <a:xfrm>
            <a:off x="418275" y="401626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0796" y="367220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3838" y="401678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5" name="Text 22"/>
          <p:cNvSpPr/>
          <p:nvPr/>
        </p:nvSpPr>
        <p:spPr>
          <a:xfrm>
            <a:off x="452111" y="4045737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7" name="Shape 24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522768" y="64091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(SHOW, DON'T TELL)</a:t>
            </a:r>
            <a:endParaRPr lang="en-US" sz="784"/>
          </a:p>
        </p:txBody>
      </p:sp>
      <p:sp>
        <p:nvSpPr>
          <p:cNvPr id="32" name="Text 29"/>
          <p:cNvSpPr/>
          <p:nvPr/>
        </p:nvSpPr>
        <p:spPr>
          <a:xfrm>
            <a:off x="6179065" y="2048925"/>
            <a:ext cx="223685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0" y="4177001"/>
            <a:ext cx="3228975" cy="96649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4177001"/>
            <a:ext cx="3228975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93556" y="4312732"/>
            <a:ext cx="3014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E651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683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F017F171-5ABA-7FED-BA28-6540C359C231}"/>
              </a:ext>
            </a:extLst>
          </p:cNvPr>
          <p:cNvSpPr/>
          <p:nvPr/>
        </p:nvSpPr>
        <p:spPr>
          <a:xfrm>
            <a:off x="387754" y="2986693"/>
            <a:ext cx="4843463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IN PROGRESS</a:t>
            </a:r>
            <a:endParaRPr lang="en-US" sz="784"/>
          </a:p>
        </p:txBody>
      </p:sp>
      <p:sp>
        <p:nvSpPr>
          <p:cNvPr id="45" name="AutoShape 8">
            <a:extLst>
              <a:ext uri="{FF2B5EF4-FFF2-40B4-BE49-F238E27FC236}">
                <a16:creationId xmlns:a16="http://schemas.microsoft.com/office/drawing/2014/main" id="{EF6815CA-200F-E3EE-0096-16B287407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2C3BAF-C560-2A3F-C600-8E33B0D45421}"/>
              </a:ext>
            </a:extLst>
          </p:cNvPr>
          <p:cNvSpPr/>
          <p:nvPr/>
        </p:nvSpPr>
        <p:spPr>
          <a:xfrm>
            <a:off x="8210550" y="2767013"/>
            <a:ext cx="85725" cy="7835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13423B49-5A78-47F5-9F53-50E0E8E4063F}"/>
              </a:ext>
            </a:extLst>
          </p:cNvPr>
          <p:cNvSpPr/>
          <p:nvPr/>
        </p:nvSpPr>
        <p:spPr>
          <a:xfrm>
            <a:off x="420795" y="2443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pic>
        <p:nvPicPr>
          <p:cNvPr id="26" name="Picture 25" descr="A screen on a wall&#10;&#10;AI-generated content may be incorrect.">
            <a:extLst>
              <a:ext uri="{FF2B5EF4-FFF2-40B4-BE49-F238E27FC236}">
                <a16:creationId xmlns:a16="http://schemas.microsoft.com/office/drawing/2014/main" id="{A888E270-2CA5-4954-E2F5-B648D548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56" y="932890"/>
            <a:ext cx="2538133" cy="3378574"/>
          </a:xfrm>
          <a:prstGeom prst="rect">
            <a:avLst/>
          </a:prstGeom>
        </p:spPr>
      </p:pic>
      <p:pic>
        <p:nvPicPr>
          <p:cNvPr id="30" name="Picture 29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05ADF036-5990-30BB-FD3B-677826E0C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824" y="2486026"/>
            <a:ext cx="391646" cy="986678"/>
          </a:xfrm>
          <a:prstGeom prst="rect">
            <a:avLst/>
          </a:prstGeom>
        </p:spPr>
      </p:pic>
      <p:pic>
        <p:nvPicPr>
          <p:cNvPr id="36" name="Picture 3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31F3004-91FA-13FC-B35C-0DF4BF4CE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206" y="3512763"/>
            <a:ext cx="2998695" cy="16058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3042" y="362328"/>
            <a:ext cx="4664739" cy="327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3: Basel Feras Ghunaim 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95594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315289"/>
            <a:ext cx="4143375" cy="98488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Completed component selection and purchasing process for the suction system Acquired: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Vacuum pump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Suction cup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Tubing and connectors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Successfully assembled and tested the suction system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Achieved lifting capability of up to 200 g, exceeding initial requirements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Validated that the suction system is functional and reliable for target objects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89087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679157" y="1310570"/>
            <a:ext cx="4032372" cy="36933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Evaluating overall system integration (gripper + suction)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Observing performance and identifying any improvements in stability or sealing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Discussing control methods for remote operation as a team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F08FA920-262A-027D-F8B0-48B74695F9F1}"/>
              </a:ext>
            </a:extLst>
          </p:cNvPr>
          <p:cNvSpPr/>
          <p:nvPr/>
        </p:nvSpPr>
        <p:spPr>
          <a:xfrm>
            <a:off x="345688" y="2562349"/>
            <a:ext cx="4106971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55A05CCD-5AF9-137C-11D5-B20658210679}"/>
              </a:ext>
            </a:extLst>
          </p:cNvPr>
          <p:cNvSpPr/>
          <p:nvPr/>
        </p:nvSpPr>
        <p:spPr>
          <a:xfrm>
            <a:off x="309284" y="257227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8236D2F3-39F0-957D-EA72-63F4429D6E25}"/>
              </a:ext>
            </a:extLst>
          </p:cNvPr>
          <p:cNvSpPr/>
          <p:nvPr/>
        </p:nvSpPr>
        <p:spPr>
          <a:xfrm>
            <a:off x="317113" y="2572274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B89DB1A-8A87-13F0-75C0-6E554485E069}"/>
              </a:ext>
            </a:extLst>
          </p:cNvPr>
          <p:cNvSpPr/>
          <p:nvPr/>
        </p:nvSpPr>
        <p:spPr>
          <a:xfrm>
            <a:off x="309284" y="2984534"/>
            <a:ext cx="4143375" cy="6155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Explore and implement remote control of the robotic arm/gripper.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Investigate possible control methods: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Wireless control (Bluetooth / Wi-Fi)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Remote interface via Raspberry Pi or Arduino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Select the most suitable approach and begin initial implementation and testing</a:t>
            </a:r>
            <a:endParaRPr lang="en-US" sz="800">
              <a:ea typeface="Calibri"/>
              <a:cs typeface="Calibri"/>
            </a:endParaRPr>
          </a:p>
        </p:txBody>
      </p:sp>
      <p:pic>
        <p:nvPicPr>
          <p:cNvPr id="11" name="Video 8">
            <a:hlinkClick r:id="" action="ppaction://media"/>
            <a:extLst>
              <a:ext uri="{FF2B5EF4-FFF2-40B4-BE49-F238E27FC236}">
                <a16:creationId xmlns:a16="http://schemas.microsoft.com/office/drawing/2014/main" id="{B00C53D8-CD6B-311F-B21C-29F89C95A7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22019" y="1720299"/>
            <a:ext cx="1768998" cy="31440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C52877-3E80-729C-5A62-3391CC1B2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698" y="1807731"/>
            <a:ext cx="1635919" cy="290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961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3693319" cy="326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000" b="1" dirty="0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4: Ahmed </a:t>
            </a:r>
            <a:r>
              <a:rPr lang="en-US" sz="2000" b="1" dirty="0" err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Alshehhi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10" name="Text 7"/>
          <p:cNvSpPr/>
          <p:nvPr/>
        </p:nvSpPr>
        <p:spPr>
          <a:xfrm>
            <a:off x="428625" y="2246681"/>
            <a:ext cx="4036219" cy="3729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900"/>
              </a:lnSpc>
            </a:pPr>
            <a:endParaRPr lang="en-US" sz="800">
              <a:latin typeface="Aptos"/>
              <a:ea typeface="Inter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625" y="1712351"/>
            <a:ext cx="65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0461" y="2168316"/>
            <a:ext cx="65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4679156" y="1943798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5" name="Text 22"/>
          <p:cNvSpPr/>
          <p:nvPr/>
        </p:nvSpPr>
        <p:spPr>
          <a:xfrm>
            <a:off x="428625" y="4019950"/>
            <a:ext cx="65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28625" y="4251396"/>
            <a:ext cx="65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79156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885"/>
          </a:p>
        </p:txBody>
      </p:sp>
      <p:sp>
        <p:nvSpPr>
          <p:cNvPr id="30" name="Text 27"/>
          <p:cNvSpPr/>
          <p:nvPr/>
        </p:nvSpPr>
        <p:spPr>
          <a:xfrm>
            <a:off x="4679156" y="4019950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79156" y="4251396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79156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3" name="Text 30"/>
          <p:cNvSpPr/>
          <p:nvPr/>
        </p:nvSpPr>
        <p:spPr>
          <a:xfrm>
            <a:off x="4679156" y="4251396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F69-0E4E-734D-E5EC-4788331EB399}"/>
              </a:ext>
            </a:extLst>
          </p:cNvPr>
          <p:cNvSpPr txBox="1"/>
          <p:nvPr/>
        </p:nvSpPr>
        <p:spPr>
          <a:xfrm>
            <a:off x="428625" y="1767364"/>
            <a:ext cx="461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Looked into basic Arduino connections for joystick control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Reviewed simple circuit examples to understand wiring layout.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BCA6C4-CF49-FF51-AC5C-5C8556778C36}"/>
              </a:ext>
            </a:extLst>
          </p:cNvPr>
          <p:cNvSpPr txBox="1"/>
          <p:nvPr/>
        </p:nvSpPr>
        <p:spPr>
          <a:xfrm>
            <a:off x="420461" y="4002253"/>
            <a:ext cx="461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Begin assembling the control components.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Start initial testing of joystick input with Arduino.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711B1E-D21A-2669-EC5F-322E847E5C1C}"/>
              </a:ext>
            </a:extLst>
          </p:cNvPr>
          <p:cNvSpPr txBox="1"/>
          <p:nvPr/>
        </p:nvSpPr>
        <p:spPr>
          <a:xfrm>
            <a:off x="4679156" y="1694654"/>
            <a:ext cx="4618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Preparing the wiring setup for the joystick and Arduino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Understanding signal mapping between joystick input and motor movement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6" y="0"/>
            <a:ext cx="928687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CB6EAA-7561-9951-C6BC-26F7172DEBAF}"/>
              </a:ext>
            </a:extLst>
          </p:cNvPr>
          <p:cNvSpPr txBox="1"/>
          <p:nvPr/>
        </p:nvSpPr>
        <p:spPr>
          <a:xfrm>
            <a:off x="425016" y="3579003"/>
            <a:ext cx="400074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E179B-FA96-0A39-5947-0A2639E200FC}"/>
              </a:ext>
            </a:extLst>
          </p:cNvPr>
          <p:cNvSpPr txBox="1"/>
          <p:nvPr/>
        </p:nvSpPr>
        <p:spPr>
          <a:xfrm>
            <a:off x="4714875" y="2060943"/>
            <a:ext cx="467463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Determine the control method – joystick/app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Pneumatic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Physical 3d printed prototype so testing can begin</a:t>
            </a:r>
            <a:endParaRPr lang="en-US">
              <a:solidFill>
                <a:prstClr val="black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Refining the computer vision model.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DFC8-AB22-910B-6617-934AD3C2B339}"/>
              </a:ext>
            </a:extLst>
          </p:cNvPr>
          <p:cNvSpPr txBox="1"/>
          <p:nvPr/>
        </p:nvSpPr>
        <p:spPr>
          <a:xfrm>
            <a:off x="4757738" y="3923407"/>
            <a:ext cx="4795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4"/>
              </a:rPr>
              <a:t>https://maherrrrr99.github.io/maherrrrr99/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5"/>
              </a:rPr>
              <a:t>https://sabeehahasham.github.io/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6"/>
              </a:rPr>
              <a:t>https://basel-ghunaim.github.io/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7"/>
              </a:rPr>
              <a:t>https://ahmed1090822.github.io/Ahmed109.github.io/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1139</Words>
  <Application>Microsoft Office PowerPoint</Application>
  <PresentationFormat>On-screen Show (16:9)</PresentationFormat>
  <Paragraphs>188</Paragraphs>
  <Slides>12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Inter</vt:lpstr>
      <vt:lpstr>Inter </vt:lpstr>
      <vt:lpstr>Roboto Mono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 Nader Abo Abed</cp:lastModifiedBy>
  <cp:revision>2</cp:revision>
  <dcterms:created xsi:type="dcterms:W3CDTF">2026-03-09T12:39:49Z</dcterms:created>
  <dcterms:modified xsi:type="dcterms:W3CDTF">2026-04-21T06:58:48Z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