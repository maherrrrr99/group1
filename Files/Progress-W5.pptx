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ebm" ContentType="video/webm"/>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57" r:id="rId6"/>
    <p:sldId id="270" r:id="rId7"/>
    <p:sldId id="260" r:id="rId8"/>
    <p:sldId id="262" r:id="rId9"/>
    <p:sldId id="263" r:id="rId10"/>
    <p:sldId id="271" r:id="rId11"/>
    <p:sldId id="264" r:id="rId12"/>
    <p:sldId id="265" r:id="rId13"/>
    <p:sldId id="266" r:id="rId14"/>
    <p:sldId id="267"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C5C979-06CE-2630-3B9F-B71B906639DC}" v="2154" vWet="2155" dt="2026-04-07T06:40:00.403"/>
    <p1510:client id="{A84D3E6C-CA80-4ABD-9B93-C7DC4390A37C}" v="3682" dt="2026-04-07T06:52:06.3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306" y="-6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1128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3652173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studentsaduac-my.sharepoint.com/:x:/g/personal/1087993_students_adu_ac_ae/IQCVl5X-gnVOTbJbda9AOzVBAQxvkQVJ4Exoq-0edEJwLJE?e=tAfXTX" TargetMode="External"/><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microsoft.com/office/2007/relationships/media" Target="../media/media2.webm"/><Relationship Id="rId7" Type="http://schemas.openxmlformats.org/officeDocument/2006/relationships/image" Target="../media/image3.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6.xml"/><Relationship Id="rId11" Type="http://schemas.openxmlformats.org/officeDocument/2006/relationships/image" Target="../media/image11.png"/><Relationship Id="rId5" Type="http://schemas.openxmlformats.org/officeDocument/2006/relationships/slideLayout" Target="../slideLayouts/slideLayout1.xml"/><Relationship Id="rId10" Type="http://schemas.openxmlformats.org/officeDocument/2006/relationships/image" Target="../media/image10.png"/><Relationship Id="rId4" Type="http://schemas.openxmlformats.org/officeDocument/2006/relationships/video" Target="../media/media2.webm"/><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hyperlink" Target="https://ahmed1090822.github.io/Ahmed109.github.io/"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basel-ghunaim.github.io/" TargetMode="External"/><Relationship Id="rId5" Type="http://schemas.openxmlformats.org/officeDocument/2006/relationships/hyperlink" Target="https://sabeehahasham.github.io/" TargetMode="External"/><Relationship Id="rId4" Type="http://schemas.openxmlformats.org/officeDocument/2006/relationships/hyperlink" Target="https://maherrrrr99.github.io/maherrrrr99/"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870672"/>
            <a:ext cx="8286750" cy="601861"/>
          </a:xfrm>
          <a:prstGeom prst="rect">
            <a:avLst/>
          </a:prstGeom>
          <a:noFill/>
          <a:ln/>
        </p:spPr>
        <p:txBody>
          <a:bodyPr wrap="none" lIns="0" tIns="0" rIns="0" bIns="0" rtlCol="0" anchor="t">
            <a:spAutoFit/>
          </a:bodyPr>
          <a:lstStyle/>
          <a:p>
            <a:pPr marL="0" indent="0" algn="l">
              <a:lnSpc>
                <a:spcPts val="4300"/>
              </a:lnSpc>
              <a:buNone/>
            </a:pPr>
            <a:r>
              <a:rPr lang="en-US" sz="3294" b="1">
                <a:solidFill>
                  <a:srgbClr val="000000"/>
                </a:solidFill>
                <a:latin typeface="Roboto Mono" pitchFamily="34" charset="0"/>
                <a:ea typeface="Roboto Mono" pitchFamily="34" charset="-122"/>
                <a:cs typeface="Roboto Mono" pitchFamily="34" charset="-120"/>
              </a:rPr>
              <a:t>WEEKLY PROGRESS REPORT</a:t>
            </a:r>
            <a:endParaRPr lang="en-US" sz="3294"/>
          </a:p>
        </p:txBody>
      </p:sp>
      <p:sp>
        <p:nvSpPr>
          <p:cNvPr id="4" name="Text 1"/>
          <p:cNvSpPr/>
          <p:nvPr/>
        </p:nvSpPr>
        <p:spPr>
          <a:xfrm>
            <a:off x="268605" y="1482315"/>
            <a:ext cx="5976188" cy="232308"/>
          </a:xfrm>
          <a:prstGeom prst="rect">
            <a:avLst/>
          </a:prstGeom>
          <a:noFill/>
          <a:ln/>
        </p:spPr>
        <p:txBody>
          <a:bodyPr wrap="none" lIns="170053" tIns="0" rIns="0" bIns="0" rtlCol="0" anchor="t">
            <a:spAutoFit/>
          </a:bodyPr>
          <a:lstStyle/>
          <a:p>
            <a:pPr marL="0" indent="0" algn="l">
              <a:lnSpc>
                <a:spcPts val="1900"/>
              </a:lnSpc>
              <a:buNone/>
            </a:pPr>
            <a:r>
              <a:rPr lang="en-US" sz="1486">
                <a:solidFill>
                  <a:srgbClr val="333333"/>
                </a:solidFill>
                <a:latin typeface="Roboto Mono" pitchFamily="34" charset="0"/>
                <a:ea typeface="Roboto Mono" pitchFamily="34" charset="-122"/>
                <a:cs typeface="Roboto Mono" pitchFamily="34" charset="-120"/>
              </a:rPr>
              <a:t>Mechatronic System Design (MEC483) – Course Project</a:t>
            </a:r>
            <a:endParaRPr lang="en-US" sz="1486"/>
          </a:p>
        </p:txBody>
      </p:sp>
      <p:sp>
        <p:nvSpPr>
          <p:cNvPr id="6" name="Text 3"/>
          <p:cNvSpPr/>
          <p:nvPr/>
        </p:nvSpPr>
        <p:spPr>
          <a:xfrm>
            <a:off x="428625" y="3925491"/>
            <a:ext cx="4071938" cy="132159"/>
          </a:xfrm>
          <a:prstGeom prst="rect">
            <a:avLst/>
          </a:prstGeom>
          <a:noFill/>
          <a:ln/>
        </p:spPr>
        <p:txBody>
          <a:bodyPr wrap="none" lIns="0" tIns="0" rIns="0" bIns="0" rtlCol="0" anchor="t">
            <a:spAutoFit/>
          </a:bodyPr>
          <a:lstStyle/>
          <a:p>
            <a:pPr marL="0" indent="0" algn="l">
              <a:lnSpc>
                <a:spcPts val="900"/>
              </a:lnSpc>
              <a:buNone/>
            </a:pPr>
            <a:r>
              <a:rPr lang="en-US" sz="683" b="1">
                <a:solidFill>
                  <a:srgbClr val="FF5722"/>
                </a:solidFill>
                <a:latin typeface="Roboto Mono" pitchFamily="34" charset="0"/>
                <a:ea typeface="Roboto Mono" pitchFamily="34" charset="-122"/>
                <a:cs typeface="Roboto Mono" pitchFamily="34" charset="-120"/>
              </a:rPr>
              <a:t>PROJECT / PHASE</a:t>
            </a:r>
            <a:endParaRPr lang="en-US" sz="683"/>
          </a:p>
        </p:txBody>
      </p:sp>
      <p:sp>
        <p:nvSpPr>
          <p:cNvPr id="7" name="Text 4"/>
          <p:cNvSpPr/>
          <p:nvPr/>
        </p:nvSpPr>
        <p:spPr>
          <a:xfrm>
            <a:off x="428625" y="4093369"/>
            <a:ext cx="1519647" cy="170175"/>
          </a:xfrm>
          <a:prstGeom prst="rect">
            <a:avLst/>
          </a:prstGeom>
          <a:noFill/>
          <a:ln/>
        </p:spPr>
        <p:txBody>
          <a:bodyPr wrap="none" lIns="0" tIns="0" rIns="0" bIns="0" rtlCol="0" anchor="t">
            <a:spAutoFit/>
          </a:bodyPr>
          <a:lstStyle/>
          <a:p>
            <a:pPr marL="0" indent="0" algn="l">
              <a:lnSpc>
                <a:spcPts val="1400"/>
              </a:lnSpc>
              <a:buNone/>
            </a:pPr>
            <a:r>
              <a:rPr lang="en-US" sz="1050">
                <a:solidFill>
                  <a:srgbClr val="333333"/>
                </a:solidFill>
                <a:latin typeface="Inter" pitchFamily="34" charset="0"/>
                <a:ea typeface="Inter" pitchFamily="34" charset="-122"/>
                <a:cs typeface="Inter" pitchFamily="34" charset="-120"/>
              </a:rPr>
              <a:t>Smart Pick and Place Robot </a:t>
            </a:r>
            <a:endParaRPr lang="en-US" sz="1050"/>
          </a:p>
        </p:txBody>
      </p:sp>
      <p:sp>
        <p:nvSpPr>
          <p:cNvPr id="8" name="Text 5"/>
          <p:cNvSpPr/>
          <p:nvPr/>
        </p:nvSpPr>
        <p:spPr>
          <a:xfrm>
            <a:off x="4643438" y="3925491"/>
            <a:ext cx="4071938" cy="132159"/>
          </a:xfrm>
          <a:prstGeom prst="rect">
            <a:avLst/>
          </a:prstGeom>
          <a:noFill/>
          <a:ln/>
        </p:spPr>
        <p:txBody>
          <a:bodyPr wrap="none" lIns="0" tIns="0" rIns="0" bIns="0" rtlCol="0" anchor="t">
            <a:spAutoFit/>
          </a:bodyPr>
          <a:lstStyle/>
          <a:p>
            <a:pPr marL="0" indent="0" algn="l">
              <a:lnSpc>
                <a:spcPts val="900"/>
              </a:lnSpc>
              <a:buNone/>
            </a:pPr>
            <a:r>
              <a:rPr lang="en-US" sz="683" b="1">
                <a:solidFill>
                  <a:srgbClr val="FF5722"/>
                </a:solidFill>
                <a:latin typeface="Roboto Mono" pitchFamily="34" charset="0"/>
                <a:ea typeface="Roboto Mono" pitchFamily="34" charset="-122"/>
                <a:cs typeface="Roboto Mono" pitchFamily="34" charset="-120"/>
              </a:rPr>
              <a:t>DATE RANGE</a:t>
            </a:r>
            <a:endParaRPr lang="en-US" sz="683"/>
          </a:p>
        </p:txBody>
      </p:sp>
      <p:sp>
        <p:nvSpPr>
          <p:cNvPr id="9" name="Text 6"/>
          <p:cNvSpPr/>
          <p:nvPr/>
        </p:nvSpPr>
        <p:spPr>
          <a:xfrm>
            <a:off x="4643438" y="4093369"/>
            <a:ext cx="1384995" cy="169213"/>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333333"/>
                </a:solidFill>
                <a:latin typeface="Inter"/>
                <a:ea typeface="Inter"/>
                <a:cs typeface="Inter" pitchFamily="34" charset="-120"/>
              </a:rPr>
              <a:t>31/4/2026 – 7/4/2026</a:t>
            </a:r>
            <a:endParaRPr lang="en-US" sz="1050" dirty="0"/>
          </a:p>
        </p:txBody>
      </p:sp>
      <p:sp>
        <p:nvSpPr>
          <p:cNvPr id="10" name="Text 7"/>
          <p:cNvSpPr/>
          <p:nvPr/>
        </p:nvSpPr>
        <p:spPr>
          <a:xfrm>
            <a:off x="428625" y="4509492"/>
            <a:ext cx="4071938" cy="132159"/>
          </a:xfrm>
          <a:prstGeom prst="rect">
            <a:avLst/>
          </a:prstGeom>
          <a:noFill/>
          <a:ln/>
        </p:spPr>
        <p:txBody>
          <a:bodyPr wrap="none" lIns="0" tIns="0" rIns="0" bIns="0" rtlCol="0" anchor="t">
            <a:spAutoFit/>
          </a:bodyPr>
          <a:lstStyle/>
          <a:p>
            <a:pPr marL="0" indent="0" algn="l">
              <a:lnSpc>
                <a:spcPts val="900"/>
              </a:lnSpc>
              <a:buNone/>
            </a:pPr>
            <a:r>
              <a:rPr lang="en-US" sz="683" b="1">
                <a:solidFill>
                  <a:srgbClr val="FF5722"/>
                </a:solidFill>
                <a:latin typeface="Roboto Mono" pitchFamily="34" charset="0"/>
                <a:ea typeface="Roboto Mono" pitchFamily="34" charset="-122"/>
                <a:cs typeface="Roboto Mono" pitchFamily="34" charset="-120"/>
              </a:rPr>
              <a:t>TEAM MEMBERS</a:t>
            </a:r>
            <a:endParaRPr lang="en-US" sz="683"/>
          </a:p>
        </p:txBody>
      </p:sp>
      <p:sp>
        <p:nvSpPr>
          <p:cNvPr id="11" name="Text 8"/>
          <p:cNvSpPr/>
          <p:nvPr/>
        </p:nvSpPr>
        <p:spPr>
          <a:xfrm>
            <a:off x="428625" y="4677370"/>
            <a:ext cx="8329203" cy="171907"/>
          </a:xfrm>
          <a:prstGeom prst="rect">
            <a:avLst/>
          </a:prstGeom>
          <a:noFill/>
          <a:ln/>
        </p:spPr>
        <p:txBody>
          <a:bodyPr wrap="none" lIns="0" tIns="0" rIns="0" bIns="0" rtlCol="0" anchor="t">
            <a:spAutoFit/>
          </a:bodyPr>
          <a:lstStyle/>
          <a:p>
            <a:pPr>
              <a:lnSpc>
                <a:spcPts val="1400"/>
              </a:lnSpc>
            </a:pPr>
            <a:r>
              <a:rPr lang="en-US" sz="1050">
                <a:solidFill>
                  <a:srgbClr val="333333"/>
                </a:solidFill>
                <a:latin typeface="Inter"/>
                <a:ea typeface="Inter"/>
                <a:cs typeface="Inter" pitchFamily="34" charset="-120"/>
              </a:rPr>
              <a:t>Maher Abo Abed (1087993) , Sabeeha </a:t>
            </a:r>
            <a:r>
              <a:rPr lang="en-US" sz="1100">
                <a:solidFill>
                  <a:srgbClr val="333333"/>
                </a:solidFill>
                <a:latin typeface="Calibri"/>
                <a:ea typeface="Calibri"/>
                <a:cs typeface="Calibri"/>
              </a:rPr>
              <a:t>Zainab </a:t>
            </a:r>
            <a:r>
              <a:rPr lang="en-US" sz="1050">
                <a:solidFill>
                  <a:srgbClr val="333333"/>
                </a:solidFill>
                <a:latin typeface="Inter"/>
                <a:ea typeface="Inter"/>
                <a:cs typeface="Inter" pitchFamily="34" charset="-120"/>
              </a:rPr>
              <a:t>Hasham (1089042), Basel Feras </a:t>
            </a:r>
            <a:r>
              <a:rPr lang="en-US" sz="1050" err="1">
                <a:solidFill>
                  <a:srgbClr val="333333"/>
                </a:solidFill>
                <a:latin typeface="Inter"/>
                <a:ea typeface="Inter"/>
                <a:cs typeface="Inter" pitchFamily="34" charset="-120"/>
              </a:rPr>
              <a:t>Ghunaim</a:t>
            </a:r>
            <a:r>
              <a:rPr lang="en-US" sz="1050">
                <a:solidFill>
                  <a:srgbClr val="333333"/>
                </a:solidFill>
                <a:latin typeface="Inter"/>
                <a:ea typeface="Inter"/>
                <a:cs typeface="Inter" pitchFamily="34" charset="-120"/>
              </a:rPr>
              <a:t>  (1088912), Ahmad Nasser </a:t>
            </a:r>
            <a:r>
              <a:rPr lang="en-US" sz="1050" err="1">
                <a:solidFill>
                  <a:srgbClr val="333333"/>
                </a:solidFill>
                <a:latin typeface="Inter"/>
                <a:ea typeface="Inter"/>
                <a:cs typeface="Inter" pitchFamily="34" charset="-120"/>
              </a:rPr>
              <a:t>Alshehhi</a:t>
            </a:r>
            <a:r>
              <a:rPr lang="en-US" sz="1050">
                <a:solidFill>
                  <a:srgbClr val="333333"/>
                </a:solidFill>
                <a:latin typeface="Inter"/>
                <a:ea typeface="Inter"/>
                <a:cs typeface="Inter" pitchFamily="34" charset="-120"/>
              </a:rPr>
              <a:t> (1090882)</a:t>
            </a:r>
            <a:endParaRPr lang="en-US" sz="1050">
              <a:latin typeface="Inter"/>
              <a:ea typeface="Inter"/>
            </a:endParaRPr>
          </a:p>
        </p:txBody>
      </p:sp>
      <p:sp>
        <p:nvSpPr>
          <p:cNvPr id="14" name="Rectangle 13">
            <a:extLst>
              <a:ext uri="{FF2B5EF4-FFF2-40B4-BE49-F238E27FC236}">
                <a16:creationId xmlns:a16="http://schemas.microsoft.com/office/drawing/2014/main" id="{EBD61D1B-B582-DFBF-FDF9-68A8A5F66518}"/>
              </a:ext>
            </a:extLst>
          </p:cNvPr>
          <p:cNvSpPr/>
          <p:nvPr/>
        </p:nvSpPr>
        <p:spPr>
          <a:xfrm>
            <a:off x="4572000" y="4373880"/>
            <a:ext cx="4143376" cy="1321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000625"/>
          </a:xfrm>
          <a:prstGeom prst="rect">
            <a:avLst/>
          </a:prstGeom>
        </p:spPr>
      </p:pic>
      <p:sp>
        <p:nvSpPr>
          <p:cNvPr id="3" name="Text 0"/>
          <p:cNvSpPr/>
          <p:nvPr/>
        </p:nvSpPr>
        <p:spPr>
          <a:xfrm>
            <a:off x="428625" y="665792"/>
            <a:ext cx="8286750" cy="376833"/>
          </a:xfrm>
          <a:prstGeom prst="rect">
            <a:avLst/>
          </a:prstGeom>
          <a:noFill/>
          <a:ln/>
        </p:spPr>
        <p:txBody>
          <a:bodyPr wrap="none" lIns="0" tIns="0" rIns="0" bIns="0" rtlCol="0" anchor="t">
            <a:spAutoFit/>
          </a:bodyPr>
          <a:lstStyle/>
          <a:p>
            <a:pPr marL="0" indent="0" algn="l">
              <a:lnSpc>
                <a:spcPts val="2700"/>
              </a:lnSpc>
              <a:buNone/>
            </a:pPr>
            <a:r>
              <a:rPr lang="en-US" sz="2016" b="1">
                <a:solidFill>
                  <a:srgbClr val="000000"/>
                </a:solidFill>
                <a:latin typeface="Roboto Mono" pitchFamily="34" charset="0"/>
                <a:ea typeface="Roboto Mono" pitchFamily="34" charset="-122"/>
                <a:cs typeface="Roboto Mono" pitchFamily="34" charset="-120"/>
              </a:rPr>
              <a:t>HOW ARE WE DOING THIS WEEK?</a:t>
            </a:r>
            <a:endParaRPr lang="en-US" sz="2016"/>
          </a:p>
        </p:txBody>
      </p:sp>
      <p:sp>
        <p:nvSpPr>
          <p:cNvPr id="4" name="Shape 1"/>
          <p:cNvSpPr/>
          <p:nvPr/>
        </p:nvSpPr>
        <p:spPr>
          <a:xfrm>
            <a:off x="428625" y="1221218"/>
            <a:ext cx="2666991" cy="283964"/>
          </a:xfrm>
          <a:prstGeom prst="rect">
            <a:avLst/>
          </a:prstGeom>
          <a:solidFill>
            <a:srgbClr val="000000"/>
          </a:solidFill>
          <a:ln/>
        </p:spPr>
        <p:txBody>
          <a:bodyPr/>
          <a:lstStyle/>
          <a:p>
            <a:endParaRPr lang="en-US"/>
          </a:p>
        </p:txBody>
      </p:sp>
      <p:sp>
        <p:nvSpPr>
          <p:cNvPr id="5" name="Text 2"/>
          <p:cNvSpPr/>
          <p:nvPr/>
        </p:nvSpPr>
        <p:spPr>
          <a:xfrm>
            <a:off x="428625" y="1221218"/>
            <a:ext cx="2666991" cy="283964"/>
          </a:xfrm>
          <a:prstGeom prst="rect">
            <a:avLst/>
          </a:prstGeom>
          <a:noFill/>
          <a:ln/>
        </p:spPr>
        <p:txBody>
          <a:bodyPr wrap="square" lIns="102108" tIns="68072" rIns="102108" bIns="68072" rtlCol="0" anchor="t">
            <a:spAutoFit/>
          </a:bodyPr>
          <a:lstStyle/>
          <a:p>
            <a:pPr marL="0" indent="0" algn="l">
              <a:lnSpc>
                <a:spcPts val="1200"/>
              </a:lnSpc>
              <a:buNone/>
            </a:pPr>
            <a:r>
              <a:rPr lang="en-US" sz="885" b="1" dirty="0">
                <a:solidFill>
                  <a:srgbClr val="FFFFFF"/>
                </a:solidFill>
                <a:latin typeface="Roboto Mono" pitchFamily="34" charset="0"/>
                <a:ea typeface="Roboto Mono" pitchFamily="34" charset="-122"/>
                <a:cs typeface="Roboto Mono" pitchFamily="34" charset="-120"/>
              </a:rPr>
              <a:t>TOP WINS </a:t>
            </a:r>
            <a:endParaRPr lang="en-US" sz="885" dirty="0"/>
          </a:p>
        </p:txBody>
      </p:sp>
      <p:sp>
        <p:nvSpPr>
          <p:cNvPr id="9" name="Text 6"/>
          <p:cNvSpPr/>
          <p:nvPr/>
        </p:nvSpPr>
        <p:spPr>
          <a:xfrm>
            <a:off x="428625" y="1590908"/>
            <a:ext cx="65" cy="132344"/>
          </a:xfrm>
          <a:prstGeom prst="rect">
            <a:avLst/>
          </a:prstGeom>
          <a:noFill/>
          <a:ln/>
        </p:spPr>
        <p:txBody>
          <a:bodyPr wrap="none" lIns="0" tIns="0" rIns="0" bIns="0" rtlCol="0" anchor="t">
            <a:spAutoFit/>
          </a:bodyPr>
          <a:lstStyle/>
          <a:p>
            <a:pPr marL="0" indent="0" algn="l">
              <a:lnSpc>
                <a:spcPts val="1100"/>
              </a:lnSpc>
              <a:buNone/>
            </a:pPr>
            <a:endParaRPr lang="en-US" sz="784"/>
          </a:p>
        </p:txBody>
      </p:sp>
      <p:sp>
        <p:nvSpPr>
          <p:cNvPr id="10" name="Text 7"/>
          <p:cNvSpPr/>
          <p:nvPr/>
        </p:nvSpPr>
        <p:spPr>
          <a:xfrm>
            <a:off x="431601" y="2236181"/>
            <a:ext cx="65" cy="132344"/>
          </a:xfrm>
          <a:prstGeom prst="rect">
            <a:avLst/>
          </a:prstGeom>
          <a:noFill/>
          <a:ln/>
        </p:spPr>
        <p:txBody>
          <a:bodyPr wrap="none" lIns="0" tIns="0" rIns="0" bIns="0" rtlCol="0" anchor="t">
            <a:spAutoFit/>
          </a:bodyPr>
          <a:lstStyle/>
          <a:p>
            <a:pPr marL="0" indent="0" algn="l">
              <a:lnSpc>
                <a:spcPts val="1100"/>
              </a:lnSpc>
              <a:buNone/>
            </a:pPr>
            <a:endParaRPr lang="en-US" sz="784"/>
          </a:p>
        </p:txBody>
      </p:sp>
      <p:sp>
        <p:nvSpPr>
          <p:cNvPr id="12" name="Shape 9"/>
          <p:cNvSpPr/>
          <p:nvPr/>
        </p:nvSpPr>
        <p:spPr>
          <a:xfrm>
            <a:off x="3238491" y="1221218"/>
            <a:ext cx="2666991" cy="283964"/>
          </a:xfrm>
          <a:prstGeom prst="rect">
            <a:avLst/>
          </a:prstGeom>
          <a:solidFill>
            <a:srgbClr val="000000"/>
          </a:solidFill>
          <a:ln/>
        </p:spPr>
        <p:txBody>
          <a:bodyPr/>
          <a:lstStyle/>
          <a:p>
            <a:endParaRPr lang="en-US"/>
          </a:p>
        </p:txBody>
      </p:sp>
      <p:sp>
        <p:nvSpPr>
          <p:cNvPr id="13" name="Text 10"/>
          <p:cNvSpPr/>
          <p:nvPr/>
        </p:nvSpPr>
        <p:spPr>
          <a:xfrm>
            <a:off x="3238491" y="1221218"/>
            <a:ext cx="2666991" cy="283964"/>
          </a:xfrm>
          <a:prstGeom prst="rect">
            <a:avLst/>
          </a:prstGeom>
          <a:noFill/>
          <a:ln/>
        </p:spPr>
        <p:txBody>
          <a:bodyPr wrap="square" lIns="102108" tIns="68072" rIns="102108" bIns="68072" rtlCol="0" anchor="t">
            <a:spAutoFit/>
          </a:bodyPr>
          <a:lstStyle/>
          <a:p>
            <a:pPr marL="0" indent="0" algn="l">
              <a:lnSpc>
                <a:spcPts val="1200"/>
              </a:lnSpc>
              <a:buNone/>
            </a:pPr>
            <a:r>
              <a:rPr lang="en-US" sz="885" b="1" dirty="0">
                <a:solidFill>
                  <a:srgbClr val="FFFFFF"/>
                </a:solidFill>
                <a:latin typeface="Roboto Mono" pitchFamily="34" charset="0"/>
                <a:ea typeface="Roboto Mono" pitchFamily="34" charset="-122"/>
                <a:cs typeface="Roboto Mono" pitchFamily="34" charset="-120"/>
              </a:rPr>
              <a:t>KEY BLOCKERS / RISKS </a:t>
            </a:r>
            <a:endParaRPr lang="en-US" sz="885" dirty="0"/>
          </a:p>
        </p:txBody>
      </p:sp>
      <p:sp>
        <p:nvSpPr>
          <p:cNvPr id="19" name="Text 16"/>
          <p:cNvSpPr/>
          <p:nvPr/>
        </p:nvSpPr>
        <p:spPr>
          <a:xfrm>
            <a:off x="3238491" y="2795252"/>
            <a:ext cx="65" cy="132344"/>
          </a:xfrm>
          <a:prstGeom prst="rect">
            <a:avLst/>
          </a:prstGeom>
          <a:noFill/>
          <a:ln/>
        </p:spPr>
        <p:txBody>
          <a:bodyPr wrap="none" lIns="0" tIns="0" rIns="0" bIns="0" rtlCol="0" anchor="t">
            <a:spAutoFit/>
          </a:bodyPr>
          <a:lstStyle/>
          <a:p>
            <a:pPr marL="0" indent="0" algn="l">
              <a:lnSpc>
                <a:spcPts val="1100"/>
              </a:lnSpc>
              <a:buNone/>
            </a:pPr>
            <a:endParaRPr lang="en-US" sz="784"/>
          </a:p>
        </p:txBody>
      </p:sp>
      <p:sp>
        <p:nvSpPr>
          <p:cNvPr id="20" name="Shape 17"/>
          <p:cNvSpPr/>
          <p:nvPr/>
        </p:nvSpPr>
        <p:spPr>
          <a:xfrm>
            <a:off x="6048356" y="1221218"/>
            <a:ext cx="2667019" cy="283964"/>
          </a:xfrm>
          <a:prstGeom prst="rect">
            <a:avLst/>
          </a:prstGeom>
          <a:solidFill>
            <a:srgbClr val="000000"/>
          </a:solidFill>
          <a:ln/>
        </p:spPr>
        <p:txBody>
          <a:bodyPr/>
          <a:lstStyle/>
          <a:p>
            <a:endParaRPr lang="en-US"/>
          </a:p>
        </p:txBody>
      </p:sp>
      <p:sp>
        <p:nvSpPr>
          <p:cNvPr id="21" name="Text 18"/>
          <p:cNvSpPr/>
          <p:nvPr/>
        </p:nvSpPr>
        <p:spPr>
          <a:xfrm>
            <a:off x="6048356" y="1221218"/>
            <a:ext cx="2667019" cy="283964"/>
          </a:xfrm>
          <a:prstGeom prst="rect">
            <a:avLst/>
          </a:prstGeom>
          <a:noFill/>
          <a:ln/>
        </p:spPr>
        <p:txBody>
          <a:bodyPr wrap="square" lIns="102108" tIns="68072" rIns="102108" bIns="68072"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PROJECT HEALTH</a:t>
            </a:r>
            <a:endParaRPr lang="en-US" sz="885"/>
          </a:p>
        </p:txBody>
      </p:sp>
      <p:sp>
        <p:nvSpPr>
          <p:cNvPr id="22" name="Text 19"/>
          <p:cNvSpPr/>
          <p:nvPr/>
        </p:nvSpPr>
        <p:spPr>
          <a:xfrm>
            <a:off x="6291244" y="1648058"/>
            <a:ext cx="264496" cy="109389"/>
          </a:xfrm>
          <a:prstGeom prst="rect">
            <a:avLst/>
          </a:prstGeom>
          <a:noFill/>
          <a:ln/>
        </p:spPr>
        <p:txBody>
          <a:bodyPr wrap="none" lIns="0" tIns="0" rIns="0" bIns="0" rtlCol="0" anchor="t">
            <a:spAutoFit/>
          </a:bodyPr>
          <a:lstStyle/>
          <a:p>
            <a:pPr marL="0" indent="0" algn="l">
              <a:lnSpc>
                <a:spcPts val="900"/>
              </a:lnSpc>
              <a:buNone/>
            </a:pPr>
            <a:r>
              <a:rPr lang="en-US" sz="683" b="1">
                <a:solidFill>
                  <a:srgbClr val="333333"/>
                </a:solidFill>
                <a:latin typeface="Roboto Mono" pitchFamily="34" charset="0"/>
                <a:ea typeface="Roboto Mono" pitchFamily="34" charset="-122"/>
              </a:rPr>
              <a:t>Scope</a:t>
            </a:r>
            <a:endParaRPr lang="en-US" sz="683"/>
          </a:p>
        </p:txBody>
      </p:sp>
      <p:sp>
        <p:nvSpPr>
          <p:cNvPr id="23" name="Text 20"/>
          <p:cNvSpPr/>
          <p:nvPr/>
        </p:nvSpPr>
        <p:spPr>
          <a:xfrm>
            <a:off x="8007406" y="1653415"/>
            <a:ext cx="650819" cy="111184"/>
          </a:xfrm>
          <a:prstGeom prst="rect">
            <a:avLst/>
          </a:prstGeom>
          <a:noFill/>
          <a:ln/>
        </p:spPr>
        <p:txBody>
          <a:bodyPr wrap="none" lIns="0" tIns="0" rIns="0" bIns="0" rtlCol="0" anchor="t">
            <a:spAutoFit/>
          </a:bodyPr>
          <a:lstStyle/>
          <a:p>
            <a:pPr marL="0" indent="0" algn="r">
              <a:lnSpc>
                <a:spcPts val="900"/>
              </a:lnSpc>
              <a:buNone/>
            </a:pPr>
            <a:r>
              <a:rPr lang="en-US" sz="727">
                <a:solidFill>
                  <a:srgbClr val="666666"/>
                </a:solidFill>
                <a:latin typeface="Inter" pitchFamily="34" charset="0"/>
                <a:ea typeface="Inter" pitchFamily="34" charset="-122"/>
              </a:rPr>
              <a:t>Under Execution</a:t>
            </a:r>
            <a:endParaRPr lang="en-US" sz="727"/>
          </a:p>
        </p:txBody>
      </p:sp>
      <p:sp>
        <p:nvSpPr>
          <p:cNvPr id="24" name="Text 21"/>
          <p:cNvSpPr/>
          <p:nvPr/>
        </p:nvSpPr>
        <p:spPr>
          <a:xfrm>
            <a:off x="6291244" y="1987386"/>
            <a:ext cx="423193" cy="109389"/>
          </a:xfrm>
          <a:prstGeom prst="rect">
            <a:avLst/>
          </a:prstGeom>
          <a:noFill/>
          <a:ln/>
        </p:spPr>
        <p:txBody>
          <a:bodyPr wrap="none" lIns="0" tIns="0" rIns="0" bIns="0" rtlCol="0" anchor="t">
            <a:spAutoFit/>
          </a:bodyPr>
          <a:lstStyle/>
          <a:p>
            <a:pPr marL="0" indent="0" algn="l">
              <a:lnSpc>
                <a:spcPts val="900"/>
              </a:lnSpc>
              <a:buNone/>
            </a:pPr>
            <a:r>
              <a:rPr lang="en-US" sz="683" b="1">
                <a:solidFill>
                  <a:srgbClr val="333333"/>
                </a:solidFill>
                <a:latin typeface="Roboto Mono" pitchFamily="34" charset="0"/>
                <a:ea typeface="Roboto Mono" pitchFamily="34" charset="-122"/>
              </a:rPr>
              <a:t>Schedule</a:t>
            </a:r>
            <a:endParaRPr lang="en-US" sz="683"/>
          </a:p>
        </p:txBody>
      </p:sp>
      <p:sp>
        <p:nvSpPr>
          <p:cNvPr id="25" name="Text 22"/>
          <p:cNvSpPr/>
          <p:nvPr/>
        </p:nvSpPr>
        <p:spPr>
          <a:xfrm>
            <a:off x="8047481" y="1992743"/>
            <a:ext cx="610744" cy="111184"/>
          </a:xfrm>
          <a:prstGeom prst="rect">
            <a:avLst/>
          </a:prstGeom>
          <a:noFill/>
          <a:ln/>
        </p:spPr>
        <p:txBody>
          <a:bodyPr wrap="none" lIns="0" tIns="0" rIns="0" bIns="0" rtlCol="0" anchor="t">
            <a:spAutoFit/>
          </a:bodyPr>
          <a:lstStyle/>
          <a:p>
            <a:pPr marL="0" indent="0" algn="r">
              <a:lnSpc>
                <a:spcPts val="900"/>
              </a:lnSpc>
              <a:buNone/>
            </a:pPr>
            <a:r>
              <a:rPr lang="en-US" sz="727">
                <a:solidFill>
                  <a:srgbClr val="666666"/>
                </a:solidFill>
                <a:latin typeface="Inter" pitchFamily="34" charset="0"/>
                <a:ea typeface="Inter" pitchFamily="34" charset="-122"/>
                <a:cs typeface="Inter" pitchFamily="34" charset="-120"/>
              </a:rPr>
              <a:t>Potential Delays</a:t>
            </a:r>
            <a:endParaRPr lang="en-US" sz="727"/>
          </a:p>
        </p:txBody>
      </p:sp>
      <p:sp>
        <p:nvSpPr>
          <p:cNvPr id="26" name="Text 23"/>
          <p:cNvSpPr/>
          <p:nvPr/>
        </p:nvSpPr>
        <p:spPr>
          <a:xfrm>
            <a:off x="6291244" y="2326714"/>
            <a:ext cx="1322478" cy="109389"/>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333333"/>
                </a:solidFill>
                <a:latin typeface="Roboto Mono" pitchFamily="34" charset="0"/>
                <a:ea typeface="Roboto Mono" pitchFamily="34" charset="-122"/>
              </a:rPr>
              <a:t>Fabrication &amp; Prototyping</a:t>
            </a:r>
            <a:endParaRPr lang="en-US" sz="683" dirty="0"/>
          </a:p>
        </p:txBody>
      </p:sp>
      <p:sp>
        <p:nvSpPr>
          <p:cNvPr id="27" name="Text 24"/>
          <p:cNvSpPr/>
          <p:nvPr/>
        </p:nvSpPr>
        <p:spPr>
          <a:xfrm>
            <a:off x="8007406" y="2332072"/>
            <a:ext cx="650819" cy="111184"/>
          </a:xfrm>
          <a:prstGeom prst="rect">
            <a:avLst/>
          </a:prstGeom>
          <a:noFill/>
          <a:ln/>
        </p:spPr>
        <p:txBody>
          <a:bodyPr wrap="none" lIns="0" tIns="0" rIns="0" bIns="0" rtlCol="0" anchor="t">
            <a:spAutoFit/>
          </a:bodyPr>
          <a:lstStyle/>
          <a:p>
            <a:pPr marL="0" indent="0" algn="r">
              <a:lnSpc>
                <a:spcPts val="900"/>
              </a:lnSpc>
              <a:buNone/>
            </a:pPr>
            <a:r>
              <a:rPr lang="en-US" sz="727" dirty="0">
                <a:solidFill>
                  <a:srgbClr val="666666"/>
                </a:solidFill>
                <a:latin typeface="Inter" pitchFamily="34" charset="0"/>
                <a:ea typeface="Inter" pitchFamily="34" charset="-122"/>
                <a:cs typeface="Inter" pitchFamily="34" charset="-120"/>
              </a:rPr>
              <a:t>Under Execution</a:t>
            </a:r>
            <a:endParaRPr lang="en-US" sz="727" dirty="0"/>
          </a:p>
        </p:txBody>
      </p:sp>
      <p:sp>
        <p:nvSpPr>
          <p:cNvPr id="28" name="Shape 25"/>
          <p:cNvSpPr/>
          <p:nvPr/>
        </p:nvSpPr>
        <p:spPr>
          <a:xfrm>
            <a:off x="6048356" y="2723192"/>
            <a:ext cx="2667019" cy="519708"/>
          </a:xfrm>
          <a:prstGeom prst="rect">
            <a:avLst/>
          </a:prstGeom>
          <a:solidFill>
            <a:srgbClr val="F9F9F9"/>
          </a:solidFill>
          <a:ln/>
        </p:spPr>
        <p:txBody>
          <a:bodyPr/>
          <a:lstStyle/>
          <a:p>
            <a:endParaRPr lang="en-US"/>
          </a:p>
        </p:txBody>
      </p:sp>
      <p:sp>
        <p:nvSpPr>
          <p:cNvPr id="29" name="Shape 26"/>
          <p:cNvSpPr/>
          <p:nvPr/>
        </p:nvSpPr>
        <p:spPr>
          <a:xfrm>
            <a:off x="6048356" y="2723192"/>
            <a:ext cx="2667019" cy="28575"/>
          </a:xfrm>
          <a:prstGeom prst="rect">
            <a:avLst/>
          </a:prstGeom>
          <a:solidFill>
            <a:srgbClr val="FF5722"/>
          </a:solidFill>
          <a:ln/>
        </p:spPr>
        <p:txBody>
          <a:bodyPr/>
          <a:lstStyle/>
          <a:p>
            <a:endParaRPr lang="en-US"/>
          </a:p>
        </p:txBody>
      </p:sp>
      <p:sp>
        <p:nvSpPr>
          <p:cNvPr id="30" name="Text 27"/>
          <p:cNvSpPr/>
          <p:nvPr/>
        </p:nvSpPr>
        <p:spPr>
          <a:xfrm>
            <a:off x="6134081" y="2808917"/>
            <a:ext cx="493725" cy="96437"/>
          </a:xfrm>
          <a:prstGeom prst="rect">
            <a:avLst/>
          </a:prstGeom>
          <a:noFill/>
          <a:ln/>
        </p:spPr>
        <p:txBody>
          <a:bodyPr wrap="none" lIns="0" tIns="0" rIns="0" bIns="0" rtlCol="0" anchor="t">
            <a:spAutoFit/>
          </a:bodyPr>
          <a:lstStyle/>
          <a:p>
            <a:pPr marL="0" indent="0" algn="l">
              <a:lnSpc>
                <a:spcPts val="800"/>
              </a:lnSpc>
              <a:buNone/>
            </a:pPr>
            <a:r>
              <a:rPr lang="en-US" sz="584" b="1">
                <a:solidFill>
                  <a:srgbClr val="666666"/>
                </a:solidFill>
                <a:latin typeface="Roboto Mono" pitchFamily="34" charset="0"/>
                <a:ea typeface="Roboto Mono" pitchFamily="34" charset="-122"/>
                <a:cs typeface="Roboto Mono" pitchFamily="34" charset="-120"/>
              </a:rPr>
              <a:t>OPEN ISSUES</a:t>
            </a:r>
            <a:endParaRPr lang="en-US" sz="584"/>
          </a:p>
        </p:txBody>
      </p:sp>
      <p:sp>
        <p:nvSpPr>
          <p:cNvPr id="31" name="Text 28"/>
          <p:cNvSpPr/>
          <p:nvPr/>
        </p:nvSpPr>
        <p:spPr>
          <a:xfrm>
            <a:off x="6134081" y="2921431"/>
            <a:ext cx="508152" cy="194284"/>
          </a:xfrm>
          <a:prstGeom prst="rect">
            <a:avLst/>
          </a:prstGeom>
          <a:noFill/>
          <a:ln/>
        </p:spPr>
        <p:txBody>
          <a:bodyPr wrap="none" lIns="0" tIns="0" rIns="0" bIns="0" rtlCol="0" anchor="t">
            <a:spAutoFit/>
          </a:bodyPr>
          <a:lstStyle/>
          <a:p>
            <a:pPr marL="0" indent="0" algn="l">
              <a:lnSpc>
                <a:spcPts val="1600"/>
              </a:lnSpc>
              <a:buNone/>
            </a:pPr>
            <a:r>
              <a:rPr lang="en-US" sz="1193" b="1">
                <a:solidFill>
                  <a:srgbClr val="000000"/>
                </a:solidFill>
                <a:latin typeface="Inter" pitchFamily="34" charset="0"/>
                <a:ea typeface="Inter" pitchFamily="34" charset="-122"/>
              </a:rPr>
              <a:t>3 Active</a:t>
            </a:r>
            <a:endParaRPr lang="en-US" sz="1193"/>
          </a:p>
        </p:txBody>
      </p:sp>
      <p:sp>
        <p:nvSpPr>
          <p:cNvPr id="14" name="TextBox 13">
            <a:extLst>
              <a:ext uri="{FF2B5EF4-FFF2-40B4-BE49-F238E27FC236}">
                <a16:creationId xmlns:a16="http://schemas.microsoft.com/office/drawing/2014/main" id="{46E9FC47-D95F-B36D-EA15-0D696889EAB4}"/>
              </a:ext>
            </a:extLst>
          </p:cNvPr>
          <p:cNvSpPr txBox="1"/>
          <p:nvPr/>
        </p:nvSpPr>
        <p:spPr>
          <a:xfrm>
            <a:off x="365897" y="1580627"/>
            <a:ext cx="2729654" cy="2062103"/>
          </a:xfrm>
          <a:prstGeom prst="rect">
            <a:avLst/>
          </a:prstGeom>
          <a:noFill/>
        </p:spPr>
        <p:txBody>
          <a:bodyPr wrap="square" lIns="91440" tIns="45720" rIns="91440" bIns="45720" rtlCol="0" anchor="t">
            <a:spAutoFit/>
          </a:bodyPr>
          <a:lstStyle/>
          <a:p>
            <a:pPr marL="171450" indent="-171450">
              <a:buClr>
                <a:schemeClr val="accent2"/>
              </a:buClr>
              <a:buFont typeface="Arial" panose="020B0604020202020204" pitchFamily="34" charset="0"/>
              <a:buChar char="•"/>
            </a:pPr>
            <a:r>
              <a:rPr lang="en-US" sz="800" dirty="0"/>
              <a:t>Design: Finalized the CAD model, used </a:t>
            </a:r>
            <a:r>
              <a:rPr lang="en-US" sz="800" dirty="0" err="1"/>
              <a:t>OpenSCAD</a:t>
            </a:r>
            <a:r>
              <a:rPr lang="en-US" sz="800" dirty="0"/>
              <a:t> to parametrically design spur gears, conducted an unknown torque analysis in SolidWorks to  verify motor selection, and started the printing process.</a:t>
            </a:r>
          </a:p>
          <a:p>
            <a:pPr marL="171450" indent="-171450">
              <a:buClr>
                <a:schemeClr val="accent2"/>
              </a:buClr>
              <a:buFont typeface="Arial" panose="020B0604020202020204" pitchFamily="34" charset="0"/>
              <a:buChar char="•"/>
            </a:pPr>
            <a:endParaRPr lang="en-US" sz="800" dirty="0"/>
          </a:p>
          <a:p>
            <a:pPr marL="171450" indent="-171450">
              <a:buClr>
                <a:schemeClr val="accent2"/>
              </a:buClr>
              <a:buFont typeface="Arial" panose="020B0604020202020204" pitchFamily="34" charset="0"/>
              <a:buChar char="•"/>
            </a:pPr>
            <a:r>
              <a:rPr lang="en-US" sz="800" dirty="0"/>
              <a:t>Began the procurement process.</a:t>
            </a:r>
          </a:p>
          <a:p>
            <a:pPr>
              <a:buClr>
                <a:schemeClr val="accent2"/>
              </a:buClr>
            </a:pPr>
            <a:endParaRPr lang="en-US" sz="800" dirty="0"/>
          </a:p>
          <a:p>
            <a:pPr marL="171450" indent="-171450">
              <a:buClr>
                <a:schemeClr val="accent2"/>
              </a:buClr>
              <a:buFont typeface="Arial" panose="020B0604020202020204" pitchFamily="34" charset="0"/>
              <a:buChar char="•"/>
            </a:pPr>
            <a:r>
              <a:rPr lang="en-US" sz="800" dirty="0">
                <a:latin typeface="Inter "/>
              </a:rPr>
              <a:t>Begin and are exploring the use open-source frameworks. Started with Rviz and Moveit2 to conduct FK and IK, by creating a URDF model and importing it to Ubuntu and ROS 2.</a:t>
            </a:r>
          </a:p>
          <a:p>
            <a:pPr>
              <a:buClr>
                <a:schemeClr val="accent2"/>
              </a:buClr>
            </a:pPr>
            <a:endParaRPr lang="en-US" sz="800" dirty="0">
              <a:latin typeface="Inter "/>
            </a:endParaRPr>
          </a:p>
          <a:p>
            <a:pPr marL="171450" indent="-171450">
              <a:buClr>
                <a:schemeClr val="accent2"/>
              </a:buClr>
              <a:buFont typeface="Arial" panose="020B0604020202020204" pitchFamily="34" charset="0"/>
              <a:buChar char="•"/>
            </a:pPr>
            <a:r>
              <a:rPr lang="en-US" sz="800">
                <a:latin typeface="Times New Roman"/>
                <a:ea typeface="+mn-lt"/>
                <a:cs typeface="Times New Roman"/>
              </a:rPr>
              <a:t>Collected, cleaned and labeled egg image data, then trained a YOLOv8 model and tested it in real time using OpenCV to detect eggs.</a:t>
            </a:r>
          </a:p>
          <a:p>
            <a:pPr marL="171450" indent="-171450">
              <a:buClr>
                <a:schemeClr val="accent2"/>
              </a:buClr>
              <a:buFont typeface="Arial" panose="020B0604020202020204" pitchFamily="34" charset="0"/>
              <a:buChar char="•"/>
            </a:pPr>
            <a:endParaRPr lang="en-US" sz="800" dirty="0">
              <a:latin typeface="Inter "/>
            </a:endParaRPr>
          </a:p>
        </p:txBody>
      </p:sp>
      <p:sp>
        <p:nvSpPr>
          <p:cNvPr id="6" name="TextBox 5">
            <a:extLst>
              <a:ext uri="{FF2B5EF4-FFF2-40B4-BE49-F238E27FC236}">
                <a16:creationId xmlns:a16="http://schemas.microsoft.com/office/drawing/2014/main" id="{D1AC156F-7AD9-DC02-254D-19506AE6F4B4}"/>
              </a:ext>
            </a:extLst>
          </p:cNvPr>
          <p:cNvSpPr txBox="1"/>
          <p:nvPr/>
        </p:nvSpPr>
        <p:spPr>
          <a:xfrm>
            <a:off x="3252957" y="1501799"/>
            <a:ext cx="2542439" cy="1569660"/>
          </a:xfrm>
          <a:prstGeom prst="rect">
            <a:avLst/>
          </a:prstGeom>
          <a:noFill/>
        </p:spPr>
        <p:txBody>
          <a:bodyPr wrap="square" lIns="91440" tIns="45720" rIns="91440" bIns="45720" rtlCol="0" anchor="t">
            <a:spAutoFit/>
          </a:bodyPr>
          <a:lstStyle/>
          <a:p>
            <a:pPr marL="171450" indent="-171450">
              <a:buClr>
                <a:schemeClr val="accent2"/>
              </a:buClr>
              <a:buFont typeface="Arial" panose="020B0604020202020204" pitchFamily="34" charset="0"/>
              <a:buChar char="•"/>
            </a:pPr>
            <a:r>
              <a:rPr lang="en-US" sz="800" dirty="0"/>
              <a:t>Blocker : Limited university access, making gathering as a group extremely difficult.</a:t>
            </a:r>
            <a:endParaRPr lang="en-US" sz="800" dirty="0">
              <a:ea typeface="Calibri"/>
              <a:cs typeface="Calibri"/>
            </a:endParaRPr>
          </a:p>
          <a:p>
            <a:pPr>
              <a:buClr>
                <a:schemeClr val="accent2"/>
              </a:buClr>
            </a:pPr>
            <a:endParaRPr lang="en-US" sz="800" dirty="0">
              <a:ea typeface="Calibri"/>
              <a:cs typeface="Calibri"/>
            </a:endParaRPr>
          </a:p>
          <a:p>
            <a:pPr marL="171450" indent="-171450">
              <a:buClr>
                <a:schemeClr val="accent2"/>
              </a:buClr>
              <a:buFont typeface="Arial" panose="020B0604020202020204" pitchFamily="34" charset="0"/>
              <a:buChar char="•"/>
            </a:pPr>
            <a:r>
              <a:rPr lang="en-US" sz="800" dirty="0">
                <a:latin typeface="Inter "/>
              </a:rPr>
              <a:t>Risk: The components are pricey, so every step has to be studied carefully before executing.</a:t>
            </a:r>
          </a:p>
          <a:p>
            <a:pPr marL="171450" indent="-171450">
              <a:buClr>
                <a:schemeClr val="accent2"/>
              </a:buClr>
              <a:buFont typeface="Arial" panose="020B0604020202020204" pitchFamily="34" charset="0"/>
              <a:buChar char="•"/>
            </a:pPr>
            <a:endParaRPr lang="en-US" sz="800" dirty="0">
              <a:latin typeface="Inter "/>
            </a:endParaRPr>
          </a:p>
          <a:p>
            <a:pPr marL="171450" indent="-171450">
              <a:buClr>
                <a:schemeClr val="accent2"/>
              </a:buClr>
              <a:buFont typeface="Arial" panose="020B0604020202020204" pitchFamily="34" charset="0"/>
              <a:buChar char="•"/>
            </a:pPr>
            <a:r>
              <a:rPr lang="en-US" sz="800" dirty="0">
                <a:latin typeface="Inter "/>
              </a:rPr>
              <a:t>Blocker: Uncertainty around the future of the semester is creating hesitation and doubt. </a:t>
            </a:r>
          </a:p>
          <a:p>
            <a:pPr marL="171450" indent="-171450">
              <a:buClr>
                <a:schemeClr val="accent2"/>
              </a:buClr>
              <a:buFont typeface="Arial" panose="020B0604020202020204" pitchFamily="34" charset="0"/>
              <a:buChar char="•"/>
            </a:pPr>
            <a:endParaRPr lang="en-US" sz="800" dirty="0">
              <a:latin typeface="Inter "/>
            </a:endParaRPr>
          </a:p>
          <a:p>
            <a:pPr marL="171450" indent="-171450">
              <a:buClr>
                <a:schemeClr val="accent2"/>
              </a:buClr>
              <a:buFont typeface="Arial" panose="020B0604020202020204" pitchFamily="34" charset="0"/>
              <a:buChar char="•"/>
            </a:pPr>
            <a:r>
              <a:rPr lang="en-US" sz="800">
                <a:latin typeface="Inter "/>
              </a:rPr>
              <a:t>Blocker: The run time of training datasets is massive, sometimes can take up to a day depending on the number of images used to train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45C741AB-39EC-2AA6-968B-ABD933D74F8E}"/>
              </a:ext>
            </a:extLst>
          </p:cNvPr>
          <p:cNvPicPr>
            <a:picLocks noChangeAspect="1"/>
          </p:cNvPicPr>
          <p:nvPr/>
        </p:nvPicPr>
        <p:blipFill>
          <a:blip r:embed="rId2"/>
          <a:stretch>
            <a:fillRect/>
          </a:stretch>
        </p:blipFill>
        <p:spPr>
          <a:xfrm>
            <a:off x="0" y="0"/>
            <a:ext cx="9144000" cy="5143500"/>
          </a:xfrm>
          <a:prstGeom prst="rect">
            <a:avLst/>
          </a:prstGeom>
          <a:solidFill>
            <a:schemeClr val="accent4">
              <a:lumMod val="60000"/>
              <a:lumOff val="40000"/>
            </a:schemeClr>
          </a:solidFill>
        </p:spPr>
      </p:pic>
      <p:sp>
        <p:nvSpPr>
          <p:cNvPr id="6" name="Text 0">
            <a:extLst>
              <a:ext uri="{FF2B5EF4-FFF2-40B4-BE49-F238E27FC236}">
                <a16:creationId xmlns:a16="http://schemas.microsoft.com/office/drawing/2014/main" id="{335C9814-FA25-2EF1-B06C-3E2735E9BCEC}"/>
              </a:ext>
            </a:extLst>
          </p:cNvPr>
          <p:cNvSpPr/>
          <p:nvPr/>
        </p:nvSpPr>
        <p:spPr>
          <a:xfrm>
            <a:off x="428625" y="665792"/>
            <a:ext cx="3731791" cy="674224"/>
          </a:xfrm>
          <a:prstGeom prst="rect">
            <a:avLst/>
          </a:prstGeom>
          <a:noFill/>
          <a:ln/>
        </p:spPr>
        <p:txBody>
          <a:bodyPr wrap="none" lIns="0" tIns="0" rIns="0" bIns="0" rtlCol="0" anchor="t">
            <a:spAutoFit/>
          </a:bodyPr>
          <a:lstStyle/>
          <a:p>
            <a:pPr marL="0" indent="0" algn="l">
              <a:lnSpc>
                <a:spcPts val="2700"/>
              </a:lnSpc>
              <a:buNone/>
            </a:pPr>
            <a:r>
              <a:rPr lang="en-US" sz="2016" b="1">
                <a:solidFill>
                  <a:srgbClr val="000000"/>
                </a:solidFill>
                <a:latin typeface="Roboto Mono" pitchFamily="34" charset="0"/>
                <a:ea typeface="Roboto Mono" pitchFamily="34" charset="-122"/>
                <a:cs typeface="Roboto Mono" pitchFamily="34" charset="-120"/>
              </a:rPr>
              <a:t>Project Schedule (Gantt)</a:t>
            </a:r>
          </a:p>
          <a:p>
            <a:pPr marL="0" indent="0" algn="l">
              <a:lnSpc>
                <a:spcPts val="2700"/>
              </a:lnSpc>
              <a:buNone/>
            </a:pPr>
            <a:endParaRPr lang="en-US" sz="2016"/>
          </a:p>
        </p:txBody>
      </p:sp>
      <p:sp>
        <p:nvSpPr>
          <p:cNvPr id="7" name="TextBox 6">
            <a:extLst>
              <a:ext uri="{FF2B5EF4-FFF2-40B4-BE49-F238E27FC236}">
                <a16:creationId xmlns:a16="http://schemas.microsoft.com/office/drawing/2014/main" id="{44E3C2E7-665E-4C09-FF9D-14860C5E6215}"/>
              </a:ext>
            </a:extLst>
          </p:cNvPr>
          <p:cNvSpPr txBox="1"/>
          <p:nvPr/>
        </p:nvSpPr>
        <p:spPr>
          <a:xfrm>
            <a:off x="3093983" y="2354974"/>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u="sng" strike="noStrike" baseline="0">
                <a:solidFill>
                  <a:srgbClr val="0563C1"/>
                </a:solidFill>
                <a:latin typeface="Arial"/>
                <a:ea typeface="Segoe UI"/>
                <a:cs typeface="Segoe UI"/>
                <a:hlinkClick r:id="rId3"/>
              </a:rPr>
              <a:t>Agile Gantt chart1.xlsx</a:t>
            </a:r>
            <a:r>
              <a:rPr sz="1800">
                <a:latin typeface="Arial"/>
                <a:ea typeface="Arial"/>
                <a:cs typeface="Arial"/>
              </a:rPr>
              <a:t>​</a:t>
            </a:r>
            <a:endParaRPr lang="en-US"/>
          </a:p>
          <a:p>
            <a:pPr algn="ctr"/>
            <a:endParaRPr lang="en-US"/>
          </a:p>
        </p:txBody>
      </p:sp>
    </p:spTree>
    <p:extLst>
      <p:ext uri="{BB962C8B-B14F-4D97-AF65-F5344CB8AC3E}">
        <p14:creationId xmlns:p14="http://schemas.microsoft.com/office/powerpoint/2010/main" val="525632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54802"/>
            <a:ext cx="9144000" cy="5143500"/>
          </a:xfrm>
          <a:prstGeom prst="rect">
            <a:avLst/>
          </a:prstGeom>
        </p:spPr>
      </p:pic>
      <p:sp>
        <p:nvSpPr>
          <p:cNvPr id="3" name="Text 0"/>
          <p:cNvSpPr/>
          <p:nvPr/>
        </p:nvSpPr>
        <p:spPr>
          <a:xfrm>
            <a:off x="428625" y="665792"/>
            <a:ext cx="8286750" cy="376833"/>
          </a:xfrm>
          <a:prstGeom prst="rect">
            <a:avLst/>
          </a:prstGeom>
          <a:noFill/>
          <a:ln/>
        </p:spPr>
        <p:txBody>
          <a:bodyPr wrap="none" lIns="0" tIns="0" rIns="0" bIns="0" rtlCol="0" anchor="t">
            <a:spAutoFit/>
          </a:bodyPr>
          <a:lstStyle/>
          <a:p>
            <a:pPr marL="0" indent="0" algn="l">
              <a:lnSpc>
                <a:spcPts val="2700"/>
              </a:lnSpc>
              <a:buNone/>
            </a:pPr>
            <a:r>
              <a:rPr lang="en-US" sz="2016" b="1">
                <a:solidFill>
                  <a:srgbClr val="000000"/>
                </a:solidFill>
                <a:latin typeface="Roboto Mono" pitchFamily="34" charset="0"/>
                <a:ea typeface="Roboto Mono" pitchFamily="34" charset="-122"/>
                <a:cs typeface="Roboto Mono" pitchFamily="34" charset="-120"/>
              </a:rPr>
              <a:t>ISSUES, RISKS, AND ACTION ITEMS</a:t>
            </a:r>
            <a:endParaRPr lang="en-US" sz="2016"/>
          </a:p>
        </p:txBody>
      </p:sp>
      <p:sp>
        <p:nvSpPr>
          <p:cNvPr id="4" name="Shape 1"/>
          <p:cNvSpPr/>
          <p:nvPr/>
        </p:nvSpPr>
        <p:spPr>
          <a:xfrm>
            <a:off x="428625" y="1292656"/>
            <a:ext cx="3636811" cy="312539"/>
          </a:xfrm>
          <a:prstGeom prst="rect">
            <a:avLst/>
          </a:prstGeom>
          <a:solidFill>
            <a:srgbClr val="000000"/>
          </a:solidFill>
          <a:ln/>
        </p:spPr>
        <p:txBody>
          <a:bodyPr/>
          <a:lstStyle/>
          <a:p>
            <a:endParaRPr lang="en-US"/>
          </a:p>
        </p:txBody>
      </p:sp>
      <p:sp>
        <p:nvSpPr>
          <p:cNvPr id="5" name="Text 2"/>
          <p:cNvSpPr/>
          <p:nvPr/>
        </p:nvSpPr>
        <p:spPr>
          <a:xfrm>
            <a:off x="428625" y="1292656"/>
            <a:ext cx="3636811" cy="312539"/>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TOP ISSUES (BLOCKING PROGRESS)</a:t>
            </a:r>
            <a:endParaRPr lang="en-US" sz="885"/>
          </a:p>
        </p:txBody>
      </p:sp>
      <p:sp>
        <p:nvSpPr>
          <p:cNvPr id="6" name="Text 3"/>
          <p:cNvSpPr/>
          <p:nvPr/>
        </p:nvSpPr>
        <p:spPr>
          <a:xfrm>
            <a:off x="428625" y="1712351"/>
            <a:ext cx="171778" cy="140808"/>
          </a:xfrm>
          <a:prstGeom prst="rect">
            <a:avLst/>
          </a:prstGeom>
          <a:noFill/>
          <a:ln/>
        </p:spPr>
        <p:txBody>
          <a:bodyPr wrap="none" lIns="170053" tIns="0" rIns="0" bIns="0" rtlCol="0" anchor="t">
            <a:spAutoFit/>
          </a:bodyPr>
          <a:lstStyle/>
          <a:p>
            <a:pPr marL="0" indent="0" algn="l">
              <a:lnSpc>
                <a:spcPts val="1200"/>
              </a:lnSpc>
              <a:buNone/>
            </a:pPr>
            <a:endParaRPr lang="en-US" sz="750">
              <a:solidFill>
                <a:srgbClr val="333333"/>
              </a:solidFill>
              <a:latin typeface="Inter"/>
              <a:ea typeface="Inter"/>
            </a:endParaRPr>
          </a:p>
        </p:txBody>
      </p:sp>
      <p:sp>
        <p:nvSpPr>
          <p:cNvPr id="9" name="Text 6"/>
          <p:cNvSpPr/>
          <p:nvPr/>
        </p:nvSpPr>
        <p:spPr>
          <a:xfrm>
            <a:off x="428625" y="1712351"/>
            <a:ext cx="65" cy="140231"/>
          </a:xfrm>
          <a:prstGeom prst="rect">
            <a:avLst/>
          </a:prstGeom>
          <a:noFill/>
          <a:ln/>
        </p:spPr>
        <p:txBody>
          <a:bodyPr wrap="none" lIns="0" tIns="0" rIns="0" bIns="0" rtlCol="0" anchor="t">
            <a:spAutoFit/>
          </a:bodyPr>
          <a:lstStyle/>
          <a:p>
            <a:pPr marL="0" indent="0" algn="l">
              <a:lnSpc>
                <a:spcPts val="1200"/>
              </a:lnSpc>
              <a:buNone/>
            </a:pPr>
            <a:endParaRPr lang="en-US" sz="734" dirty="0"/>
          </a:p>
        </p:txBody>
      </p:sp>
      <p:sp>
        <p:nvSpPr>
          <p:cNvPr id="10" name="Text 7"/>
          <p:cNvSpPr/>
          <p:nvPr/>
        </p:nvSpPr>
        <p:spPr>
          <a:xfrm>
            <a:off x="428625" y="2113870"/>
            <a:ext cx="65" cy="140231"/>
          </a:xfrm>
          <a:prstGeom prst="rect">
            <a:avLst/>
          </a:prstGeom>
          <a:noFill/>
          <a:ln/>
        </p:spPr>
        <p:txBody>
          <a:bodyPr wrap="none" lIns="0" tIns="0" rIns="0" bIns="0" rtlCol="0" anchor="t">
            <a:spAutoFit/>
          </a:bodyPr>
          <a:lstStyle/>
          <a:p>
            <a:pPr marL="0" indent="0" algn="l">
              <a:lnSpc>
                <a:spcPts val="1200"/>
              </a:lnSpc>
              <a:buNone/>
            </a:pPr>
            <a:endParaRPr lang="en-US" sz="734" dirty="0"/>
          </a:p>
        </p:txBody>
      </p:sp>
      <p:sp>
        <p:nvSpPr>
          <p:cNvPr id="12" name="Shape 9"/>
          <p:cNvSpPr/>
          <p:nvPr/>
        </p:nvSpPr>
        <p:spPr>
          <a:xfrm>
            <a:off x="444283" y="2629198"/>
            <a:ext cx="3636811" cy="312539"/>
          </a:xfrm>
          <a:prstGeom prst="rect">
            <a:avLst/>
          </a:prstGeom>
          <a:solidFill>
            <a:srgbClr val="000000"/>
          </a:solidFill>
          <a:ln/>
        </p:spPr>
        <p:txBody>
          <a:bodyPr/>
          <a:lstStyle/>
          <a:p>
            <a:endParaRPr lang="en-US"/>
          </a:p>
        </p:txBody>
      </p:sp>
      <p:sp>
        <p:nvSpPr>
          <p:cNvPr id="13" name="Text 10"/>
          <p:cNvSpPr/>
          <p:nvPr/>
        </p:nvSpPr>
        <p:spPr>
          <a:xfrm>
            <a:off x="436454" y="2629197"/>
            <a:ext cx="3628982" cy="316753"/>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MITIGATIONS / DECISIONS NEEDED</a:t>
            </a:r>
            <a:endParaRPr lang="en-US" sz="885"/>
          </a:p>
        </p:txBody>
      </p:sp>
      <p:sp>
        <p:nvSpPr>
          <p:cNvPr id="18" name="Text 15"/>
          <p:cNvSpPr/>
          <p:nvPr/>
        </p:nvSpPr>
        <p:spPr>
          <a:xfrm>
            <a:off x="436454" y="2996343"/>
            <a:ext cx="65" cy="140231"/>
          </a:xfrm>
          <a:prstGeom prst="rect">
            <a:avLst/>
          </a:prstGeom>
          <a:noFill/>
          <a:ln/>
        </p:spPr>
        <p:txBody>
          <a:bodyPr wrap="none" lIns="0" tIns="0" rIns="0" bIns="0" rtlCol="0" anchor="t">
            <a:spAutoFit/>
          </a:bodyPr>
          <a:lstStyle/>
          <a:p>
            <a:pPr marL="0" indent="0" algn="l">
              <a:lnSpc>
                <a:spcPts val="1200"/>
              </a:lnSpc>
              <a:buNone/>
            </a:pPr>
            <a:endParaRPr lang="en-US" sz="734" dirty="0"/>
          </a:p>
        </p:txBody>
      </p:sp>
      <p:sp>
        <p:nvSpPr>
          <p:cNvPr id="20" name="Shape 17"/>
          <p:cNvSpPr/>
          <p:nvPr/>
        </p:nvSpPr>
        <p:spPr>
          <a:xfrm>
            <a:off x="4351186" y="1292656"/>
            <a:ext cx="4364189" cy="312539"/>
          </a:xfrm>
          <a:prstGeom prst="rect">
            <a:avLst/>
          </a:prstGeom>
          <a:solidFill>
            <a:srgbClr val="000000"/>
          </a:solidFill>
          <a:ln/>
        </p:spPr>
        <p:txBody>
          <a:bodyPr/>
          <a:lstStyle/>
          <a:p>
            <a:endParaRPr lang="en-US"/>
          </a:p>
        </p:txBody>
      </p:sp>
      <p:sp>
        <p:nvSpPr>
          <p:cNvPr id="21" name="Text 18"/>
          <p:cNvSpPr/>
          <p:nvPr/>
        </p:nvSpPr>
        <p:spPr>
          <a:xfrm>
            <a:off x="4351186" y="1292656"/>
            <a:ext cx="4364189" cy="312539"/>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ACTION ITEMS (NEXT 7 DAYS)</a:t>
            </a:r>
            <a:endParaRPr lang="en-US" sz="885"/>
          </a:p>
        </p:txBody>
      </p:sp>
      <p:sp>
        <p:nvSpPr>
          <p:cNvPr id="22" name="Shape 19"/>
          <p:cNvSpPr/>
          <p:nvPr/>
        </p:nvSpPr>
        <p:spPr>
          <a:xfrm>
            <a:off x="4354757" y="1715923"/>
            <a:ext cx="435769" cy="282178"/>
          </a:xfrm>
          <a:prstGeom prst="rect">
            <a:avLst/>
          </a:prstGeom>
          <a:solidFill>
            <a:srgbClr val="333333"/>
          </a:solidFill>
          <a:ln w="9144">
            <a:solidFill>
              <a:srgbClr val="000000"/>
            </a:solidFill>
            <a:prstDash val="solid"/>
          </a:ln>
        </p:spPr>
        <p:txBody>
          <a:bodyPr/>
          <a:lstStyle/>
          <a:p>
            <a:endParaRPr lang="en-US"/>
          </a:p>
        </p:txBody>
      </p:sp>
      <p:sp>
        <p:nvSpPr>
          <p:cNvPr id="23" name="Text 20"/>
          <p:cNvSpPr/>
          <p:nvPr/>
        </p:nvSpPr>
        <p:spPr>
          <a:xfrm>
            <a:off x="4354757" y="1715923"/>
            <a:ext cx="435769" cy="282178"/>
          </a:xfrm>
          <a:prstGeom prst="rect">
            <a:avLst/>
          </a:prstGeom>
          <a:noFill/>
          <a:ln/>
        </p:spPr>
        <p:txBody>
          <a:bodyPr wrap="square" lIns="85090" tIns="85090" rIns="85090" bIns="85090" rtlCol="0" anchor="ctr">
            <a:spAutoFit/>
          </a:bodyPr>
          <a:lstStyle/>
          <a:p>
            <a:pPr marL="0" indent="0" algn="l">
              <a:lnSpc>
                <a:spcPts val="900"/>
              </a:lnSpc>
              <a:buNone/>
            </a:pPr>
            <a:r>
              <a:rPr lang="en-US" sz="683" b="1">
                <a:solidFill>
                  <a:srgbClr val="FFFFFF"/>
                </a:solidFill>
                <a:latin typeface="Roboto Mono" pitchFamily="34" charset="0"/>
                <a:ea typeface="Roboto Mono" pitchFamily="34" charset="-122"/>
                <a:cs typeface="Roboto Mono" pitchFamily="34" charset="-120"/>
              </a:rPr>
              <a:t>ID</a:t>
            </a:r>
            <a:endParaRPr lang="en-US" sz="683"/>
          </a:p>
        </p:txBody>
      </p:sp>
      <p:sp>
        <p:nvSpPr>
          <p:cNvPr id="24" name="Shape 21"/>
          <p:cNvSpPr/>
          <p:nvPr/>
        </p:nvSpPr>
        <p:spPr>
          <a:xfrm>
            <a:off x="4790526" y="1715923"/>
            <a:ext cx="2192489" cy="282178"/>
          </a:xfrm>
          <a:prstGeom prst="rect">
            <a:avLst/>
          </a:prstGeom>
          <a:solidFill>
            <a:srgbClr val="333333"/>
          </a:solidFill>
          <a:ln w="9144">
            <a:solidFill>
              <a:srgbClr val="000000"/>
            </a:solidFill>
            <a:prstDash val="solid"/>
          </a:ln>
        </p:spPr>
        <p:txBody>
          <a:bodyPr/>
          <a:lstStyle/>
          <a:p>
            <a:endParaRPr lang="en-US"/>
          </a:p>
        </p:txBody>
      </p:sp>
      <p:sp>
        <p:nvSpPr>
          <p:cNvPr id="25" name="Text 22"/>
          <p:cNvSpPr/>
          <p:nvPr/>
        </p:nvSpPr>
        <p:spPr>
          <a:xfrm>
            <a:off x="4790526" y="1715923"/>
            <a:ext cx="2192489" cy="282178"/>
          </a:xfrm>
          <a:prstGeom prst="rect">
            <a:avLst/>
          </a:prstGeom>
          <a:noFill/>
          <a:ln/>
        </p:spPr>
        <p:txBody>
          <a:bodyPr wrap="square" lIns="85090" tIns="85090" rIns="85090" bIns="85090" rtlCol="0" anchor="ctr">
            <a:spAutoFit/>
          </a:bodyPr>
          <a:lstStyle/>
          <a:p>
            <a:pPr marL="0" indent="0" algn="l">
              <a:lnSpc>
                <a:spcPts val="900"/>
              </a:lnSpc>
              <a:buNone/>
            </a:pPr>
            <a:r>
              <a:rPr lang="en-US" sz="683" b="1">
                <a:solidFill>
                  <a:srgbClr val="FFFFFF"/>
                </a:solidFill>
                <a:latin typeface="Roboto Mono" pitchFamily="34" charset="0"/>
                <a:ea typeface="Roboto Mono" pitchFamily="34" charset="-122"/>
                <a:cs typeface="Roboto Mono" pitchFamily="34" charset="-120"/>
              </a:rPr>
              <a:t>ACTION ITEM DESCRIPTION</a:t>
            </a:r>
            <a:endParaRPr lang="en-US" sz="683"/>
          </a:p>
        </p:txBody>
      </p:sp>
      <p:sp>
        <p:nvSpPr>
          <p:cNvPr id="26" name="Shape 23"/>
          <p:cNvSpPr/>
          <p:nvPr/>
        </p:nvSpPr>
        <p:spPr>
          <a:xfrm>
            <a:off x="6983016" y="1715923"/>
            <a:ext cx="864394" cy="282178"/>
          </a:xfrm>
          <a:prstGeom prst="rect">
            <a:avLst/>
          </a:prstGeom>
          <a:solidFill>
            <a:srgbClr val="333333"/>
          </a:solidFill>
          <a:ln w="9144">
            <a:solidFill>
              <a:srgbClr val="000000"/>
            </a:solidFill>
            <a:prstDash val="solid"/>
          </a:ln>
        </p:spPr>
        <p:txBody>
          <a:bodyPr/>
          <a:lstStyle/>
          <a:p>
            <a:endParaRPr lang="en-US"/>
          </a:p>
        </p:txBody>
      </p:sp>
      <p:sp>
        <p:nvSpPr>
          <p:cNvPr id="27" name="Text 24"/>
          <p:cNvSpPr/>
          <p:nvPr/>
        </p:nvSpPr>
        <p:spPr>
          <a:xfrm>
            <a:off x="6983016" y="1715923"/>
            <a:ext cx="864394" cy="282178"/>
          </a:xfrm>
          <a:prstGeom prst="rect">
            <a:avLst/>
          </a:prstGeom>
          <a:noFill/>
          <a:ln/>
        </p:spPr>
        <p:txBody>
          <a:bodyPr wrap="square" lIns="85090" tIns="85090" rIns="85090" bIns="85090" rtlCol="0" anchor="ctr">
            <a:spAutoFit/>
          </a:bodyPr>
          <a:lstStyle/>
          <a:p>
            <a:pPr marL="0" indent="0" algn="l">
              <a:lnSpc>
                <a:spcPts val="900"/>
              </a:lnSpc>
              <a:buNone/>
            </a:pPr>
            <a:r>
              <a:rPr lang="en-US" sz="650" b="1">
                <a:solidFill>
                  <a:srgbClr val="FFFFFF"/>
                </a:solidFill>
                <a:latin typeface="Roboto Mono"/>
                <a:ea typeface="Roboto Mono"/>
              </a:rPr>
              <a:t>MEMBER</a:t>
            </a:r>
            <a:endParaRPr lang="en-US" sz="683"/>
          </a:p>
        </p:txBody>
      </p:sp>
      <p:sp>
        <p:nvSpPr>
          <p:cNvPr id="28" name="Shape 25"/>
          <p:cNvSpPr/>
          <p:nvPr/>
        </p:nvSpPr>
        <p:spPr>
          <a:xfrm>
            <a:off x="7847409" y="1715923"/>
            <a:ext cx="864394" cy="282178"/>
          </a:xfrm>
          <a:prstGeom prst="rect">
            <a:avLst/>
          </a:prstGeom>
          <a:solidFill>
            <a:srgbClr val="333333"/>
          </a:solidFill>
          <a:ln w="9144">
            <a:solidFill>
              <a:srgbClr val="000000"/>
            </a:solidFill>
            <a:prstDash val="solid"/>
          </a:ln>
        </p:spPr>
        <p:txBody>
          <a:bodyPr/>
          <a:lstStyle/>
          <a:p>
            <a:endParaRPr lang="en-US"/>
          </a:p>
        </p:txBody>
      </p:sp>
      <p:sp>
        <p:nvSpPr>
          <p:cNvPr id="29" name="Text 26"/>
          <p:cNvSpPr/>
          <p:nvPr/>
        </p:nvSpPr>
        <p:spPr>
          <a:xfrm>
            <a:off x="7847409" y="1715923"/>
            <a:ext cx="864394" cy="282178"/>
          </a:xfrm>
          <a:prstGeom prst="rect">
            <a:avLst/>
          </a:prstGeom>
          <a:noFill/>
          <a:ln/>
        </p:spPr>
        <p:txBody>
          <a:bodyPr wrap="square" lIns="85090" tIns="85090" rIns="85090" bIns="85090" rtlCol="0" anchor="ctr">
            <a:spAutoFit/>
          </a:bodyPr>
          <a:lstStyle/>
          <a:p>
            <a:pPr>
              <a:lnSpc>
                <a:spcPts val="900"/>
              </a:lnSpc>
            </a:pPr>
            <a:r>
              <a:rPr lang="en-US" sz="650" b="1">
                <a:solidFill>
                  <a:srgbClr val="FFFFFF"/>
                </a:solidFill>
                <a:latin typeface="Roboto Mono"/>
                <a:ea typeface="Roboto Mono"/>
              </a:rPr>
              <a:t>WEEK DUE</a:t>
            </a:r>
            <a:endParaRPr lang="en-US" sz="683"/>
          </a:p>
        </p:txBody>
      </p:sp>
      <p:sp>
        <p:nvSpPr>
          <p:cNvPr id="30" name="Text 27"/>
          <p:cNvSpPr/>
          <p:nvPr/>
        </p:nvSpPr>
        <p:spPr>
          <a:xfrm>
            <a:off x="4354757" y="1990958"/>
            <a:ext cx="435769" cy="271463"/>
          </a:xfrm>
          <a:prstGeom prst="rect">
            <a:avLst/>
          </a:prstGeom>
          <a:noFill/>
          <a:ln/>
        </p:spPr>
        <p:txBody>
          <a:bodyPr wrap="square" lIns="85090" tIns="85090" rIns="85090" bIns="85090" rtlCol="0" anchor="ctr">
            <a:spAutoFit/>
          </a:bodyPr>
          <a:lstStyle/>
          <a:p>
            <a:pPr marL="0" indent="0" algn="l">
              <a:lnSpc>
                <a:spcPts val="900"/>
              </a:lnSpc>
              <a:buNone/>
            </a:pPr>
            <a:r>
              <a:rPr lang="en-US" sz="683" b="1" dirty="0">
                <a:solidFill>
                  <a:srgbClr val="333333"/>
                </a:solidFill>
                <a:latin typeface="Inter" pitchFamily="34" charset="0"/>
                <a:ea typeface="Inter" pitchFamily="34" charset="-122"/>
                <a:cs typeface="Inter" pitchFamily="34" charset="-120"/>
              </a:rPr>
              <a:t>A1</a:t>
            </a:r>
            <a:endParaRPr lang="en-US" sz="683" dirty="0"/>
          </a:p>
        </p:txBody>
      </p:sp>
      <p:sp>
        <p:nvSpPr>
          <p:cNvPr id="31" name="Text 28"/>
          <p:cNvSpPr/>
          <p:nvPr/>
        </p:nvSpPr>
        <p:spPr>
          <a:xfrm>
            <a:off x="4790526" y="1948435"/>
            <a:ext cx="2192489" cy="356508"/>
          </a:xfrm>
          <a:prstGeom prst="rect">
            <a:avLst/>
          </a:prstGeom>
          <a:noFill/>
          <a:ln/>
        </p:spPr>
        <p:txBody>
          <a:bodyPr wrap="square" lIns="85090" tIns="85090" rIns="85090" bIns="85090" rtlCol="0" anchor="ctr">
            <a:spAutoFit/>
          </a:bodyPr>
          <a:lstStyle/>
          <a:p>
            <a:r>
              <a:rPr lang="en-US" sz="600" dirty="0">
                <a:latin typeface="Times New Roman"/>
                <a:ea typeface="Calibri"/>
                <a:cs typeface="Times New Roman"/>
              </a:rPr>
              <a:t>Investigate how to mitigate issues experienced using vision detection </a:t>
            </a:r>
          </a:p>
        </p:txBody>
      </p:sp>
      <p:sp>
        <p:nvSpPr>
          <p:cNvPr id="32" name="Text 29"/>
          <p:cNvSpPr/>
          <p:nvPr/>
        </p:nvSpPr>
        <p:spPr>
          <a:xfrm>
            <a:off x="6983016" y="1985625"/>
            <a:ext cx="864394" cy="282129"/>
          </a:xfrm>
          <a:prstGeom prst="rect">
            <a:avLst/>
          </a:prstGeom>
          <a:noFill/>
          <a:ln/>
        </p:spPr>
        <p:txBody>
          <a:bodyPr wrap="square" lIns="85090" tIns="85090" rIns="85090" bIns="85090" rtlCol="0" anchor="ctr">
            <a:spAutoFit/>
          </a:bodyPr>
          <a:lstStyle/>
          <a:p>
            <a:pPr marL="0" indent="0" algn="l">
              <a:lnSpc>
                <a:spcPts val="900"/>
              </a:lnSpc>
              <a:buNone/>
            </a:pPr>
            <a:r>
              <a:rPr lang="en-US" sz="700">
                <a:latin typeface="Times New Roman"/>
                <a:ea typeface="Calibri"/>
                <a:cs typeface="Times New Roman"/>
              </a:rPr>
              <a:t>Sabeeha</a:t>
            </a:r>
          </a:p>
        </p:txBody>
      </p:sp>
      <p:sp>
        <p:nvSpPr>
          <p:cNvPr id="33" name="Text 30"/>
          <p:cNvSpPr/>
          <p:nvPr/>
        </p:nvSpPr>
        <p:spPr>
          <a:xfrm>
            <a:off x="7847409" y="1985625"/>
            <a:ext cx="864394" cy="282129"/>
          </a:xfrm>
          <a:prstGeom prst="rect">
            <a:avLst/>
          </a:prstGeom>
          <a:noFill/>
          <a:ln/>
        </p:spPr>
        <p:txBody>
          <a:bodyPr wrap="square" lIns="85090" tIns="85090" rIns="85090" bIns="85090" rtlCol="0" anchor="ctr">
            <a:spAutoFit/>
          </a:bodyPr>
          <a:lstStyle/>
          <a:p>
            <a:pPr>
              <a:lnSpc>
                <a:spcPts val="900"/>
              </a:lnSpc>
            </a:pPr>
            <a:r>
              <a:rPr lang="en-US" sz="700" dirty="0">
                <a:solidFill>
                  <a:srgbClr val="333333"/>
                </a:solidFill>
                <a:latin typeface="Times New Roman"/>
                <a:ea typeface="Calibri"/>
                <a:cs typeface="Times New Roman"/>
              </a:rPr>
              <a:t>Week 6</a:t>
            </a:r>
          </a:p>
        </p:txBody>
      </p:sp>
      <p:sp>
        <p:nvSpPr>
          <p:cNvPr id="34" name="Shape 31"/>
          <p:cNvSpPr/>
          <p:nvPr/>
        </p:nvSpPr>
        <p:spPr>
          <a:xfrm>
            <a:off x="4351186" y="2315101"/>
            <a:ext cx="4357046" cy="271463"/>
          </a:xfrm>
          <a:prstGeom prst="rect">
            <a:avLst/>
          </a:prstGeom>
          <a:solidFill>
            <a:srgbClr val="F9F9F9"/>
          </a:solidFill>
          <a:ln/>
        </p:spPr>
        <p:txBody>
          <a:bodyPr/>
          <a:lstStyle/>
          <a:p>
            <a:endParaRPr lang="en-US"/>
          </a:p>
        </p:txBody>
      </p:sp>
      <p:sp>
        <p:nvSpPr>
          <p:cNvPr id="35" name="Text 32"/>
          <p:cNvSpPr/>
          <p:nvPr/>
        </p:nvSpPr>
        <p:spPr>
          <a:xfrm>
            <a:off x="4354757" y="2262420"/>
            <a:ext cx="435769" cy="271463"/>
          </a:xfrm>
          <a:prstGeom prst="rect">
            <a:avLst/>
          </a:prstGeom>
          <a:noFill/>
          <a:ln/>
        </p:spPr>
        <p:txBody>
          <a:bodyPr wrap="square" lIns="85090" tIns="85090" rIns="85090" bIns="85090" rtlCol="0" anchor="ctr">
            <a:spAutoFit/>
          </a:bodyPr>
          <a:lstStyle/>
          <a:p>
            <a:pPr marL="0" indent="0" algn="l">
              <a:lnSpc>
                <a:spcPts val="900"/>
              </a:lnSpc>
              <a:buNone/>
            </a:pPr>
            <a:r>
              <a:rPr lang="en-US" sz="683" b="1">
                <a:solidFill>
                  <a:srgbClr val="333333"/>
                </a:solidFill>
                <a:latin typeface="Inter" pitchFamily="34" charset="0"/>
                <a:ea typeface="Inter" pitchFamily="34" charset="-122"/>
                <a:cs typeface="Inter" pitchFamily="34" charset="-120"/>
              </a:rPr>
              <a:t>A2</a:t>
            </a:r>
            <a:endParaRPr lang="en-US" sz="683"/>
          </a:p>
        </p:txBody>
      </p:sp>
      <p:sp>
        <p:nvSpPr>
          <p:cNvPr id="36" name="Text 33"/>
          <p:cNvSpPr/>
          <p:nvPr/>
        </p:nvSpPr>
        <p:spPr>
          <a:xfrm>
            <a:off x="4790526" y="2259908"/>
            <a:ext cx="2192489" cy="276486"/>
          </a:xfrm>
          <a:prstGeom prst="rect">
            <a:avLst/>
          </a:prstGeom>
          <a:noFill/>
          <a:ln/>
        </p:spPr>
        <p:txBody>
          <a:bodyPr wrap="square" lIns="85090" tIns="85090" rIns="85090" bIns="85090" rtlCol="0" anchor="ctr">
            <a:spAutoFit/>
          </a:bodyPr>
          <a:lstStyle/>
          <a:p>
            <a:pPr>
              <a:lnSpc>
                <a:spcPts val="900"/>
              </a:lnSpc>
            </a:pPr>
            <a:r>
              <a:rPr lang="en-US" sz="600" dirty="0">
                <a:latin typeface="Times New Roman"/>
                <a:ea typeface="Calibri"/>
                <a:cs typeface="Times New Roman"/>
              </a:rPr>
              <a:t>Finish the FK and IK kinematics  </a:t>
            </a:r>
          </a:p>
        </p:txBody>
      </p:sp>
      <p:sp>
        <p:nvSpPr>
          <p:cNvPr id="37" name="Text 34"/>
          <p:cNvSpPr/>
          <p:nvPr/>
        </p:nvSpPr>
        <p:spPr>
          <a:xfrm>
            <a:off x="6983016" y="2257087"/>
            <a:ext cx="864394" cy="282129"/>
          </a:xfrm>
          <a:prstGeom prst="rect">
            <a:avLst/>
          </a:prstGeom>
          <a:noFill/>
          <a:ln/>
        </p:spPr>
        <p:txBody>
          <a:bodyPr wrap="square" lIns="85090" tIns="85090" rIns="85090" bIns="85090" rtlCol="0" anchor="ctr">
            <a:spAutoFit/>
          </a:bodyPr>
          <a:lstStyle/>
          <a:p>
            <a:pPr marL="0" indent="0" algn="l">
              <a:lnSpc>
                <a:spcPts val="900"/>
              </a:lnSpc>
              <a:buNone/>
            </a:pPr>
            <a:r>
              <a:rPr lang="en-US" sz="700">
                <a:solidFill>
                  <a:srgbClr val="333333"/>
                </a:solidFill>
                <a:latin typeface="Inter"/>
              </a:rPr>
              <a:t>Maher</a:t>
            </a:r>
            <a:endParaRPr lang="en-US" sz="700">
              <a:latin typeface="Inter"/>
            </a:endParaRPr>
          </a:p>
        </p:txBody>
      </p:sp>
      <p:sp>
        <p:nvSpPr>
          <p:cNvPr id="38" name="Text 35"/>
          <p:cNvSpPr/>
          <p:nvPr/>
        </p:nvSpPr>
        <p:spPr>
          <a:xfrm>
            <a:off x="7847409" y="2257087"/>
            <a:ext cx="864394" cy="282129"/>
          </a:xfrm>
          <a:prstGeom prst="rect">
            <a:avLst/>
          </a:prstGeom>
          <a:noFill/>
          <a:ln/>
        </p:spPr>
        <p:txBody>
          <a:bodyPr wrap="square" lIns="85090" tIns="85090" rIns="85090" bIns="85090" rtlCol="0" anchor="ctr">
            <a:spAutoFit/>
          </a:bodyPr>
          <a:lstStyle/>
          <a:p>
            <a:pPr>
              <a:lnSpc>
                <a:spcPts val="900"/>
              </a:lnSpc>
            </a:pPr>
            <a:r>
              <a:rPr lang="en-US" sz="700" dirty="0">
                <a:solidFill>
                  <a:srgbClr val="333333"/>
                </a:solidFill>
                <a:latin typeface="Inter"/>
              </a:rPr>
              <a:t>Week 6</a:t>
            </a:r>
          </a:p>
        </p:txBody>
      </p:sp>
      <p:sp>
        <p:nvSpPr>
          <p:cNvPr id="39" name="Text 36"/>
          <p:cNvSpPr/>
          <p:nvPr/>
        </p:nvSpPr>
        <p:spPr>
          <a:xfrm>
            <a:off x="4354757" y="2533883"/>
            <a:ext cx="435769" cy="271463"/>
          </a:xfrm>
          <a:prstGeom prst="rect">
            <a:avLst/>
          </a:prstGeom>
          <a:noFill/>
          <a:ln/>
        </p:spPr>
        <p:txBody>
          <a:bodyPr wrap="square" lIns="85090" tIns="85090" rIns="85090" bIns="85090" rtlCol="0" anchor="ctr">
            <a:spAutoFit/>
          </a:bodyPr>
          <a:lstStyle/>
          <a:p>
            <a:pPr marL="0" indent="0" algn="l">
              <a:lnSpc>
                <a:spcPts val="900"/>
              </a:lnSpc>
              <a:buNone/>
            </a:pPr>
            <a:r>
              <a:rPr lang="en-US" sz="683" b="1">
                <a:solidFill>
                  <a:srgbClr val="333333"/>
                </a:solidFill>
                <a:latin typeface="Inter" pitchFamily="34" charset="0"/>
                <a:ea typeface="Inter" pitchFamily="34" charset="-122"/>
                <a:cs typeface="Inter" pitchFamily="34" charset="-120"/>
              </a:rPr>
              <a:t>A3</a:t>
            </a:r>
            <a:endParaRPr lang="en-US" sz="683"/>
          </a:p>
        </p:txBody>
      </p:sp>
      <p:sp>
        <p:nvSpPr>
          <p:cNvPr id="40" name="Text 37"/>
          <p:cNvSpPr/>
          <p:nvPr/>
        </p:nvSpPr>
        <p:spPr>
          <a:xfrm>
            <a:off x="4790526" y="2585050"/>
            <a:ext cx="2192489" cy="278731"/>
          </a:xfrm>
          <a:prstGeom prst="rect">
            <a:avLst/>
          </a:prstGeom>
          <a:noFill/>
          <a:ln/>
        </p:spPr>
        <p:txBody>
          <a:bodyPr wrap="square" lIns="85090" tIns="85090" rIns="85090" bIns="85090" rtlCol="0" anchor="ctr">
            <a:spAutoFit/>
          </a:bodyPr>
          <a:lstStyle/>
          <a:p>
            <a:pPr>
              <a:lnSpc>
                <a:spcPts val="900"/>
              </a:lnSpc>
            </a:pPr>
            <a:r>
              <a:rPr lang="en-US" sz="600" dirty="0">
                <a:solidFill>
                  <a:srgbClr val="333333"/>
                </a:solidFill>
                <a:latin typeface="Inter"/>
              </a:rPr>
              <a:t>Finalize gripper design + Pneumatic Integration </a:t>
            </a:r>
            <a:endParaRPr lang="en-US" sz="1400" dirty="0">
              <a:ea typeface="Calibri"/>
              <a:cs typeface="Calibri"/>
            </a:endParaRPr>
          </a:p>
        </p:txBody>
      </p:sp>
      <p:sp>
        <p:nvSpPr>
          <p:cNvPr id="41" name="Text 38"/>
          <p:cNvSpPr/>
          <p:nvPr/>
        </p:nvSpPr>
        <p:spPr>
          <a:xfrm>
            <a:off x="6983016" y="2528550"/>
            <a:ext cx="864394" cy="282129"/>
          </a:xfrm>
          <a:prstGeom prst="rect">
            <a:avLst/>
          </a:prstGeom>
          <a:noFill/>
          <a:ln/>
        </p:spPr>
        <p:txBody>
          <a:bodyPr wrap="square" lIns="85090" tIns="85090" rIns="85090" bIns="85090" rtlCol="0" anchor="ctr">
            <a:spAutoFit/>
          </a:bodyPr>
          <a:lstStyle/>
          <a:p>
            <a:pPr marL="0" indent="0" algn="l">
              <a:lnSpc>
                <a:spcPts val="900"/>
              </a:lnSpc>
              <a:buNone/>
            </a:pPr>
            <a:r>
              <a:rPr lang="en-US" sz="700">
                <a:solidFill>
                  <a:srgbClr val="333333"/>
                </a:solidFill>
                <a:latin typeface="Inter"/>
              </a:rPr>
              <a:t>Basel</a:t>
            </a:r>
          </a:p>
        </p:txBody>
      </p:sp>
      <p:sp>
        <p:nvSpPr>
          <p:cNvPr id="42" name="Text 39"/>
          <p:cNvSpPr/>
          <p:nvPr/>
        </p:nvSpPr>
        <p:spPr>
          <a:xfrm>
            <a:off x="7847409" y="2528550"/>
            <a:ext cx="864394" cy="282129"/>
          </a:xfrm>
          <a:prstGeom prst="rect">
            <a:avLst/>
          </a:prstGeom>
          <a:noFill/>
          <a:ln/>
        </p:spPr>
        <p:txBody>
          <a:bodyPr wrap="square" lIns="85090" tIns="85090" rIns="85090" bIns="85090" rtlCol="0" anchor="ctr">
            <a:spAutoFit/>
          </a:bodyPr>
          <a:lstStyle/>
          <a:p>
            <a:pPr>
              <a:lnSpc>
                <a:spcPts val="900"/>
              </a:lnSpc>
            </a:pPr>
            <a:r>
              <a:rPr lang="en-US" sz="700" dirty="0">
                <a:solidFill>
                  <a:srgbClr val="333333"/>
                </a:solidFill>
                <a:latin typeface="Inter"/>
              </a:rPr>
              <a:t>Week 6</a:t>
            </a:r>
            <a:endParaRPr lang="en-US" sz="727" dirty="0"/>
          </a:p>
        </p:txBody>
      </p:sp>
      <p:sp>
        <p:nvSpPr>
          <p:cNvPr id="43" name="Shape 40"/>
          <p:cNvSpPr/>
          <p:nvPr/>
        </p:nvSpPr>
        <p:spPr>
          <a:xfrm>
            <a:off x="4358329" y="2862349"/>
            <a:ext cx="4357046" cy="271463"/>
          </a:xfrm>
          <a:prstGeom prst="rect">
            <a:avLst/>
          </a:prstGeom>
          <a:solidFill>
            <a:srgbClr val="F9F9F9"/>
          </a:solidFill>
          <a:ln/>
        </p:spPr>
        <p:txBody>
          <a:bodyPr/>
          <a:lstStyle/>
          <a:p>
            <a:endParaRPr lang="en-US"/>
          </a:p>
        </p:txBody>
      </p:sp>
      <p:sp>
        <p:nvSpPr>
          <p:cNvPr id="44" name="Text 41"/>
          <p:cNvSpPr/>
          <p:nvPr/>
        </p:nvSpPr>
        <p:spPr>
          <a:xfrm>
            <a:off x="4354757" y="2805345"/>
            <a:ext cx="435769" cy="271463"/>
          </a:xfrm>
          <a:prstGeom prst="rect">
            <a:avLst/>
          </a:prstGeom>
          <a:noFill/>
          <a:ln/>
        </p:spPr>
        <p:txBody>
          <a:bodyPr wrap="square" lIns="85090" tIns="85090" rIns="85090" bIns="85090" rtlCol="0" anchor="ctr">
            <a:spAutoFit/>
          </a:bodyPr>
          <a:lstStyle/>
          <a:p>
            <a:pPr marL="0" indent="0" algn="l">
              <a:lnSpc>
                <a:spcPts val="900"/>
              </a:lnSpc>
              <a:buNone/>
            </a:pPr>
            <a:r>
              <a:rPr lang="en-US" sz="683" b="1">
                <a:solidFill>
                  <a:srgbClr val="333333"/>
                </a:solidFill>
                <a:latin typeface="Inter" pitchFamily="34" charset="0"/>
                <a:ea typeface="Inter" pitchFamily="34" charset="-122"/>
                <a:cs typeface="Inter" pitchFamily="34" charset="-120"/>
              </a:rPr>
              <a:t>A4</a:t>
            </a:r>
            <a:endParaRPr lang="en-US" sz="683"/>
          </a:p>
        </p:txBody>
      </p:sp>
      <p:sp>
        <p:nvSpPr>
          <p:cNvPr id="45" name="Text 42"/>
          <p:cNvSpPr/>
          <p:nvPr/>
        </p:nvSpPr>
        <p:spPr>
          <a:xfrm>
            <a:off x="4790526" y="2800012"/>
            <a:ext cx="2192489" cy="282129"/>
          </a:xfrm>
          <a:prstGeom prst="rect">
            <a:avLst/>
          </a:prstGeom>
          <a:noFill/>
          <a:ln/>
        </p:spPr>
        <p:txBody>
          <a:bodyPr wrap="square" lIns="85090" tIns="85090" rIns="85090" bIns="85090" rtlCol="0" anchor="ctr">
            <a:spAutoFit/>
          </a:bodyPr>
          <a:lstStyle/>
          <a:p>
            <a:pPr>
              <a:lnSpc>
                <a:spcPts val="900"/>
              </a:lnSpc>
            </a:pPr>
            <a:r>
              <a:rPr lang="en-US" sz="600" dirty="0">
                <a:solidFill>
                  <a:srgbClr val="333333"/>
                </a:solidFill>
                <a:latin typeface="Inter"/>
              </a:rPr>
              <a:t>Finalize gripper design + Pneumatic Integration </a:t>
            </a:r>
            <a:endParaRPr lang="en-US" sz="1400" dirty="0">
              <a:ea typeface="Calibri"/>
              <a:cs typeface="Calibri"/>
            </a:endParaRPr>
          </a:p>
        </p:txBody>
      </p:sp>
      <p:sp>
        <p:nvSpPr>
          <p:cNvPr id="46" name="Text 43"/>
          <p:cNvSpPr/>
          <p:nvPr/>
        </p:nvSpPr>
        <p:spPr>
          <a:xfrm>
            <a:off x="6983016" y="2800012"/>
            <a:ext cx="864394" cy="282129"/>
          </a:xfrm>
          <a:prstGeom prst="rect">
            <a:avLst/>
          </a:prstGeom>
          <a:noFill/>
          <a:ln/>
        </p:spPr>
        <p:txBody>
          <a:bodyPr wrap="square" lIns="85090" tIns="85090" rIns="85090" bIns="85090" rtlCol="0" anchor="ctr">
            <a:spAutoFit/>
          </a:bodyPr>
          <a:lstStyle/>
          <a:p>
            <a:pPr marL="0" indent="0" algn="l">
              <a:lnSpc>
                <a:spcPts val="900"/>
              </a:lnSpc>
              <a:buNone/>
            </a:pPr>
            <a:r>
              <a:rPr lang="en-US" sz="700">
                <a:solidFill>
                  <a:srgbClr val="333333"/>
                </a:solidFill>
                <a:latin typeface="Inter"/>
              </a:rPr>
              <a:t>Ahmad</a:t>
            </a:r>
          </a:p>
        </p:txBody>
      </p:sp>
      <p:sp>
        <p:nvSpPr>
          <p:cNvPr id="47" name="Text 44"/>
          <p:cNvSpPr/>
          <p:nvPr/>
        </p:nvSpPr>
        <p:spPr>
          <a:xfrm>
            <a:off x="7847409" y="2800012"/>
            <a:ext cx="864394" cy="282129"/>
          </a:xfrm>
          <a:prstGeom prst="rect">
            <a:avLst/>
          </a:prstGeom>
          <a:noFill/>
          <a:ln/>
        </p:spPr>
        <p:txBody>
          <a:bodyPr wrap="square" lIns="85090" tIns="85090" rIns="85090" bIns="85090" rtlCol="0" anchor="ctr">
            <a:spAutoFit/>
          </a:bodyPr>
          <a:lstStyle/>
          <a:p>
            <a:pPr>
              <a:lnSpc>
                <a:spcPts val="900"/>
              </a:lnSpc>
            </a:pPr>
            <a:r>
              <a:rPr lang="en-US" sz="700" dirty="0">
                <a:solidFill>
                  <a:srgbClr val="333333"/>
                </a:solidFill>
                <a:latin typeface="Inter"/>
              </a:rPr>
              <a:t>Week 6</a:t>
            </a:r>
          </a:p>
        </p:txBody>
      </p:sp>
      <p:sp>
        <p:nvSpPr>
          <p:cNvPr id="11" name="TextBox 10">
            <a:extLst>
              <a:ext uri="{FF2B5EF4-FFF2-40B4-BE49-F238E27FC236}">
                <a16:creationId xmlns:a16="http://schemas.microsoft.com/office/drawing/2014/main" id="{21E5D39F-A107-DB92-438C-F1C07FE11B48}"/>
              </a:ext>
            </a:extLst>
          </p:cNvPr>
          <p:cNvSpPr txBox="1"/>
          <p:nvPr/>
        </p:nvSpPr>
        <p:spPr>
          <a:xfrm>
            <a:off x="403152" y="1674511"/>
            <a:ext cx="3772608" cy="954107"/>
          </a:xfrm>
          <a:prstGeom prst="rect">
            <a:avLst/>
          </a:prstGeom>
          <a:noFill/>
        </p:spPr>
        <p:txBody>
          <a:bodyPr wrap="square" lIns="91440" tIns="45720" rIns="91440" bIns="45720" rtlCol="0" anchor="t">
            <a:spAutoFit/>
          </a:bodyPr>
          <a:lstStyle/>
          <a:p>
            <a:pPr marL="171450" indent="-171450">
              <a:buClr>
                <a:schemeClr val="accent2"/>
              </a:buClr>
              <a:buFont typeface="Arial" panose="020B0604020202020204" pitchFamily="34" charset="0"/>
              <a:buChar char="•"/>
            </a:pPr>
            <a:r>
              <a:rPr lang="en-US" sz="800" dirty="0">
                <a:latin typeface="Inter "/>
              </a:rPr>
              <a:t>Due to current circumstances, teammates cannot meet in person to discuss project planning, this has resulted in Microsoft Teams meetings occurring 1-2 times a week.  This can be limiting as only one teammate has access to the objects that need to be picked up by the arm.</a:t>
            </a:r>
          </a:p>
          <a:p>
            <a:pPr>
              <a:buClr>
                <a:schemeClr val="accent2"/>
              </a:buClr>
            </a:pPr>
            <a:endParaRPr lang="en-US" sz="800" dirty="0">
              <a:latin typeface="Inter "/>
            </a:endParaRPr>
          </a:p>
          <a:p>
            <a:pPr marL="171450" indent="-171450">
              <a:buClr>
                <a:schemeClr val="accent2"/>
              </a:buClr>
              <a:buFont typeface="Arial" panose="020B0604020202020204" pitchFamily="34" charset="0"/>
              <a:buChar char="•"/>
            </a:pPr>
            <a:r>
              <a:rPr lang="en-US" sz="800" dirty="0">
                <a:latin typeface="Inter "/>
              </a:rPr>
              <a:t>No access to university is slowing down work efforts, and overall progress.</a:t>
            </a:r>
          </a:p>
          <a:p>
            <a:pPr marL="171450" indent="-171450">
              <a:buClr>
                <a:schemeClr val="accent2"/>
              </a:buClr>
              <a:buFont typeface="Arial" panose="020B0604020202020204" pitchFamily="34" charset="0"/>
              <a:buChar char="•"/>
            </a:pPr>
            <a:endParaRPr lang="en-US" sz="800" dirty="0">
              <a:latin typeface="Inter "/>
            </a:endParaRPr>
          </a:p>
        </p:txBody>
      </p:sp>
      <p:sp>
        <p:nvSpPr>
          <p:cNvPr id="15" name="TextBox 14">
            <a:extLst>
              <a:ext uri="{FF2B5EF4-FFF2-40B4-BE49-F238E27FC236}">
                <a16:creationId xmlns:a16="http://schemas.microsoft.com/office/drawing/2014/main" id="{07F5213A-04DC-99F6-56D0-C31C13B51EA9}"/>
              </a:ext>
            </a:extLst>
          </p:cNvPr>
          <p:cNvSpPr txBox="1"/>
          <p:nvPr/>
        </p:nvSpPr>
        <p:spPr>
          <a:xfrm>
            <a:off x="439675" y="3139997"/>
            <a:ext cx="3772608" cy="954107"/>
          </a:xfrm>
          <a:prstGeom prst="rect">
            <a:avLst/>
          </a:prstGeom>
          <a:noFill/>
        </p:spPr>
        <p:txBody>
          <a:bodyPr wrap="square" lIns="91440" tIns="45720" rIns="91440" bIns="45720" rtlCol="0" anchor="t">
            <a:spAutoFit/>
          </a:bodyPr>
          <a:lstStyle/>
          <a:p>
            <a:pPr marL="171450" indent="-171450">
              <a:buClr>
                <a:schemeClr val="accent2"/>
              </a:buClr>
              <a:buFont typeface="Arial" panose="020B0604020202020204" pitchFamily="34" charset="0"/>
              <a:buChar char="•"/>
            </a:pPr>
            <a:r>
              <a:rPr lang="en-US" sz="800" dirty="0">
                <a:latin typeface="Inter "/>
              </a:rPr>
              <a:t>Conduct virtual meetings often.</a:t>
            </a:r>
          </a:p>
          <a:p>
            <a:pPr marL="171450" indent="-171450">
              <a:buClr>
                <a:schemeClr val="accent2"/>
              </a:buClr>
              <a:buFont typeface="Arial" panose="020B0604020202020204" pitchFamily="34" charset="0"/>
              <a:buChar char="•"/>
            </a:pPr>
            <a:endParaRPr lang="en-US" sz="800" dirty="0">
              <a:latin typeface="Inter "/>
            </a:endParaRPr>
          </a:p>
          <a:p>
            <a:pPr marL="171450" indent="-171450">
              <a:buClr>
                <a:schemeClr val="accent2"/>
              </a:buClr>
              <a:buFont typeface="Arial" panose="020B0604020202020204" pitchFamily="34" charset="0"/>
              <a:buChar char="•"/>
            </a:pPr>
            <a:r>
              <a:rPr lang="en-US" sz="800" dirty="0">
                <a:latin typeface="Inter "/>
              </a:rPr>
              <a:t>Constant communication and updates. </a:t>
            </a:r>
          </a:p>
          <a:p>
            <a:pPr marL="171450" indent="-171450">
              <a:buClr>
                <a:schemeClr val="accent2"/>
              </a:buClr>
              <a:buFont typeface="Arial" panose="020B0604020202020204" pitchFamily="34" charset="0"/>
              <a:buChar char="•"/>
            </a:pPr>
            <a:endParaRPr lang="en-US" sz="800" dirty="0">
              <a:latin typeface="Inter "/>
            </a:endParaRPr>
          </a:p>
          <a:p>
            <a:pPr marL="171450" indent="-171450">
              <a:buClr>
                <a:schemeClr val="accent2"/>
              </a:buClr>
              <a:buFont typeface="Arial" panose="020B0604020202020204" pitchFamily="34" charset="0"/>
              <a:buChar char="•"/>
            </a:pPr>
            <a:r>
              <a:rPr lang="en-US" sz="800" dirty="0">
                <a:latin typeface="Inter "/>
              </a:rPr>
              <a:t>Each member should take their own initiatives.</a:t>
            </a:r>
          </a:p>
          <a:p>
            <a:pPr marL="171450" indent="-171450">
              <a:buClr>
                <a:schemeClr val="accent2"/>
              </a:buClr>
              <a:buFont typeface="Arial" panose="020B0604020202020204" pitchFamily="34" charset="0"/>
              <a:buChar char="•"/>
            </a:pPr>
            <a:endParaRPr lang="en-US" sz="800" dirty="0">
              <a:latin typeface="Inter "/>
            </a:endParaRPr>
          </a:p>
          <a:p>
            <a:pPr marL="171450" indent="-171450">
              <a:buClr>
                <a:schemeClr val="accent2"/>
              </a:buClr>
              <a:buFont typeface="Arial" panose="020B0604020202020204" pitchFamily="34" charset="0"/>
              <a:buChar char="•"/>
            </a:pPr>
            <a:r>
              <a:rPr lang="en-US" sz="800" dirty="0">
                <a:latin typeface="Inter "/>
              </a:rPr>
              <a:t>Aim to make any sort of progress, regardless of how small or big.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71525" y="2382971"/>
            <a:ext cx="7715250" cy="753666"/>
          </a:xfrm>
          <a:prstGeom prst="rect">
            <a:avLst/>
          </a:prstGeom>
          <a:noFill/>
          <a:ln/>
        </p:spPr>
        <p:txBody>
          <a:bodyPr wrap="none" lIns="0" tIns="0" rIns="0" bIns="0" rtlCol="0" anchor="t">
            <a:spAutoFit/>
          </a:bodyPr>
          <a:lstStyle/>
          <a:p>
            <a:pPr marL="0" indent="0" algn="l">
              <a:lnSpc>
                <a:spcPts val="5400"/>
              </a:lnSpc>
              <a:buNone/>
            </a:pPr>
            <a:r>
              <a:rPr lang="en-US" sz="4145" b="1" kern="0" spc="-2">
                <a:solidFill>
                  <a:srgbClr val="FFFFFF"/>
                </a:solidFill>
                <a:latin typeface="Roboto Mono" pitchFamily="34" charset="0"/>
                <a:ea typeface="Roboto Mono" pitchFamily="34" charset="-122"/>
                <a:cs typeface="Roboto Mono" pitchFamily="34" charset="-120"/>
              </a:rPr>
              <a:t>INDIVIDUAL UPDATES</a:t>
            </a:r>
            <a:endParaRPr lang="en-US" sz="4145"/>
          </a:p>
        </p:txBody>
      </p:sp>
      <p:sp>
        <p:nvSpPr>
          <p:cNvPr id="4" name="Text 1"/>
          <p:cNvSpPr/>
          <p:nvPr/>
        </p:nvSpPr>
        <p:spPr>
          <a:xfrm>
            <a:off x="771525" y="3279511"/>
            <a:ext cx="7715250" cy="226814"/>
          </a:xfrm>
          <a:prstGeom prst="rect">
            <a:avLst/>
          </a:prstGeom>
          <a:noFill/>
          <a:ln/>
        </p:spPr>
        <p:txBody>
          <a:bodyPr wrap="none" lIns="0" tIns="0" rIns="0" bIns="0" rtlCol="0" anchor="t">
            <a:spAutoFit/>
          </a:bodyPr>
          <a:lstStyle/>
          <a:p>
            <a:pPr marL="0" indent="0" algn="l">
              <a:lnSpc>
                <a:spcPts val="1600"/>
              </a:lnSpc>
              <a:buNone/>
            </a:pPr>
            <a:r>
              <a:rPr lang="en-US" sz="1193" b="1">
                <a:solidFill>
                  <a:srgbClr val="FF5722"/>
                </a:solidFill>
                <a:latin typeface="Roboto Mono" pitchFamily="34" charset="0"/>
                <a:ea typeface="Roboto Mono" pitchFamily="34" charset="-122"/>
                <a:cs typeface="Roboto Mono" pitchFamily="34" charset="-120"/>
              </a:rPr>
              <a:t>WEEKLY PROGRESS &amp; NEXT STEPS</a:t>
            </a:r>
            <a:endParaRPr lang="en-US" sz="1193"/>
          </a:p>
        </p:txBody>
      </p:sp>
      <p:sp>
        <p:nvSpPr>
          <p:cNvPr id="5" name="Text 2"/>
          <p:cNvSpPr/>
          <p:nvPr/>
        </p:nvSpPr>
        <p:spPr>
          <a:xfrm>
            <a:off x="942975" y="3677776"/>
            <a:ext cx="2643188" cy="132159"/>
          </a:xfrm>
          <a:prstGeom prst="rect">
            <a:avLst/>
          </a:prstGeom>
          <a:noFill/>
          <a:ln/>
        </p:spPr>
        <p:txBody>
          <a:bodyPr wrap="none" lIns="0" tIns="0" rIns="0" bIns="0" rtlCol="0" anchor="t">
            <a:spAutoFit/>
          </a:bodyPr>
          <a:lstStyle/>
          <a:p>
            <a:pPr marL="0" indent="0" algn="l">
              <a:lnSpc>
                <a:spcPts val="900"/>
              </a:lnSpc>
              <a:buNone/>
            </a:pPr>
            <a:r>
              <a:rPr lang="en-US" sz="727">
                <a:solidFill>
                  <a:srgbClr val="999999"/>
                </a:solidFill>
                <a:latin typeface="Roboto Mono" pitchFamily="34" charset="0"/>
                <a:ea typeface="Roboto Mono" pitchFamily="34" charset="-122"/>
                <a:cs typeface="Roboto Mono" pitchFamily="34" charset="-120"/>
              </a:rPr>
              <a:t>MEMBER 1</a:t>
            </a:r>
            <a:endParaRPr lang="en-US" sz="727"/>
          </a:p>
        </p:txBody>
      </p:sp>
      <p:sp>
        <p:nvSpPr>
          <p:cNvPr id="6" name="Text 3"/>
          <p:cNvSpPr/>
          <p:nvPr/>
        </p:nvSpPr>
        <p:spPr>
          <a:xfrm>
            <a:off x="942975" y="3838510"/>
            <a:ext cx="3693319" cy="169662"/>
          </a:xfrm>
          <a:prstGeom prst="rect">
            <a:avLst/>
          </a:prstGeom>
          <a:noFill/>
          <a:ln/>
        </p:spPr>
        <p:txBody>
          <a:bodyPr wrap="none" lIns="0" tIns="0" rIns="0" bIns="0" rtlCol="0" anchor="t">
            <a:spAutoFit/>
          </a:bodyPr>
          <a:lstStyle/>
          <a:p>
            <a:pPr marL="0" indent="0" algn="l">
              <a:lnSpc>
                <a:spcPts val="1400"/>
              </a:lnSpc>
              <a:buNone/>
            </a:pPr>
            <a:r>
              <a:rPr lang="en-US" sz="1050">
                <a:solidFill>
                  <a:srgbClr val="FFFFFF"/>
                </a:solidFill>
                <a:latin typeface="Roboto Mono" pitchFamily="34" charset="0"/>
                <a:ea typeface="Roboto Mono" pitchFamily="34" charset="-122"/>
              </a:rPr>
              <a:t>Maher Abo Abed 			</a:t>
            </a:r>
            <a:endParaRPr lang="en-US" sz="1050"/>
          </a:p>
        </p:txBody>
      </p:sp>
      <p:sp>
        <p:nvSpPr>
          <p:cNvPr id="7" name="Text 4"/>
          <p:cNvSpPr/>
          <p:nvPr/>
        </p:nvSpPr>
        <p:spPr>
          <a:xfrm>
            <a:off x="3843338" y="3677776"/>
            <a:ext cx="2643188" cy="132159"/>
          </a:xfrm>
          <a:prstGeom prst="rect">
            <a:avLst/>
          </a:prstGeom>
          <a:noFill/>
          <a:ln/>
        </p:spPr>
        <p:txBody>
          <a:bodyPr wrap="none" lIns="0" tIns="0" rIns="0" bIns="0" rtlCol="0" anchor="t">
            <a:spAutoFit/>
          </a:bodyPr>
          <a:lstStyle/>
          <a:p>
            <a:pPr marL="0" indent="0" algn="l">
              <a:lnSpc>
                <a:spcPts val="900"/>
              </a:lnSpc>
              <a:buNone/>
            </a:pPr>
            <a:r>
              <a:rPr lang="en-US" sz="727">
                <a:solidFill>
                  <a:srgbClr val="999999"/>
                </a:solidFill>
                <a:latin typeface="Roboto Mono" pitchFamily="34" charset="0"/>
                <a:ea typeface="Roboto Mono" pitchFamily="34" charset="-122"/>
                <a:cs typeface="Roboto Mono" pitchFamily="34" charset="-120"/>
              </a:rPr>
              <a:t>MEMBER 2</a:t>
            </a:r>
            <a:endParaRPr lang="en-US" sz="727"/>
          </a:p>
        </p:txBody>
      </p:sp>
      <p:sp>
        <p:nvSpPr>
          <p:cNvPr id="8" name="Text 5"/>
          <p:cNvSpPr/>
          <p:nvPr/>
        </p:nvSpPr>
        <p:spPr>
          <a:xfrm>
            <a:off x="3843338" y="3838510"/>
            <a:ext cx="1683153" cy="169662"/>
          </a:xfrm>
          <a:prstGeom prst="rect">
            <a:avLst/>
          </a:prstGeom>
          <a:noFill/>
          <a:ln/>
        </p:spPr>
        <p:txBody>
          <a:bodyPr wrap="none" lIns="0" tIns="0" rIns="0" bIns="0" rtlCol="0" anchor="t">
            <a:spAutoFit/>
          </a:bodyPr>
          <a:lstStyle/>
          <a:p>
            <a:pPr marL="0" indent="0" algn="l">
              <a:lnSpc>
                <a:spcPts val="1400"/>
              </a:lnSpc>
              <a:buNone/>
            </a:pPr>
            <a:r>
              <a:rPr lang="en-US" sz="1050">
                <a:solidFill>
                  <a:srgbClr val="FFFFFF"/>
                </a:solidFill>
                <a:latin typeface="Roboto Mono" pitchFamily="34" charset="0"/>
                <a:ea typeface="Roboto Mono" pitchFamily="34" charset="-122"/>
              </a:rPr>
              <a:t>Sabeeha Zainab Hasham</a:t>
            </a:r>
            <a:endParaRPr lang="en-US" sz="1050"/>
          </a:p>
        </p:txBody>
      </p:sp>
      <p:sp>
        <p:nvSpPr>
          <p:cNvPr id="9" name="Text 6"/>
          <p:cNvSpPr/>
          <p:nvPr/>
        </p:nvSpPr>
        <p:spPr>
          <a:xfrm>
            <a:off x="942975" y="4142119"/>
            <a:ext cx="2643188" cy="132159"/>
          </a:xfrm>
          <a:prstGeom prst="rect">
            <a:avLst/>
          </a:prstGeom>
          <a:noFill/>
          <a:ln/>
        </p:spPr>
        <p:txBody>
          <a:bodyPr wrap="none" lIns="0" tIns="0" rIns="0" bIns="0" rtlCol="0" anchor="t">
            <a:spAutoFit/>
          </a:bodyPr>
          <a:lstStyle/>
          <a:p>
            <a:pPr marL="0" indent="0" algn="l">
              <a:lnSpc>
                <a:spcPts val="900"/>
              </a:lnSpc>
              <a:buNone/>
            </a:pPr>
            <a:r>
              <a:rPr lang="en-US" sz="727">
                <a:solidFill>
                  <a:srgbClr val="999999"/>
                </a:solidFill>
                <a:latin typeface="Roboto Mono" pitchFamily="34" charset="0"/>
                <a:ea typeface="Roboto Mono" pitchFamily="34" charset="-122"/>
                <a:cs typeface="Roboto Mono" pitchFamily="34" charset="-120"/>
              </a:rPr>
              <a:t>MEMBER 3</a:t>
            </a:r>
            <a:endParaRPr lang="en-US" sz="727"/>
          </a:p>
        </p:txBody>
      </p:sp>
      <p:sp>
        <p:nvSpPr>
          <p:cNvPr id="10" name="Text 7"/>
          <p:cNvSpPr/>
          <p:nvPr/>
        </p:nvSpPr>
        <p:spPr>
          <a:xfrm>
            <a:off x="942975" y="4302854"/>
            <a:ext cx="1522853" cy="169662"/>
          </a:xfrm>
          <a:prstGeom prst="rect">
            <a:avLst/>
          </a:prstGeom>
          <a:noFill/>
          <a:ln/>
        </p:spPr>
        <p:txBody>
          <a:bodyPr wrap="none" lIns="0" tIns="0" rIns="0" bIns="0" rtlCol="0" anchor="t">
            <a:spAutoFit/>
          </a:bodyPr>
          <a:lstStyle/>
          <a:p>
            <a:pPr marL="0" indent="0" algn="l">
              <a:lnSpc>
                <a:spcPts val="1400"/>
              </a:lnSpc>
              <a:buNone/>
            </a:pPr>
            <a:r>
              <a:rPr lang="en-US" sz="1050">
                <a:solidFill>
                  <a:srgbClr val="FFFFFF"/>
                </a:solidFill>
                <a:latin typeface="Roboto Mono" pitchFamily="34" charset="0"/>
                <a:ea typeface="Roboto Mono" pitchFamily="34" charset="-122"/>
              </a:rPr>
              <a:t>Basel Feras </a:t>
            </a:r>
            <a:r>
              <a:rPr lang="en-US" sz="1050" err="1">
                <a:solidFill>
                  <a:srgbClr val="FFFFFF"/>
                </a:solidFill>
                <a:latin typeface="Roboto Mono" pitchFamily="34" charset="0"/>
                <a:ea typeface="Roboto Mono" pitchFamily="34" charset="-122"/>
              </a:rPr>
              <a:t>Ghunaim</a:t>
            </a:r>
            <a:endParaRPr lang="en-US" sz="1050"/>
          </a:p>
        </p:txBody>
      </p:sp>
      <p:sp>
        <p:nvSpPr>
          <p:cNvPr id="11" name="Text 8"/>
          <p:cNvSpPr/>
          <p:nvPr/>
        </p:nvSpPr>
        <p:spPr>
          <a:xfrm>
            <a:off x="3843338" y="4142119"/>
            <a:ext cx="2643188" cy="132159"/>
          </a:xfrm>
          <a:prstGeom prst="rect">
            <a:avLst/>
          </a:prstGeom>
          <a:noFill/>
          <a:ln/>
        </p:spPr>
        <p:txBody>
          <a:bodyPr wrap="none" lIns="0" tIns="0" rIns="0" bIns="0" rtlCol="0" anchor="t">
            <a:spAutoFit/>
          </a:bodyPr>
          <a:lstStyle/>
          <a:p>
            <a:pPr marL="0" indent="0" algn="l">
              <a:lnSpc>
                <a:spcPts val="900"/>
              </a:lnSpc>
              <a:buNone/>
            </a:pPr>
            <a:r>
              <a:rPr lang="en-US" sz="727">
                <a:solidFill>
                  <a:srgbClr val="999999"/>
                </a:solidFill>
                <a:latin typeface="Roboto Mono" pitchFamily="34" charset="0"/>
                <a:ea typeface="Roboto Mono" pitchFamily="34" charset="-122"/>
                <a:cs typeface="Roboto Mono" pitchFamily="34" charset="-120"/>
              </a:rPr>
              <a:t>MEMBER 4</a:t>
            </a:r>
            <a:endParaRPr lang="en-US" sz="727"/>
          </a:p>
        </p:txBody>
      </p:sp>
      <p:sp>
        <p:nvSpPr>
          <p:cNvPr id="12" name="Text 9"/>
          <p:cNvSpPr/>
          <p:nvPr/>
        </p:nvSpPr>
        <p:spPr>
          <a:xfrm>
            <a:off x="3843338" y="4302854"/>
            <a:ext cx="1683153" cy="169662"/>
          </a:xfrm>
          <a:prstGeom prst="rect">
            <a:avLst/>
          </a:prstGeom>
          <a:noFill/>
          <a:ln/>
        </p:spPr>
        <p:txBody>
          <a:bodyPr wrap="none" lIns="0" tIns="0" rIns="0" bIns="0" rtlCol="0" anchor="t">
            <a:spAutoFit/>
          </a:bodyPr>
          <a:lstStyle/>
          <a:p>
            <a:pPr marL="0" indent="0" algn="l">
              <a:lnSpc>
                <a:spcPts val="1400"/>
              </a:lnSpc>
              <a:buNone/>
            </a:pPr>
            <a:r>
              <a:rPr lang="en-US" sz="1050">
                <a:solidFill>
                  <a:srgbClr val="FFFFFF"/>
                </a:solidFill>
                <a:latin typeface="Roboto Mono" pitchFamily="34" charset="0"/>
                <a:ea typeface="Roboto Mono" pitchFamily="34" charset="-122"/>
              </a:rPr>
              <a:t>Ahmad Nasser </a:t>
            </a:r>
            <a:r>
              <a:rPr lang="en-US" sz="1050" err="1">
                <a:solidFill>
                  <a:srgbClr val="FFFFFF"/>
                </a:solidFill>
                <a:latin typeface="Roboto Mono" pitchFamily="34" charset="0"/>
                <a:ea typeface="Roboto Mono" pitchFamily="34" charset="-122"/>
              </a:rPr>
              <a:t>Alshehhi</a:t>
            </a:r>
            <a:endParaRPr lang="en-US" sz="10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70" name="Image 0" descr="preencoded.png">
            <a:extLst>
              <a:ext uri="{FF2B5EF4-FFF2-40B4-BE49-F238E27FC236}">
                <a16:creationId xmlns:a16="http://schemas.microsoft.com/office/drawing/2014/main" id="{43F7617B-9648-7C4E-FA5E-101833219928}"/>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428625"/>
            <a:ext cx="2962349" cy="265009"/>
          </a:xfrm>
          <a:prstGeom prst="rect">
            <a:avLst/>
          </a:prstGeom>
          <a:noFill/>
          <a:ln/>
        </p:spPr>
        <p:txBody>
          <a:bodyPr wrap="none" lIns="0" tIns="0" rIns="0" bIns="0" rtlCol="0" anchor="t">
            <a:spAutoFit/>
          </a:bodyPr>
          <a:lstStyle/>
          <a:p>
            <a:pPr marL="0" indent="0" algn="l">
              <a:lnSpc>
                <a:spcPts val="2200"/>
              </a:lnSpc>
              <a:buNone/>
            </a:pPr>
            <a:r>
              <a:rPr lang="en-US" sz="1602" b="1">
                <a:solidFill>
                  <a:srgbClr val="000000"/>
                </a:solidFill>
                <a:latin typeface="Roboto Mono" pitchFamily="34" charset="0"/>
                <a:ea typeface="Roboto Mono" pitchFamily="34" charset="-122"/>
                <a:cs typeface="Roboto Mono" pitchFamily="34" charset="-120"/>
              </a:rPr>
              <a:t>MEMBER 1: Maher Abo Abed</a:t>
            </a:r>
            <a:endParaRPr lang="en-US" sz="1602"/>
          </a:p>
        </p:txBody>
      </p:sp>
      <p:sp>
        <p:nvSpPr>
          <p:cNvPr id="4" name="Shape 1"/>
          <p:cNvSpPr/>
          <p:nvPr/>
        </p:nvSpPr>
        <p:spPr>
          <a:xfrm>
            <a:off x="428625" y="1093851"/>
            <a:ext cx="4843463" cy="264319"/>
          </a:xfrm>
          <a:prstGeom prst="rect">
            <a:avLst/>
          </a:prstGeom>
          <a:solidFill>
            <a:srgbClr val="000000"/>
          </a:solidFill>
          <a:ln/>
        </p:spPr>
        <p:txBody>
          <a:bodyPr/>
          <a:lstStyle/>
          <a:p>
            <a:endParaRPr lang="en-US"/>
          </a:p>
        </p:txBody>
      </p:sp>
      <p:sp>
        <p:nvSpPr>
          <p:cNvPr id="5" name="Shape 2"/>
          <p:cNvSpPr/>
          <p:nvPr/>
        </p:nvSpPr>
        <p:spPr>
          <a:xfrm>
            <a:off x="428625" y="1093851"/>
            <a:ext cx="28575" cy="264319"/>
          </a:xfrm>
          <a:prstGeom prst="rect">
            <a:avLst/>
          </a:prstGeom>
          <a:solidFill>
            <a:srgbClr val="FF5722"/>
          </a:solidFill>
          <a:ln/>
        </p:spPr>
        <p:txBody>
          <a:bodyPr/>
          <a:lstStyle/>
          <a:p>
            <a:endParaRPr lang="en-US"/>
          </a:p>
        </p:txBody>
      </p:sp>
      <p:sp>
        <p:nvSpPr>
          <p:cNvPr id="6" name="Text 3"/>
          <p:cNvSpPr/>
          <p:nvPr/>
        </p:nvSpPr>
        <p:spPr>
          <a:xfrm>
            <a:off x="428625" y="1101923"/>
            <a:ext cx="4843463" cy="264319"/>
          </a:xfrm>
          <a:prstGeom prst="rect">
            <a:avLst/>
          </a:prstGeom>
          <a:noFill/>
          <a:ln/>
        </p:spPr>
        <p:txBody>
          <a:bodyPr wrap="square" lIns="102108" tIns="68072" rIns="102108" bIns="68072" rtlCol="0" anchor="t">
            <a:spAutoFit/>
          </a:bodyPr>
          <a:lstStyle/>
          <a:p>
            <a:pPr marL="0" indent="0" algn="l">
              <a:lnSpc>
                <a:spcPts val="1100"/>
              </a:lnSpc>
              <a:buNone/>
            </a:pPr>
            <a:r>
              <a:rPr lang="en-US" sz="784" b="1" dirty="0">
                <a:solidFill>
                  <a:srgbClr val="FFFFFF"/>
                </a:solidFill>
                <a:latin typeface="Roboto Mono" pitchFamily="34" charset="0"/>
                <a:ea typeface="Roboto Mono" pitchFamily="34" charset="-122"/>
                <a:cs typeface="Roboto Mono" pitchFamily="34" charset="-120"/>
              </a:rPr>
              <a:t>ACCOMPLISHED (SINCE LAST REPORT)</a:t>
            </a:r>
            <a:endParaRPr lang="en-US" sz="784" dirty="0"/>
          </a:p>
        </p:txBody>
      </p:sp>
      <p:sp>
        <p:nvSpPr>
          <p:cNvPr id="18" name="Text 15"/>
          <p:cNvSpPr/>
          <p:nvPr/>
        </p:nvSpPr>
        <p:spPr>
          <a:xfrm>
            <a:off x="428625" y="2644973"/>
            <a:ext cx="65" cy="140231"/>
          </a:xfrm>
          <a:prstGeom prst="rect">
            <a:avLst/>
          </a:prstGeom>
          <a:noFill/>
          <a:ln/>
        </p:spPr>
        <p:txBody>
          <a:bodyPr wrap="none" lIns="0" tIns="0" rIns="0" bIns="0" rtlCol="0" anchor="t">
            <a:spAutoFit/>
          </a:bodyPr>
          <a:lstStyle/>
          <a:p>
            <a:pPr marL="0" indent="0" algn="l">
              <a:lnSpc>
                <a:spcPts val="1200"/>
              </a:lnSpc>
              <a:buNone/>
            </a:pPr>
            <a:endParaRPr lang="en-US" sz="734" dirty="0"/>
          </a:p>
        </p:txBody>
      </p:sp>
      <p:sp>
        <p:nvSpPr>
          <p:cNvPr id="20" name="Shape 17"/>
          <p:cNvSpPr/>
          <p:nvPr/>
        </p:nvSpPr>
        <p:spPr>
          <a:xfrm>
            <a:off x="428625" y="3681888"/>
            <a:ext cx="4843463" cy="264319"/>
          </a:xfrm>
          <a:prstGeom prst="rect">
            <a:avLst/>
          </a:prstGeom>
          <a:solidFill>
            <a:srgbClr val="000000"/>
          </a:solidFill>
          <a:ln/>
        </p:spPr>
        <p:txBody>
          <a:bodyPr/>
          <a:lstStyle/>
          <a:p>
            <a:endParaRPr lang="en-US"/>
          </a:p>
        </p:txBody>
      </p:sp>
      <p:sp>
        <p:nvSpPr>
          <p:cNvPr id="21" name="Shape 18"/>
          <p:cNvSpPr/>
          <p:nvPr/>
        </p:nvSpPr>
        <p:spPr>
          <a:xfrm>
            <a:off x="428625" y="3681888"/>
            <a:ext cx="28575" cy="264319"/>
          </a:xfrm>
          <a:prstGeom prst="rect">
            <a:avLst/>
          </a:prstGeom>
          <a:solidFill>
            <a:srgbClr val="FF5722"/>
          </a:solidFill>
          <a:ln/>
        </p:spPr>
        <p:txBody>
          <a:bodyPr/>
          <a:lstStyle/>
          <a:p>
            <a:endParaRPr lang="en-US"/>
          </a:p>
        </p:txBody>
      </p:sp>
      <p:sp>
        <p:nvSpPr>
          <p:cNvPr id="22" name="Text 19"/>
          <p:cNvSpPr/>
          <p:nvPr/>
        </p:nvSpPr>
        <p:spPr>
          <a:xfrm>
            <a:off x="428625" y="3681888"/>
            <a:ext cx="4843463" cy="264319"/>
          </a:xfrm>
          <a:prstGeom prst="rect">
            <a:avLst/>
          </a:prstGeom>
          <a:noFill/>
          <a:ln/>
        </p:spPr>
        <p:txBody>
          <a:bodyPr wrap="square" lIns="102108" tIns="68072" rIns="102108" bIns="68072" rtlCol="0" anchor="t">
            <a:spAutoFit/>
          </a:bodyPr>
          <a:lstStyle/>
          <a:p>
            <a:pPr marL="0" indent="0" algn="l">
              <a:lnSpc>
                <a:spcPts val="1100"/>
              </a:lnSpc>
              <a:buNone/>
            </a:pPr>
            <a:r>
              <a:rPr lang="en-US" sz="784" b="1" dirty="0">
                <a:solidFill>
                  <a:srgbClr val="FFFFFF"/>
                </a:solidFill>
                <a:latin typeface="Roboto Mono" pitchFamily="34" charset="0"/>
                <a:ea typeface="Roboto Mono" pitchFamily="34" charset="-122"/>
                <a:cs typeface="Roboto Mono" pitchFamily="34" charset="-120"/>
              </a:rPr>
              <a:t>NEXT WEEK PLAN</a:t>
            </a:r>
            <a:endParaRPr lang="en-US" sz="784" dirty="0"/>
          </a:p>
        </p:txBody>
      </p:sp>
      <p:sp>
        <p:nvSpPr>
          <p:cNvPr id="27" name="Shape 24"/>
          <p:cNvSpPr/>
          <p:nvPr/>
        </p:nvSpPr>
        <p:spPr>
          <a:xfrm>
            <a:off x="5486400" y="1101923"/>
            <a:ext cx="3228975" cy="264319"/>
          </a:xfrm>
          <a:prstGeom prst="rect">
            <a:avLst/>
          </a:prstGeom>
          <a:solidFill>
            <a:srgbClr val="000000"/>
          </a:solidFill>
          <a:ln/>
        </p:spPr>
        <p:txBody>
          <a:bodyPr/>
          <a:lstStyle/>
          <a:p>
            <a:endParaRPr lang="en-US"/>
          </a:p>
        </p:txBody>
      </p:sp>
      <p:sp>
        <p:nvSpPr>
          <p:cNvPr id="28" name="Shape 25"/>
          <p:cNvSpPr/>
          <p:nvPr/>
        </p:nvSpPr>
        <p:spPr>
          <a:xfrm>
            <a:off x="5486400" y="1101923"/>
            <a:ext cx="28575" cy="264319"/>
          </a:xfrm>
          <a:prstGeom prst="rect">
            <a:avLst/>
          </a:prstGeom>
          <a:solidFill>
            <a:srgbClr val="FF5722"/>
          </a:solidFill>
          <a:ln/>
        </p:spPr>
        <p:txBody>
          <a:bodyPr/>
          <a:lstStyle/>
          <a:p>
            <a:endParaRPr lang="en-US"/>
          </a:p>
        </p:txBody>
      </p:sp>
      <p:sp>
        <p:nvSpPr>
          <p:cNvPr id="29" name="Text 26"/>
          <p:cNvSpPr/>
          <p:nvPr/>
        </p:nvSpPr>
        <p:spPr>
          <a:xfrm>
            <a:off x="5486400" y="1101923"/>
            <a:ext cx="3228975" cy="269433"/>
          </a:xfrm>
          <a:prstGeom prst="rect">
            <a:avLst/>
          </a:prstGeom>
          <a:noFill/>
          <a:ln/>
        </p:spPr>
        <p:txBody>
          <a:bodyPr wrap="square" lIns="102108" tIns="68072" rIns="102108" bIns="68072" rtlCol="0" anchor="t">
            <a:spAutoFit/>
          </a:bodyPr>
          <a:lstStyle/>
          <a:p>
            <a:pPr marL="0" indent="0" algn="l">
              <a:lnSpc>
                <a:spcPts val="1100"/>
              </a:lnSpc>
              <a:buNone/>
            </a:pPr>
            <a:r>
              <a:rPr lang="en-US" sz="784" b="1" dirty="0">
                <a:solidFill>
                  <a:srgbClr val="FFFFFF"/>
                </a:solidFill>
                <a:latin typeface="Roboto Mono" pitchFamily="34" charset="0"/>
                <a:ea typeface="Roboto Mono" pitchFamily="34" charset="-122"/>
                <a:cs typeface="Roboto Mono" pitchFamily="34" charset="-120"/>
              </a:rPr>
              <a:t>EVIDENCE</a:t>
            </a:r>
            <a:endParaRPr lang="en-US" sz="784" dirty="0"/>
          </a:p>
        </p:txBody>
      </p:sp>
      <p:sp>
        <p:nvSpPr>
          <p:cNvPr id="41" name="Text 38"/>
          <p:cNvSpPr/>
          <p:nvPr/>
        </p:nvSpPr>
        <p:spPr>
          <a:xfrm>
            <a:off x="5593556" y="4473773"/>
            <a:ext cx="65" cy="140231"/>
          </a:xfrm>
          <a:prstGeom prst="rect">
            <a:avLst/>
          </a:prstGeom>
          <a:noFill/>
          <a:ln/>
        </p:spPr>
        <p:txBody>
          <a:bodyPr wrap="none" lIns="0" tIns="0" rIns="0" bIns="0" rtlCol="0" anchor="t">
            <a:spAutoFit/>
          </a:bodyPr>
          <a:lstStyle/>
          <a:p>
            <a:pPr marL="0" indent="0" algn="l">
              <a:lnSpc>
                <a:spcPts val="1200"/>
              </a:lnSpc>
              <a:buNone/>
            </a:pPr>
            <a:endParaRPr lang="en-US" sz="734" dirty="0"/>
          </a:p>
        </p:txBody>
      </p:sp>
      <p:sp>
        <p:nvSpPr>
          <p:cNvPr id="43" name="Text 9">
            <a:extLst>
              <a:ext uri="{FF2B5EF4-FFF2-40B4-BE49-F238E27FC236}">
                <a16:creationId xmlns:a16="http://schemas.microsoft.com/office/drawing/2014/main" id="{BC5C11AB-4298-1F3D-4BAB-A15E04959EA3}"/>
              </a:ext>
            </a:extLst>
          </p:cNvPr>
          <p:cNvSpPr/>
          <p:nvPr/>
        </p:nvSpPr>
        <p:spPr>
          <a:xfrm>
            <a:off x="432197" y="2106660"/>
            <a:ext cx="65" cy="140231"/>
          </a:xfrm>
          <a:prstGeom prst="rect">
            <a:avLst/>
          </a:prstGeom>
          <a:noFill/>
          <a:ln/>
        </p:spPr>
        <p:txBody>
          <a:bodyPr wrap="none" lIns="0" tIns="0" rIns="0" bIns="0" rtlCol="0" anchor="t">
            <a:spAutoFit/>
          </a:bodyPr>
          <a:lstStyle/>
          <a:p>
            <a:pPr marL="0" indent="0" algn="l">
              <a:lnSpc>
                <a:spcPts val="1200"/>
              </a:lnSpc>
              <a:buNone/>
            </a:pPr>
            <a:endParaRPr lang="en-US" sz="734" dirty="0"/>
          </a:p>
        </p:txBody>
      </p:sp>
      <p:sp>
        <p:nvSpPr>
          <p:cNvPr id="46" name="Text 9">
            <a:extLst>
              <a:ext uri="{FF2B5EF4-FFF2-40B4-BE49-F238E27FC236}">
                <a16:creationId xmlns:a16="http://schemas.microsoft.com/office/drawing/2014/main" id="{D4137FF8-BCB6-131E-C126-133FA6B6492C}"/>
              </a:ext>
            </a:extLst>
          </p:cNvPr>
          <p:cNvSpPr/>
          <p:nvPr/>
        </p:nvSpPr>
        <p:spPr>
          <a:xfrm>
            <a:off x="428625" y="2305644"/>
            <a:ext cx="65" cy="140231"/>
          </a:xfrm>
          <a:prstGeom prst="rect">
            <a:avLst/>
          </a:prstGeom>
          <a:noFill/>
          <a:ln/>
        </p:spPr>
        <p:txBody>
          <a:bodyPr wrap="none" lIns="0" tIns="0" rIns="0" bIns="0" rtlCol="0" anchor="t">
            <a:spAutoFit/>
          </a:bodyPr>
          <a:lstStyle/>
          <a:p>
            <a:pPr marL="0" indent="0" algn="l">
              <a:lnSpc>
                <a:spcPts val="1200"/>
              </a:lnSpc>
              <a:buNone/>
            </a:pPr>
            <a:endParaRPr lang="en-US" sz="734" dirty="0"/>
          </a:p>
        </p:txBody>
      </p:sp>
      <p:sp>
        <p:nvSpPr>
          <p:cNvPr id="48" name="Text 9">
            <a:extLst>
              <a:ext uri="{FF2B5EF4-FFF2-40B4-BE49-F238E27FC236}">
                <a16:creationId xmlns:a16="http://schemas.microsoft.com/office/drawing/2014/main" id="{7F8F1F96-9CDD-DA54-2FD8-627D600644BE}"/>
              </a:ext>
            </a:extLst>
          </p:cNvPr>
          <p:cNvSpPr/>
          <p:nvPr/>
        </p:nvSpPr>
        <p:spPr>
          <a:xfrm>
            <a:off x="428625" y="2450997"/>
            <a:ext cx="65" cy="140231"/>
          </a:xfrm>
          <a:prstGeom prst="rect">
            <a:avLst/>
          </a:prstGeom>
          <a:noFill/>
          <a:ln/>
        </p:spPr>
        <p:txBody>
          <a:bodyPr wrap="none" lIns="0" tIns="0" rIns="0" bIns="0" rtlCol="0" anchor="t">
            <a:spAutoFit/>
          </a:bodyPr>
          <a:lstStyle/>
          <a:p>
            <a:pPr marL="0" indent="0" algn="l">
              <a:lnSpc>
                <a:spcPts val="1200"/>
              </a:lnSpc>
              <a:buNone/>
            </a:pPr>
            <a:endParaRPr lang="en-US" sz="734" dirty="0"/>
          </a:p>
        </p:txBody>
      </p:sp>
      <p:sp>
        <p:nvSpPr>
          <p:cNvPr id="50" name="TextBox 49">
            <a:extLst>
              <a:ext uri="{FF2B5EF4-FFF2-40B4-BE49-F238E27FC236}">
                <a16:creationId xmlns:a16="http://schemas.microsoft.com/office/drawing/2014/main" id="{DA57E5E1-D9EE-98B2-92F1-5A277F23A7CA}"/>
              </a:ext>
            </a:extLst>
          </p:cNvPr>
          <p:cNvSpPr txBox="1"/>
          <p:nvPr/>
        </p:nvSpPr>
        <p:spPr>
          <a:xfrm>
            <a:off x="426720" y="1476705"/>
            <a:ext cx="4618954" cy="1323439"/>
          </a:xfrm>
          <a:prstGeom prst="rect">
            <a:avLst/>
          </a:prstGeom>
          <a:noFill/>
        </p:spPr>
        <p:txBody>
          <a:bodyPr wrap="square" rtlCol="0">
            <a:spAutoFit/>
          </a:bodyPr>
          <a:lstStyle/>
          <a:p>
            <a:pPr marL="171450" indent="-171450">
              <a:buClr>
                <a:schemeClr val="accent2"/>
              </a:buClr>
              <a:buFont typeface="Arial" panose="020B0604020202020204" pitchFamily="34" charset="0"/>
              <a:buChar char="•"/>
            </a:pPr>
            <a:r>
              <a:rPr lang="en-US" sz="800" dirty="0">
                <a:latin typeface="Inter "/>
              </a:rPr>
              <a:t>Finalized the CAD model.</a:t>
            </a:r>
          </a:p>
          <a:p>
            <a:pPr marL="171450" indent="-171450">
              <a:buClr>
                <a:schemeClr val="accent2"/>
              </a:buClr>
              <a:buFont typeface="Arial" panose="020B0604020202020204" pitchFamily="34" charset="0"/>
              <a:buChar char="•"/>
            </a:pPr>
            <a:r>
              <a:rPr lang="en-US" sz="800" dirty="0">
                <a:latin typeface="Inter "/>
              </a:rPr>
              <a:t>Parametrically designed spur gears using </a:t>
            </a:r>
            <a:r>
              <a:rPr lang="en-US" sz="800" dirty="0" err="1">
                <a:latin typeface="Inter "/>
              </a:rPr>
              <a:t>OpenSCAD</a:t>
            </a:r>
            <a:r>
              <a:rPr lang="en-US" sz="800" dirty="0">
                <a:latin typeface="Inter "/>
              </a:rPr>
              <a:t>.</a:t>
            </a:r>
          </a:p>
          <a:p>
            <a:pPr marL="171450" indent="-171450">
              <a:buClr>
                <a:schemeClr val="accent2"/>
              </a:buClr>
              <a:buFont typeface="Arial" panose="020B0604020202020204" pitchFamily="34" charset="0"/>
              <a:buChar char="•"/>
            </a:pPr>
            <a:r>
              <a:rPr lang="en-US" sz="800" dirty="0">
                <a:latin typeface="Inter "/>
              </a:rPr>
              <a:t>Conducted unknown torque analysis using SolidWorks to verify motor selection.</a:t>
            </a:r>
          </a:p>
          <a:p>
            <a:pPr marL="171450" indent="-171450">
              <a:buClr>
                <a:schemeClr val="accent2"/>
              </a:buClr>
              <a:buFont typeface="Arial" panose="020B0604020202020204" pitchFamily="34" charset="0"/>
              <a:buChar char="•"/>
            </a:pPr>
            <a:r>
              <a:rPr lang="en-US" sz="800" dirty="0">
                <a:latin typeface="Inter "/>
              </a:rPr>
              <a:t>Prepared STL files.</a:t>
            </a:r>
          </a:p>
          <a:p>
            <a:pPr marL="171450" indent="-171450">
              <a:buClr>
                <a:schemeClr val="accent2"/>
              </a:buClr>
              <a:buFont typeface="Arial" panose="020B0604020202020204" pitchFamily="34" charset="0"/>
              <a:buChar char="•"/>
            </a:pPr>
            <a:r>
              <a:rPr lang="en-US" sz="800" dirty="0">
                <a:latin typeface="Inter "/>
              </a:rPr>
              <a:t>Acquired few components.</a:t>
            </a:r>
          </a:p>
          <a:p>
            <a:pPr marL="171450" indent="-171450">
              <a:buClr>
                <a:schemeClr val="accent2"/>
              </a:buClr>
              <a:buFont typeface="Arial" panose="020B0604020202020204" pitchFamily="34" charset="0"/>
              <a:buChar char="•"/>
            </a:pPr>
            <a:r>
              <a:rPr lang="en-US" sz="800" dirty="0">
                <a:latin typeface="Inter "/>
              </a:rPr>
              <a:t>Preparing to use ROS 2 open-source frameworks.</a:t>
            </a:r>
          </a:p>
          <a:p>
            <a:pPr marL="171450" indent="-171450">
              <a:buClr>
                <a:schemeClr val="accent2"/>
              </a:buClr>
              <a:buFont typeface="Arial" panose="020B0604020202020204" pitchFamily="34" charset="0"/>
              <a:buChar char="•"/>
            </a:pPr>
            <a:r>
              <a:rPr lang="en-US" sz="800" dirty="0">
                <a:latin typeface="Inter "/>
              </a:rPr>
              <a:t>Created a URDF code</a:t>
            </a:r>
          </a:p>
          <a:p>
            <a:pPr marL="171450" indent="-171450">
              <a:buClr>
                <a:schemeClr val="accent2"/>
              </a:buClr>
              <a:buFont typeface="Arial" panose="020B0604020202020204" pitchFamily="34" charset="0"/>
              <a:buChar char="•"/>
            </a:pPr>
            <a:r>
              <a:rPr lang="en-US" sz="800" dirty="0">
                <a:latin typeface="Inter "/>
              </a:rPr>
              <a:t>Imported the code to Rviz and Moveit2, to conduct FK and IK.</a:t>
            </a:r>
          </a:p>
          <a:p>
            <a:pPr marL="171450" indent="-171450">
              <a:buClr>
                <a:schemeClr val="accent2"/>
              </a:buClr>
              <a:buFont typeface="Arial" panose="020B0604020202020204" pitchFamily="34" charset="0"/>
              <a:buChar char="•"/>
            </a:pPr>
            <a:endParaRPr lang="en-US" sz="800" dirty="0">
              <a:latin typeface="Inter "/>
            </a:endParaRPr>
          </a:p>
          <a:p>
            <a:pPr marL="171450" indent="-171450">
              <a:buClr>
                <a:schemeClr val="accent2"/>
              </a:buClr>
              <a:buFont typeface="Arial" panose="020B0604020202020204" pitchFamily="34" charset="0"/>
              <a:buChar char="•"/>
            </a:pPr>
            <a:endParaRPr lang="en-US" sz="800" dirty="0">
              <a:latin typeface="Inter "/>
            </a:endParaRPr>
          </a:p>
        </p:txBody>
      </p:sp>
      <p:sp>
        <p:nvSpPr>
          <p:cNvPr id="51" name="Shape 1">
            <a:extLst>
              <a:ext uri="{FF2B5EF4-FFF2-40B4-BE49-F238E27FC236}">
                <a16:creationId xmlns:a16="http://schemas.microsoft.com/office/drawing/2014/main" id="{CB3CB0D9-571B-33FB-9203-503A4DD142BF}"/>
              </a:ext>
            </a:extLst>
          </p:cNvPr>
          <p:cNvSpPr/>
          <p:nvPr/>
        </p:nvSpPr>
        <p:spPr>
          <a:xfrm>
            <a:off x="428625" y="2721221"/>
            <a:ext cx="4843463" cy="264319"/>
          </a:xfrm>
          <a:prstGeom prst="rect">
            <a:avLst/>
          </a:prstGeom>
          <a:solidFill>
            <a:srgbClr val="000000"/>
          </a:solidFill>
          <a:ln/>
        </p:spPr>
        <p:txBody>
          <a:bodyPr/>
          <a:lstStyle/>
          <a:p>
            <a:r>
              <a:rPr lang="en-US" sz="800" b="1" dirty="0">
                <a:solidFill>
                  <a:schemeClr val="bg1"/>
                </a:solidFill>
                <a:latin typeface="Roboto Mono" panose="00000009000000000000" pitchFamily="49" charset="0"/>
                <a:ea typeface="Roboto Mono" panose="00000009000000000000" pitchFamily="49" charset="0"/>
              </a:rPr>
              <a:t>IN PROGRESS</a:t>
            </a:r>
          </a:p>
        </p:txBody>
      </p:sp>
      <p:sp>
        <p:nvSpPr>
          <p:cNvPr id="52" name="Shape 2">
            <a:extLst>
              <a:ext uri="{FF2B5EF4-FFF2-40B4-BE49-F238E27FC236}">
                <a16:creationId xmlns:a16="http://schemas.microsoft.com/office/drawing/2014/main" id="{2F31ABC2-C27E-9258-D5CF-D35B548E4FE2}"/>
              </a:ext>
            </a:extLst>
          </p:cNvPr>
          <p:cNvSpPr/>
          <p:nvPr/>
        </p:nvSpPr>
        <p:spPr>
          <a:xfrm>
            <a:off x="428625" y="2721221"/>
            <a:ext cx="28575" cy="264319"/>
          </a:xfrm>
          <a:prstGeom prst="rect">
            <a:avLst/>
          </a:prstGeom>
          <a:solidFill>
            <a:srgbClr val="FF5722"/>
          </a:solidFill>
          <a:ln/>
        </p:spPr>
        <p:txBody>
          <a:bodyPr/>
          <a:lstStyle/>
          <a:p>
            <a:endParaRPr lang="en-US"/>
          </a:p>
        </p:txBody>
      </p:sp>
      <p:sp>
        <p:nvSpPr>
          <p:cNvPr id="53" name="Text 3">
            <a:extLst>
              <a:ext uri="{FF2B5EF4-FFF2-40B4-BE49-F238E27FC236}">
                <a16:creationId xmlns:a16="http://schemas.microsoft.com/office/drawing/2014/main" id="{0EE0C4A1-62DE-BC2B-5C97-F1823850A00B}"/>
              </a:ext>
            </a:extLst>
          </p:cNvPr>
          <p:cNvSpPr/>
          <p:nvPr/>
        </p:nvSpPr>
        <p:spPr>
          <a:xfrm>
            <a:off x="428625" y="2729293"/>
            <a:ext cx="4843463" cy="269817"/>
          </a:xfrm>
          <a:prstGeom prst="rect">
            <a:avLst/>
          </a:prstGeom>
          <a:noFill/>
          <a:ln/>
        </p:spPr>
        <p:txBody>
          <a:bodyPr wrap="square" lIns="102108" tIns="68072" rIns="102108" bIns="68072" rtlCol="0" anchor="t">
            <a:spAutoFit/>
          </a:bodyPr>
          <a:lstStyle/>
          <a:p>
            <a:pPr marL="0" indent="0" algn="l">
              <a:lnSpc>
                <a:spcPts val="1100"/>
              </a:lnSpc>
              <a:buNone/>
            </a:pPr>
            <a:endParaRPr lang="en-US" sz="784" dirty="0"/>
          </a:p>
        </p:txBody>
      </p:sp>
      <p:sp>
        <p:nvSpPr>
          <p:cNvPr id="61" name="TextBox 60">
            <a:extLst>
              <a:ext uri="{FF2B5EF4-FFF2-40B4-BE49-F238E27FC236}">
                <a16:creationId xmlns:a16="http://schemas.microsoft.com/office/drawing/2014/main" id="{41059FF9-8741-C360-B346-CD9C1E9C826B}"/>
              </a:ext>
            </a:extLst>
          </p:cNvPr>
          <p:cNvSpPr txBox="1"/>
          <p:nvPr/>
        </p:nvSpPr>
        <p:spPr>
          <a:xfrm>
            <a:off x="428625" y="3025909"/>
            <a:ext cx="4618954" cy="461665"/>
          </a:xfrm>
          <a:prstGeom prst="rect">
            <a:avLst/>
          </a:prstGeom>
          <a:noFill/>
        </p:spPr>
        <p:txBody>
          <a:bodyPr wrap="square" rtlCol="0">
            <a:spAutoFit/>
          </a:bodyPr>
          <a:lstStyle/>
          <a:p>
            <a:pPr marL="171450" indent="-171450">
              <a:buClr>
                <a:schemeClr val="accent2"/>
              </a:buClr>
              <a:buFont typeface="Arial" panose="020B0604020202020204" pitchFamily="34" charset="0"/>
              <a:buChar char="•"/>
            </a:pPr>
            <a:r>
              <a:rPr lang="en-US" sz="800" dirty="0">
                <a:latin typeface="Inter "/>
              </a:rPr>
              <a:t>Conducting the FK and IK</a:t>
            </a:r>
          </a:p>
          <a:p>
            <a:pPr marL="171450" indent="-171450">
              <a:buClr>
                <a:schemeClr val="accent2"/>
              </a:buClr>
              <a:buFont typeface="Arial" panose="020B0604020202020204" pitchFamily="34" charset="0"/>
              <a:buChar char="•"/>
            </a:pPr>
            <a:r>
              <a:rPr lang="en-US" sz="800" dirty="0">
                <a:latin typeface="Inter "/>
              </a:rPr>
              <a:t>Printing </a:t>
            </a:r>
          </a:p>
          <a:p>
            <a:pPr marL="171450" indent="-171450">
              <a:buClr>
                <a:schemeClr val="accent2"/>
              </a:buClr>
              <a:buFont typeface="Arial" panose="020B0604020202020204" pitchFamily="34" charset="0"/>
              <a:buChar char="•"/>
            </a:pPr>
            <a:r>
              <a:rPr lang="en-US" sz="800" dirty="0">
                <a:latin typeface="Inter "/>
              </a:rPr>
              <a:t>Further procurement</a:t>
            </a:r>
          </a:p>
        </p:txBody>
      </p:sp>
      <p:sp>
        <p:nvSpPr>
          <p:cNvPr id="62" name="TextBox 61">
            <a:extLst>
              <a:ext uri="{FF2B5EF4-FFF2-40B4-BE49-F238E27FC236}">
                <a16:creationId xmlns:a16="http://schemas.microsoft.com/office/drawing/2014/main" id="{6AA9F6B7-30B7-104D-1FAE-5250DE80EAE7}"/>
              </a:ext>
            </a:extLst>
          </p:cNvPr>
          <p:cNvSpPr txBox="1"/>
          <p:nvPr/>
        </p:nvSpPr>
        <p:spPr>
          <a:xfrm>
            <a:off x="428625" y="3986576"/>
            <a:ext cx="4618954" cy="584775"/>
          </a:xfrm>
          <a:prstGeom prst="rect">
            <a:avLst/>
          </a:prstGeom>
          <a:noFill/>
        </p:spPr>
        <p:txBody>
          <a:bodyPr wrap="square" rtlCol="0">
            <a:spAutoFit/>
          </a:bodyPr>
          <a:lstStyle/>
          <a:p>
            <a:pPr marL="171450" indent="-171450">
              <a:buClr>
                <a:schemeClr val="accent2"/>
              </a:buClr>
              <a:buFont typeface="Arial" panose="020B0604020202020204" pitchFamily="34" charset="0"/>
              <a:buChar char="•"/>
            </a:pPr>
            <a:r>
              <a:rPr lang="en-US" sz="800" dirty="0">
                <a:latin typeface="Inter "/>
              </a:rPr>
              <a:t>Mechanical assembly</a:t>
            </a:r>
          </a:p>
          <a:p>
            <a:pPr marL="171450" indent="-171450">
              <a:buClr>
                <a:schemeClr val="accent2"/>
              </a:buClr>
              <a:buFont typeface="Arial" panose="020B0604020202020204" pitchFamily="34" charset="0"/>
              <a:buChar char="•"/>
            </a:pPr>
            <a:r>
              <a:rPr lang="en-US" sz="800" dirty="0">
                <a:latin typeface="Inter "/>
              </a:rPr>
              <a:t>Finish the FK and IK </a:t>
            </a:r>
          </a:p>
          <a:p>
            <a:pPr marL="171450" indent="-171450">
              <a:buClr>
                <a:schemeClr val="accent2"/>
              </a:buClr>
              <a:buFont typeface="Arial" panose="020B0604020202020204" pitchFamily="34" charset="0"/>
              <a:buChar char="•"/>
            </a:pPr>
            <a:r>
              <a:rPr lang="en-US" sz="800" dirty="0">
                <a:latin typeface="Inter "/>
              </a:rPr>
              <a:t>Control the motors, by linking them to the classifier model.</a:t>
            </a:r>
          </a:p>
          <a:p>
            <a:pPr marL="171450" indent="-171450">
              <a:buClr>
                <a:schemeClr val="accent2"/>
              </a:buClr>
              <a:buFont typeface="Arial" panose="020B0604020202020204" pitchFamily="34" charset="0"/>
              <a:buChar char="•"/>
            </a:pPr>
            <a:endParaRPr lang="en-US" sz="800" dirty="0">
              <a:latin typeface="Inter "/>
            </a:endParaRPr>
          </a:p>
        </p:txBody>
      </p:sp>
      <p:pic>
        <p:nvPicPr>
          <p:cNvPr id="7" name="Picture 6">
            <a:extLst>
              <a:ext uri="{FF2B5EF4-FFF2-40B4-BE49-F238E27FC236}">
                <a16:creationId xmlns:a16="http://schemas.microsoft.com/office/drawing/2014/main" id="{FB05D1F7-0AAA-9C69-1F76-4671A40BB153}"/>
              </a:ext>
            </a:extLst>
          </p:cNvPr>
          <p:cNvPicPr>
            <a:picLocks noChangeAspect="1"/>
          </p:cNvPicPr>
          <p:nvPr/>
        </p:nvPicPr>
        <p:blipFill>
          <a:blip r:embed="rId4"/>
          <a:stretch>
            <a:fillRect/>
          </a:stretch>
        </p:blipFill>
        <p:spPr>
          <a:xfrm>
            <a:off x="5804280" y="1384934"/>
            <a:ext cx="2579208" cy="1712278"/>
          </a:xfrm>
          <a:prstGeom prst="rect">
            <a:avLst/>
          </a:prstGeom>
        </p:spPr>
      </p:pic>
      <p:pic>
        <p:nvPicPr>
          <p:cNvPr id="9" name="Picture 8">
            <a:extLst>
              <a:ext uri="{FF2B5EF4-FFF2-40B4-BE49-F238E27FC236}">
                <a16:creationId xmlns:a16="http://schemas.microsoft.com/office/drawing/2014/main" id="{A7B33E09-7C60-B530-9419-6BCC52C605E7}"/>
              </a:ext>
            </a:extLst>
          </p:cNvPr>
          <p:cNvPicPr>
            <a:picLocks noChangeAspect="1"/>
          </p:cNvPicPr>
          <p:nvPr/>
        </p:nvPicPr>
        <p:blipFill>
          <a:blip r:embed="rId5"/>
          <a:stretch>
            <a:fillRect/>
          </a:stretch>
        </p:blipFill>
        <p:spPr>
          <a:xfrm>
            <a:off x="5778251" y="3081681"/>
            <a:ext cx="2605237" cy="15969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F05535E-5DC4-6387-2737-CB0164F655FF}"/>
              </a:ext>
            </a:extLst>
          </p:cNvPr>
          <p:cNvPicPr>
            <a:picLocks noChangeAspect="1"/>
          </p:cNvPicPr>
          <p:nvPr/>
        </p:nvPicPr>
        <p:blipFill>
          <a:blip r:embed="rId7"/>
          <a:stretch>
            <a:fillRect/>
          </a:stretch>
        </p:blipFill>
        <p:spPr>
          <a:xfrm>
            <a:off x="0" y="0"/>
            <a:ext cx="9144000" cy="5143500"/>
          </a:xfrm>
          <a:prstGeom prst="rect">
            <a:avLst/>
          </a:prstGeom>
        </p:spPr>
      </p:pic>
      <p:pic>
        <p:nvPicPr>
          <p:cNvPr id="3" name="Recording 2026-04-07 101628">
            <a:hlinkClick r:id="" action="ppaction://media"/>
            <a:extLst>
              <a:ext uri="{FF2B5EF4-FFF2-40B4-BE49-F238E27FC236}">
                <a16:creationId xmlns:a16="http://schemas.microsoft.com/office/drawing/2014/main" id="{6440BCE1-6A87-852C-92A1-B844EF457022}"/>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0" y="102637"/>
            <a:ext cx="4394505" cy="2597513"/>
          </a:xfrm>
          <a:prstGeom prst="rect">
            <a:avLst/>
          </a:prstGeom>
        </p:spPr>
      </p:pic>
      <p:pic>
        <p:nvPicPr>
          <p:cNvPr id="7" name="Picture 6">
            <a:extLst>
              <a:ext uri="{FF2B5EF4-FFF2-40B4-BE49-F238E27FC236}">
                <a16:creationId xmlns:a16="http://schemas.microsoft.com/office/drawing/2014/main" id="{AE8FC92D-6C71-254D-4843-C6944C709F48}"/>
              </a:ext>
            </a:extLst>
          </p:cNvPr>
          <p:cNvPicPr>
            <a:picLocks noChangeAspect="1"/>
          </p:cNvPicPr>
          <p:nvPr/>
        </p:nvPicPr>
        <p:blipFill>
          <a:blip r:embed="rId9"/>
          <a:stretch>
            <a:fillRect/>
          </a:stretch>
        </p:blipFill>
        <p:spPr>
          <a:xfrm>
            <a:off x="53340" y="2700148"/>
            <a:ext cx="4394505" cy="2443351"/>
          </a:xfrm>
          <a:prstGeom prst="rect">
            <a:avLst/>
          </a:prstGeom>
        </p:spPr>
      </p:pic>
      <p:pic>
        <p:nvPicPr>
          <p:cNvPr id="9" name="video">
            <a:hlinkClick r:id="" action="ppaction://media"/>
            <a:extLst>
              <a:ext uri="{FF2B5EF4-FFF2-40B4-BE49-F238E27FC236}">
                <a16:creationId xmlns:a16="http://schemas.microsoft.com/office/drawing/2014/main" id="{E49B229A-2910-8036-96A5-90A732988C28}"/>
              </a:ext>
            </a:extLst>
          </p:cNvPr>
          <p:cNvPicPr>
            <a:picLocks noChangeAspect="1"/>
          </p:cNvPicPr>
          <p:nvPr>
            <a:videoFile r:link="rId4"/>
            <p:extLst>
              <p:ext uri="{DAA4B4D4-6D71-4841-9C94-3DE7FCFB9230}">
                <p14:media xmlns:p14="http://schemas.microsoft.com/office/powerpoint/2010/main" r:embed="rId3"/>
              </p:ext>
            </p:extLst>
          </p:nvPr>
        </p:nvPicPr>
        <p:blipFill>
          <a:blip r:embed="rId10"/>
          <a:stretch>
            <a:fillRect/>
          </a:stretch>
        </p:blipFill>
        <p:spPr>
          <a:xfrm>
            <a:off x="4394505" y="102636"/>
            <a:ext cx="4749495" cy="2597513"/>
          </a:xfrm>
          <a:prstGeom prst="rect">
            <a:avLst/>
          </a:prstGeom>
        </p:spPr>
      </p:pic>
      <p:pic>
        <p:nvPicPr>
          <p:cNvPr id="11" name="Picture 10">
            <a:extLst>
              <a:ext uri="{FF2B5EF4-FFF2-40B4-BE49-F238E27FC236}">
                <a16:creationId xmlns:a16="http://schemas.microsoft.com/office/drawing/2014/main" id="{60D9276F-75F7-364F-DA15-B03D1921CC6A}"/>
              </a:ext>
            </a:extLst>
          </p:cNvPr>
          <p:cNvPicPr>
            <a:picLocks noChangeAspect="1"/>
          </p:cNvPicPr>
          <p:nvPr/>
        </p:nvPicPr>
        <p:blipFill>
          <a:blip r:embed="rId11"/>
          <a:stretch>
            <a:fillRect/>
          </a:stretch>
        </p:blipFill>
        <p:spPr>
          <a:xfrm>
            <a:off x="4394505" y="2727546"/>
            <a:ext cx="4861560" cy="2388555"/>
          </a:xfrm>
          <a:prstGeom prst="rect">
            <a:avLst/>
          </a:prstGeom>
        </p:spPr>
      </p:pic>
    </p:spTree>
    <p:extLst>
      <p:ext uri="{BB962C8B-B14F-4D97-AF65-F5344CB8AC3E}">
        <p14:creationId xmlns:p14="http://schemas.microsoft.com/office/powerpoint/2010/main" val="1939480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33"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22499"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3"/>
                </p:tgtEl>
              </p:cMediaNode>
            </p:video>
            <p:seq concurrent="1" nextAc="seek">
              <p:cTn id="12" restart="whenNotActive" fill="hold" evtFilter="cancelBubble" nodeType="interactiveSeq">
                <p:stCondLst>
                  <p:cond evt="onClick" delay="0">
                    <p:tgtEl>
                      <p:spTgt spid="3"/>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3"/>
                                        </p:tgtEl>
                                      </p:cBhvr>
                                    </p:cmd>
                                  </p:childTnLst>
                                </p:cTn>
                              </p:par>
                            </p:childTnLst>
                          </p:cTn>
                        </p:par>
                      </p:childTnLst>
                    </p:cTn>
                  </p:par>
                </p:childTnLst>
              </p:cTn>
              <p:nextCondLst>
                <p:cond evt="onClick" delay="0">
                  <p:tgtEl>
                    <p:spTgt spid="3"/>
                  </p:tgtEl>
                </p:cond>
              </p:nextCondLst>
            </p:seq>
            <p:video>
              <p:cMediaNode vol="80000">
                <p:cTn id="17" fill="hold" display="0">
                  <p:stCondLst>
                    <p:cond delay="indefinite"/>
                  </p:stCondLst>
                </p:cTn>
                <p:tgtEl>
                  <p:spTgt spid="9"/>
                </p:tgtEl>
              </p:cMediaNode>
            </p:video>
            <p:seq concurrent="1" nextAc="seek">
              <p:cTn id="18" restart="whenNotActive" fill="hold" evtFilter="cancelBubble" nodeType="interactiveSeq">
                <p:stCondLst>
                  <p:cond evt="onClick" delay="0">
                    <p:tgtEl>
                      <p:spTgt spid="9"/>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642072"/>
            <a:ext cx="3446456" cy="287771"/>
          </a:xfrm>
          <a:prstGeom prst="rect">
            <a:avLst/>
          </a:prstGeom>
          <a:noFill/>
          <a:ln/>
        </p:spPr>
        <p:txBody>
          <a:bodyPr wrap="none" lIns="0" tIns="0" rIns="0" bIns="0" rtlCol="0" anchor="t">
            <a:spAutoFit/>
          </a:bodyPr>
          <a:lstStyle/>
          <a:p>
            <a:pPr>
              <a:lnSpc>
                <a:spcPts val="2400"/>
              </a:lnSpc>
            </a:pPr>
            <a:r>
              <a:rPr lang="en-US" b="1">
                <a:solidFill>
                  <a:srgbClr val="000000"/>
                </a:solidFill>
                <a:latin typeface="Roboto Mono"/>
                <a:ea typeface="Roboto Mono"/>
                <a:cs typeface="Roboto Mono" pitchFamily="34" charset="-120"/>
              </a:rPr>
              <a:t>MEMBER 2: Sabeeha Hasham </a:t>
            </a:r>
            <a:endParaRPr lang="en-US">
              <a:latin typeface="Roboto Mono"/>
              <a:ea typeface="Roboto Mono"/>
            </a:endParaRPr>
          </a:p>
        </p:txBody>
      </p:sp>
      <p:sp>
        <p:nvSpPr>
          <p:cNvPr id="4" name="Shape 1"/>
          <p:cNvSpPr/>
          <p:nvPr/>
        </p:nvSpPr>
        <p:spPr>
          <a:xfrm>
            <a:off x="428625" y="1159994"/>
            <a:ext cx="4843463" cy="264319"/>
          </a:xfrm>
          <a:prstGeom prst="rect">
            <a:avLst/>
          </a:prstGeom>
          <a:solidFill>
            <a:srgbClr val="000000"/>
          </a:solidFill>
          <a:ln/>
        </p:spPr>
        <p:txBody>
          <a:bodyPr/>
          <a:lstStyle/>
          <a:p>
            <a:endParaRPr lang="en-US"/>
          </a:p>
        </p:txBody>
      </p:sp>
      <p:sp>
        <p:nvSpPr>
          <p:cNvPr id="5" name="Shape 2"/>
          <p:cNvSpPr/>
          <p:nvPr/>
        </p:nvSpPr>
        <p:spPr>
          <a:xfrm>
            <a:off x="428625" y="1159994"/>
            <a:ext cx="28575" cy="264319"/>
          </a:xfrm>
          <a:prstGeom prst="rect">
            <a:avLst/>
          </a:prstGeom>
          <a:solidFill>
            <a:srgbClr val="FF5722"/>
          </a:solidFill>
          <a:ln/>
        </p:spPr>
        <p:txBody>
          <a:bodyPr/>
          <a:lstStyle/>
          <a:p>
            <a:endParaRPr lang="en-US"/>
          </a:p>
        </p:txBody>
      </p:sp>
      <p:sp>
        <p:nvSpPr>
          <p:cNvPr id="6" name="Text 3"/>
          <p:cNvSpPr/>
          <p:nvPr/>
        </p:nvSpPr>
        <p:spPr>
          <a:xfrm>
            <a:off x="428625" y="1159994"/>
            <a:ext cx="4843463" cy="264319"/>
          </a:xfrm>
          <a:prstGeom prst="rect">
            <a:avLst/>
          </a:prstGeom>
          <a:noFill/>
          <a:ln/>
        </p:spPr>
        <p:txBody>
          <a:bodyPr wrap="square" lIns="102108" tIns="68072" rIns="102108" bIns="68072" rtlCol="0" anchor="t">
            <a:spAutoFit/>
          </a:bodyPr>
          <a:lstStyle/>
          <a:p>
            <a:pPr marL="0" indent="0" algn="l">
              <a:lnSpc>
                <a:spcPts val="1100"/>
              </a:lnSpc>
              <a:buNone/>
            </a:pPr>
            <a:r>
              <a:rPr lang="en-US" sz="784" b="1">
                <a:solidFill>
                  <a:srgbClr val="FFFFFF"/>
                </a:solidFill>
                <a:latin typeface="Roboto Mono" pitchFamily="34" charset="0"/>
                <a:ea typeface="Roboto Mono" pitchFamily="34" charset="-122"/>
                <a:cs typeface="Roboto Mono" pitchFamily="34" charset="-120"/>
              </a:rPr>
              <a:t>ACCOMPLISHED (SINCE LAST REPORT)</a:t>
            </a:r>
            <a:endParaRPr lang="en-US" sz="784"/>
          </a:p>
        </p:txBody>
      </p:sp>
      <p:sp>
        <p:nvSpPr>
          <p:cNvPr id="7" name="Text 4"/>
          <p:cNvSpPr/>
          <p:nvPr/>
        </p:nvSpPr>
        <p:spPr>
          <a:xfrm>
            <a:off x="428625" y="1510038"/>
            <a:ext cx="6340069" cy="129523"/>
          </a:xfrm>
          <a:prstGeom prst="rect">
            <a:avLst/>
          </a:prstGeom>
          <a:noFill/>
          <a:ln/>
        </p:spPr>
        <p:txBody>
          <a:bodyPr wrap="square" lIns="170053" tIns="0" rIns="0" bIns="0" rtlCol="0" anchor="t">
            <a:spAutoFit/>
          </a:bodyPr>
          <a:lstStyle/>
          <a:p>
            <a:pPr>
              <a:lnSpc>
                <a:spcPts val="1100"/>
              </a:lnSpc>
            </a:pPr>
            <a:endParaRPr lang="en-US" sz="700">
              <a:solidFill>
                <a:srgbClr val="333333"/>
              </a:solidFill>
              <a:latin typeface="Inter"/>
              <a:ea typeface="Calibri"/>
              <a:cs typeface="Calibri"/>
            </a:endParaRPr>
          </a:p>
        </p:txBody>
      </p:sp>
      <p:sp>
        <p:nvSpPr>
          <p:cNvPr id="8" name="Text 5"/>
          <p:cNvSpPr/>
          <p:nvPr/>
        </p:nvSpPr>
        <p:spPr>
          <a:xfrm>
            <a:off x="476845" y="1495813"/>
            <a:ext cx="4615182" cy="1373325"/>
          </a:xfrm>
          <a:prstGeom prst="rect">
            <a:avLst/>
          </a:prstGeom>
          <a:noFill/>
          <a:ln/>
        </p:spPr>
        <p:txBody>
          <a:bodyPr wrap="square" lIns="170053" tIns="0" rIns="0" bIns="0" rtlCol="0" anchor="t">
            <a:spAutoFit/>
          </a:bodyPr>
          <a:lstStyle/>
          <a:p>
            <a:r>
              <a:rPr lang="en-US" sz="900">
                <a:latin typeface="Times New Roman"/>
                <a:ea typeface="Calibri"/>
                <a:cs typeface="Times New Roman"/>
              </a:rPr>
              <a:t>Found a series of datasets for the egg, nut and bolt, downloaded, filtered the dataset to only to use appropriate images (from 800 images to 450), then annotated the dataset for the egg – this meant the corresponding annotations were downloaded in the YOLO format label file from </a:t>
            </a:r>
            <a:r>
              <a:rPr lang="en-US" sz="900" err="1">
                <a:latin typeface="Times New Roman"/>
                <a:ea typeface="Calibri"/>
                <a:cs typeface="Times New Roman"/>
              </a:rPr>
              <a:t>cvat</a:t>
            </a:r>
            <a:r>
              <a:rPr lang="en-US" sz="900">
                <a:latin typeface="Times New Roman"/>
                <a:ea typeface="Calibri"/>
                <a:cs typeface="Times New Roman"/>
              </a:rPr>
              <a:t>.</a:t>
            </a:r>
            <a:endParaRPr lang="en-US">
              <a:latin typeface="Calibri"/>
              <a:ea typeface="Calibri"/>
              <a:cs typeface="Calibri"/>
            </a:endParaRPr>
          </a:p>
          <a:p>
            <a:endParaRPr lang="en-US" sz="900">
              <a:solidFill>
                <a:srgbClr val="000000"/>
              </a:solidFill>
              <a:latin typeface="Times New Roman"/>
              <a:ea typeface="Calibri"/>
              <a:cs typeface="Times New Roman"/>
            </a:endParaRPr>
          </a:p>
          <a:p>
            <a:r>
              <a:rPr lang="en-US" sz="900">
                <a:solidFill>
                  <a:srgbClr val="000000"/>
                </a:solidFill>
                <a:latin typeface="Times New Roman"/>
                <a:ea typeface="Calibri"/>
                <a:cs typeface="Times New Roman"/>
              </a:rPr>
              <a:t>Installed PyCharm to train the Yolov8 model using the </a:t>
            </a:r>
            <a:r>
              <a:rPr lang="en-US" sz="900" err="1">
                <a:solidFill>
                  <a:srgbClr val="000000"/>
                </a:solidFill>
                <a:latin typeface="Times New Roman"/>
                <a:ea typeface="Calibri"/>
                <a:cs typeface="Times New Roman"/>
              </a:rPr>
              <a:t>ultralytics</a:t>
            </a:r>
            <a:r>
              <a:rPr lang="en-US" sz="900">
                <a:solidFill>
                  <a:srgbClr val="000000"/>
                </a:solidFill>
                <a:latin typeface="Times New Roman"/>
                <a:ea typeface="Calibri"/>
                <a:cs typeface="Times New Roman"/>
              </a:rPr>
              <a:t> library and tested it – used 450 images to train for the egg, dataset was clean and split into image files and their corresponding label txt files. </a:t>
            </a:r>
          </a:p>
          <a:p>
            <a:endParaRPr lang="en-US" sz="900">
              <a:solidFill>
                <a:srgbClr val="000000"/>
              </a:solidFill>
              <a:latin typeface="Times New Roman"/>
              <a:ea typeface="Calibri"/>
              <a:cs typeface="Times New Roman"/>
            </a:endParaRPr>
          </a:p>
          <a:p>
            <a:r>
              <a:rPr lang="en-US" sz="900">
                <a:solidFill>
                  <a:srgbClr val="000000"/>
                </a:solidFill>
                <a:latin typeface="Times New Roman"/>
                <a:ea typeface="Calibri"/>
                <a:cs typeface="Times New Roman"/>
              </a:rPr>
              <a:t>Training for 100 epochs showed higher accuracy using the live feed using </a:t>
            </a:r>
            <a:r>
              <a:rPr lang="en-US" sz="900" err="1">
                <a:solidFill>
                  <a:srgbClr val="000000"/>
                </a:solidFill>
                <a:latin typeface="Times New Roman"/>
                <a:ea typeface="Calibri"/>
                <a:cs typeface="Times New Roman"/>
              </a:rPr>
              <a:t>openCV</a:t>
            </a:r>
            <a:r>
              <a:rPr lang="en-US" sz="900">
                <a:solidFill>
                  <a:srgbClr val="000000"/>
                </a:solidFill>
                <a:latin typeface="Times New Roman"/>
                <a:ea typeface="Calibri"/>
                <a:cs typeface="Times New Roman"/>
              </a:rPr>
              <a:t>.</a:t>
            </a:r>
            <a:endParaRPr lang="en-US"/>
          </a:p>
          <a:p>
            <a:pPr>
              <a:lnSpc>
                <a:spcPts val="1100"/>
              </a:lnSpc>
            </a:pPr>
            <a:endParaRPr lang="en-US" sz="700">
              <a:solidFill>
                <a:srgbClr val="333333"/>
              </a:solidFill>
              <a:latin typeface="Times New Roman"/>
              <a:ea typeface="Calibri"/>
              <a:cs typeface="Times New Roman"/>
            </a:endParaRPr>
          </a:p>
        </p:txBody>
      </p:sp>
      <p:sp>
        <p:nvSpPr>
          <p:cNvPr id="10" name="Text 7"/>
          <p:cNvSpPr/>
          <p:nvPr/>
        </p:nvSpPr>
        <p:spPr>
          <a:xfrm>
            <a:off x="428625" y="1510038"/>
            <a:ext cx="48220" cy="140001"/>
          </a:xfrm>
          <a:prstGeom prst="rect">
            <a:avLst/>
          </a:prstGeom>
          <a:noFill/>
          <a:ln/>
        </p:spPr>
        <p:txBody>
          <a:bodyPr wrap="none" lIns="0" tIns="0" rIns="0" bIns="0" rtlCol="0" anchor="t">
            <a:spAutoFit/>
          </a:bodyPr>
          <a:lstStyle/>
          <a:p>
            <a:pPr marL="0" indent="0" algn="l">
              <a:lnSpc>
                <a:spcPts val="1100"/>
              </a:lnSpc>
              <a:buNone/>
            </a:pPr>
            <a:r>
              <a:rPr lang="en-US" sz="683" b="1">
                <a:solidFill>
                  <a:srgbClr val="FF5722"/>
                </a:solidFill>
                <a:latin typeface="Inter" pitchFamily="34" charset="0"/>
                <a:ea typeface="Inter" pitchFamily="34" charset="-122"/>
                <a:cs typeface="Inter" pitchFamily="34" charset="-120"/>
              </a:rPr>
              <a:t>•</a:t>
            </a:r>
            <a:endParaRPr lang="en-US" sz="683"/>
          </a:p>
        </p:txBody>
      </p:sp>
      <p:sp>
        <p:nvSpPr>
          <p:cNvPr id="11" name="Text 8"/>
          <p:cNvSpPr/>
          <p:nvPr/>
        </p:nvSpPr>
        <p:spPr>
          <a:xfrm>
            <a:off x="428625" y="1707189"/>
            <a:ext cx="65" cy="127792"/>
          </a:xfrm>
          <a:prstGeom prst="rect">
            <a:avLst/>
          </a:prstGeom>
          <a:noFill/>
          <a:ln/>
        </p:spPr>
        <p:txBody>
          <a:bodyPr wrap="none" lIns="0" tIns="0" rIns="0" bIns="0" rtlCol="0" anchor="t">
            <a:spAutoFit/>
          </a:bodyPr>
          <a:lstStyle/>
          <a:p>
            <a:pPr marL="0" indent="0" algn="l">
              <a:lnSpc>
                <a:spcPts val="1100"/>
              </a:lnSpc>
              <a:buNone/>
            </a:pPr>
            <a:endParaRPr lang="en-US" sz="650" b="1">
              <a:solidFill>
                <a:srgbClr val="FF5722"/>
              </a:solidFill>
              <a:latin typeface="Inter"/>
              <a:ea typeface="Calibri" panose="020F0502020204030204"/>
              <a:cs typeface="Calibri" panose="020F0502020204030204"/>
            </a:endParaRPr>
          </a:p>
        </p:txBody>
      </p:sp>
      <p:sp>
        <p:nvSpPr>
          <p:cNvPr id="12" name="Text 9"/>
          <p:cNvSpPr/>
          <p:nvPr/>
        </p:nvSpPr>
        <p:spPr>
          <a:xfrm>
            <a:off x="428625" y="1904340"/>
            <a:ext cx="48220"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5722"/>
                </a:solidFill>
                <a:latin typeface="Inter" pitchFamily="34" charset="0"/>
                <a:ea typeface="Inter" pitchFamily="34" charset="-122"/>
                <a:cs typeface="Inter" pitchFamily="34" charset="-120"/>
              </a:rPr>
              <a:t>•</a:t>
            </a:r>
            <a:endParaRPr lang="en-US" sz="683" dirty="0"/>
          </a:p>
        </p:txBody>
      </p:sp>
      <p:sp>
        <p:nvSpPr>
          <p:cNvPr id="13" name="Shape 10"/>
          <p:cNvSpPr/>
          <p:nvPr/>
        </p:nvSpPr>
        <p:spPr>
          <a:xfrm>
            <a:off x="411597" y="2901893"/>
            <a:ext cx="4843463" cy="264319"/>
          </a:xfrm>
          <a:prstGeom prst="rect">
            <a:avLst/>
          </a:prstGeom>
          <a:solidFill>
            <a:srgbClr val="000000"/>
          </a:solidFill>
          <a:ln/>
        </p:spPr>
        <p:txBody>
          <a:bodyPr/>
          <a:lstStyle/>
          <a:p>
            <a:endParaRPr lang="en-US"/>
          </a:p>
        </p:txBody>
      </p:sp>
      <p:sp>
        <p:nvSpPr>
          <p:cNvPr id="14" name="Shape 11"/>
          <p:cNvSpPr/>
          <p:nvPr/>
        </p:nvSpPr>
        <p:spPr>
          <a:xfrm>
            <a:off x="414337" y="2918288"/>
            <a:ext cx="28575" cy="264319"/>
          </a:xfrm>
          <a:prstGeom prst="rect">
            <a:avLst/>
          </a:prstGeom>
          <a:solidFill>
            <a:srgbClr val="FF5722"/>
          </a:solidFill>
          <a:ln/>
        </p:spPr>
        <p:txBody>
          <a:bodyPr/>
          <a:lstStyle/>
          <a:p>
            <a:endParaRPr lang="en-US"/>
          </a:p>
        </p:txBody>
      </p:sp>
      <p:sp>
        <p:nvSpPr>
          <p:cNvPr id="16" name="Text 13"/>
          <p:cNvSpPr/>
          <p:nvPr/>
        </p:nvSpPr>
        <p:spPr>
          <a:xfrm>
            <a:off x="301994" y="3173650"/>
            <a:ext cx="4921753" cy="276999"/>
          </a:xfrm>
          <a:prstGeom prst="rect">
            <a:avLst/>
          </a:prstGeom>
          <a:noFill/>
          <a:ln/>
        </p:spPr>
        <p:txBody>
          <a:bodyPr wrap="square" lIns="170053" tIns="0" rIns="0" bIns="0" rtlCol="0" anchor="t">
            <a:spAutoFit/>
          </a:bodyPr>
          <a:lstStyle/>
          <a:p>
            <a:r>
              <a:rPr lang="en-US" sz="900">
                <a:latin typeface="Times New Roman"/>
                <a:ea typeface="Calibri"/>
                <a:cs typeface="Times New Roman"/>
              </a:rPr>
              <a:t>To use the datasets for the other objects that I have and merge it with the egg one so it can identify multiple objects that we are using – test and ensure the accuracy is high. </a:t>
            </a:r>
          </a:p>
        </p:txBody>
      </p:sp>
      <p:sp>
        <p:nvSpPr>
          <p:cNvPr id="18" name="Text 15"/>
          <p:cNvSpPr/>
          <p:nvPr/>
        </p:nvSpPr>
        <p:spPr>
          <a:xfrm>
            <a:off x="428625" y="2845366"/>
            <a:ext cx="48220" cy="140001"/>
          </a:xfrm>
          <a:prstGeom prst="rect">
            <a:avLst/>
          </a:prstGeom>
          <a:noFill/>
          <a:ln/>
        </p:spPr>
        <p:txBody>
          <a:bodyPr wrap="none" lIns="0" tIns="0" rIns="0" bIns="0" rtlCol="0" anchor="t">
            <a:spAutoFit/>
          </a:bodyPr>
          <a:lstStyle/>
          <a:p>
            <a:pPr marL="0" indent="0" algn="l">
              <a:lnSpc>
                <a:spcPts val="1100"/>
              </a:lnSpc>
              <a:buNone/>
            </a:pPr>
            <a:r>
              <a:rPr lang="en-US" sz="683" b="1">
                <a:solidFill>
                  <a:srgbClr val="FF5722"/>
                </a:solidFill>
                <a:latin typeface="Inter" pitchFamily="34" charset="0"/>
                <a:ea typeface="Inter" pitchFamily="34" charset="-122"/>
                <a:cs typeface="Inter" pitchFamily="34" charset="-120"/>
              </a:rPr>
              <a:t>•</a:t>
            </a:r>
            <a:endParaRPr lang="en-US" sz="683"/>
          </a:p>
        </p:txBody>
      </p:sp>
      <p:sp>
        <p:nvSpPr>
          <p:cNvPr id="19" name="Text 16"/>
          <p:cNvSpPr/>
          <p:nvPr/>
        </p:nvSpPr>
        <p:spPr>
          <a:xfrm>
            <a:off x="381652" y="3269551"/>
            <a:ext cx="48220" cy="140001"/>
          </a:xfrm>
          <a:prstGeom prst="rect">
            <a:avLst/>
          </a:prstGeom>
          <a:noFill/>
          <a:ln/>
        </p:spPr>
        <p:txBody>
          <a:bodyPr wrap="none" lIns="0" tIns="0" rIns="0" bIns="0" rtlCol="0" anchor="t">
            <a:spAutoFit/>
          </a:bodyPr>
          <a:lstStyle/>
          <a:p>
            <a:pPr marL="0" indent="0" algn="l">
              <a:lnSpc>
                <a:spcPts val="1100"/>
              </a:lnSpc>
              <a:buNone/>
            </a:pPr>
            <a:r>
              <a:rPr lang="en-US" sz="683" b="1">
                <a:solidFill>
                  <a:srgbClr val="FF5722"/>
                </a:solidFill>
                <a:latin typeface="Inter" pitchFamily="34" charset="0"/>
                <a:ea typeface="Inter" pitchFamily="34" charset="-122"/>
                <a:cs typeface="Inter" pitchFamily="34" charset="-120"/>
              </a:rPr>
              <a:t>•</a:t>
            </a:r>
            <a:endParaRPr lang="en-US" sz="683"/>
          </a:p>
        </p:txBody>
      </p:sp>
      <p:sp>
        <p:nvSpPr>
          <p:cNvPr id="20" name="Shape 17"/>
          <p:cNvSpPr/>
          <p:nvPr/>
        </p:nvSpPr>
        <p:spPr>
          <a:xfrm>
            <a:off x="435084" y="3671683"/>
            <a:ext cx="4843463" cy="264319"/>
          </a:xfrm>
          <a:prstGeom prst="rect">
            <a:avLst/>
          </a:prstGeom>
          <a:solidFill>
            <a:srgbClr val="000000"/>
          </a:solidFill>
          <a:ln/>
        </p:spPr>
        <p:txBody>
          <a:bodyPr/>
          <a:lstStyle/>
          <a:p>
            <a:endParaRPr lang="en-US"/>
          </a:p>
        </p:txBody>
      </p:sp>
      <p:sp>
        <p:nvSpPr>
          <p:cNvPr id="21" name="Shape 18"/>
          <p:cNvSpPr/>
          <p:nvPr/>
        </p:nvSpPr>
        <p:spPr>
          <a:xfrm>
            <a:off x="420796" y="3672208"/>
            <a:ext cx="28575" cy="264319"/>
          </a:xfrm>
          <a:prstGeom prst="rect">
            <a:avLst/>
          </a:prstGeom>
          <a:solidFill>
            <a:srgbClr val="FF5722"/>
          </a:solidFill>
          <a:ln/>
        </p:spPr>
        <p:txBody>
          <a:bodyPr/>
          <a:lstStyle/>
          <a:p>
            <a:endParaRPr lang="en-US"/>
          </a:p>
        </p:txBody>
      </p:sp>
      <p:sp>
        <p:nvSpPr>
          <p:cNvPr id="22" name="Text 19"/>
          <p:cNvSpPr/>
          <p:nvPr/>
        </p:nvSpPr>
        <p:spPr>
          <a:xfrm>
            <a:off x="428625" y="3672207"/>
            <a:ext cx="4843463" cy="264319"/>
          </a:xfrm>
          <a:prstGeom prst="rect">
            <a:avLst/>
          </a:prstGeom>
          <a:noFill/>
          <a:ln/>
        </p:spPr>
        <p:txBody>
          <a:bodyPr wrap="square" lIns="102108" tIns="68072" rIns="102108" bIns="68072" rtlCol="0" anchor="t">
            <a:spAutoFit/>
          </a:bodyPr>
          <a:lstStyle/>
          <a:p>
            <a:pPr marL="0" indent="0" algn="l">
              <a:lnSpc>
                <a:spcPts val="1100"/>
              </a:lnSpc>
              <a:buNone/>
            </a:pPr>
            <a:r>
              <a:rPr lang="en-US" sz="784" b="1">
                <a:solidFill>
                  <a:srgbClr val="FFFFFF"/>
                </a:solidFill>
                <a:latin typeface="Roboto Mono" pitchFamily="34" charset="0"/>
                <a:ea typeface="Roboto Mono" pitchFamily="34" charset="-122"/>
                <a:cs typeface="Roboto Mono" pitchFamily="34" charset="-120"/>
              </a:rPr>
              <a:t>NEXT WEEK PLAN</a:t>
            </a:r>
            <a:endParaRPr lang="en-US" sz="784"/>
          </a:p>
        </p:txBody>
      </p:sp>
      <p:sp>
        <p:nvSpPr>
          <p:cNvPr id="23" name="Text 20"/>
          <p:cNvSpPr/>
          <p:nvPr/>
        </p:nvSpPr>
        <p:spPr>
          <a:xfrm>
            <a:off x="427255" y="4029554"/>
            <a:ext cx="1978800" cy="571707"/>
          </a:xfrm>
          <a:prstGeom prst="rect">
            <a:avLst/>
          </a:prstGeom>
          <a:noFill/>
          <a:ln/>
        </p:spPr>
        <p:txBody>
          <a:bodyPr wrap="square" lIns="170053" tIns="0" rIns="0" bIns="0" rtlCol="0" anchor="t">
            <a:spAutoFit/>
          </a:bodyPr>
          <a:lstStyle/>
          <a:p>
            <a:pPr>
              <a:lnSpc>
                <a:spcPts val="1100"/>
              </a:lnSpc>
            </a:pPr>
            <a:r>
              <a:rPr lang="en-US" sz="900">
                <a:latin typeface="Times New Roman"/>
                <a:ea typeface="Calibri"/>
                <a:cs typeface="Times New Roman"/>
              </a:rPr>
              <a:t>Object detection refining – ensure it works </a:t>
            </a:r>
            <a:r>
              <a:rPr lang="en-US" sz="900" err="1">
                <a:latin typeface="Times New Roman"/>
                <a:ea typeface="Calibri"/>
                <a:cs typeface="Times New Roman"/>
              </a:rPr>
              <a:t>fo</a:t>
            </a:r>
            <a:r>
              <a:rPr lang="en-US" sz="900">
                <a:latin typeface="Times New Roman"/>
                <a:ea typeface="Calibri"/>
                <a:cs typeface="Times New Roman"/>
              </a:rPr>
              <a:t>r the other objects that we have using the data sets collected</a:t>
            </a:r>
          </a:p>
          <a:p>
            <a:pPr>
              <a:lnSpc>
                <a:spcPts val="1100"/>
              </a:lnSpc>
            </a:pPr>
            <a:endParaRPr lang="en-US" sz="900">
              <a:solidFill>
                <a:srgbClr val="4A5568"/>
              </a:solidFill>
              <a:latin typeface="Times New Roman"/>
              <a:ea typeface="Calibri"/>
              <a:cs typeface="Times New Roman"/>
            </a:endParaRPr>
          </a:p>
        </p:txBody>
      </p:sp>
      <p:sp>
        <p:nvSpPr>
          <p:cNvPr id="25" name="Text 22"/>
          <p:cNvSpPr/>
          <p:nvPr/>
        </p:nvSpPr>
        <p:spPr>
          <a:xfrm>
            <a:off x="452111" y="4045737"/>
            <a:ext cx="48220" cy="140001"/>
          </a:xfrm>
          <a:prstGeom prst="rect">
            <a:avLst/>
          </a:prstGeom>
          <a:noFill/>
          <a:ln/>
        </p:spPr>
        <p:txBody>
          <a:bodyPr wrap="none" lIns="0" tIns="0" rIns="0" bIns="0" rtlCol="0" anchor="t">
            <a:spAutoFit/>
          </a:bodyPr>
          <a:lstStyle/>
          <a:p>
            <a:pPr marL="0" indent="0" algn="l">
              <a:lnSpc>
                <a:spcPts val="1100"/>
              </a:lnSpc>
              <a:buNone/>
            </a:pPr>
            <a:r>
              <a:rPr lang="en-US" sz="683" b="1">
                <a:solidFill>
                  <a:srgbClr val="FF5722"/>
                </a:solidFill>
                <a:latin typeface="Inter" pitchFamily="34" charset="0"/>
                <a:ea typeface="Inter" pitchFamily="34" charset="-122"/>
                <a:cs typeface="Inter" pitchFamily="34" charset="-120"/>
              </a:rPr>
              <a:t>•</a:t>
            </a:r>
            <a:endParaRPr lang="en-US" sz="683"/>
          </a:p>
        </p:txBody>
      </p:sp>
      <p:sp>
        <p:nvSpPr>
          <p:cNvPr id="27" name="Shape 24"/>
          <p:cNvSpPr/>
          <p:nvPr/>
        </p:nvSpPr>
        <p:spPr>
          <a:xfrm>
            <a:off x="5514975" y="643946"/>
            <a:ext cx="3228975" cy="264319"/>
          </a:xfrm>
          <a:prstGeom prst="rect">
            <a:avLst/>
          </a:prstGeom>
          <a:solidFill>
            <a:srgbClr val="000000"/>
          </a:solidFill>
          <a:ln/>
        </p:spPr>
        <p:txBody>
          <a:bodyPr/>
          <a:lstStyle/>
          <a:p>
            <a:endParaRPr lang="en-US"/>
          </a:p>
        </p:txBody>
      </p:sp>
      <p:sp>
        <p:nvSpPr>
          <p:cNvPr id="28" name="Shape 25"/>
          <p:cNvSpPr/>
          <p:nvPr/>
        </p:nvSpPr>
        <p:spPr>
          <a:xfrm>
            <a:off x="5522768" y="640915"/>
            <a:ext cx="28575" cy="264319"/>
          </a:xfrm>
          <a:prstGeom prst="rect">
            <a:avLst/>
          </a:prstGeom>
          <a:solidFill>
            <a:srgbClr val="FF5722"/>
          </a:solidFill>
          <a:ln/>
        </p:spPr>
        <p:txBody>
          <a:bodyPr/>
          <a:lstStyle/>
          <a:p>
            <a:endParaRPr lang="en-US"/>
          </a:p>
        </p:txBody>
      </p:sp>
      <p:sp>
        <p:nvSpPr>
          <p:cNvPr id="29" name="Text 26"/>
          <p:cNvSpPr/>
          <p:nvPr/>
        </p:nvSpPr>
        <p:spPr>
          <a:xfrm>
            <a:off x="5514975" y="643946"/>
            <a:ext cx="3228975" cy="264319"/>
          </a:xfrm>
          <a:prstGeom prst="rect">
            <a:avLst/>
          </a:prstGeom>
          <a:noFill/>
          <a:ln/>
        </p:spPr>
        <p:txBody>
          <a:bodyPr wrap="square" lIns="102108" tIns="68072" rIns="102108" bIns="68072" rtlCol="0" anchor="t">
            <a:spAutoFit/>
          </a:bodyPr>
          <a:lstStyle/>
          <a:p>
            <a:pPr marL="0" indent="0" algn="l">
              <a:lnSpc>
                <a:spcPts val="1100"/>
              </a:lnSpc>
              <a:buNone/>
            </a:pPr>
            <a:r>
              <a:rPr lang="en-US" sz="784" b="1">
                <a:solidFill>
                  <a:srgbClr val="FFFFFF"/>
                </a:solidFill>
                <a:latin typeface="Roboto Mono" pitchFamily="34" charset="0"/>
                <a:ea typeface="Roboto Mono" pitchFamily="34" charset="-122"/>
                <a:cs typeface="Roboto Mono" pitchFamily="34" charset="-120"/>
              </a:rPr>
              <a:t>EVIDENCE (SHOW, DON'T TELL)</a:t>
            </a:r>
            <a:endParaRPr lang="en-US" sz="784"/>
          </a:p>
        </p:txBody>
      </p:sp>
      <p:sp>
        <p:nvSpPr>
          <p:cNvPr id="32" name="Text 29"/>
          <p:cNvSpPr/>
          <p:nvPr/>
        </p:nvSpPr>
        <p:spPr>
          <a:xfrm>
            <a:off x="6179065" y="2048925"/>
            <a:ext cx="2236859" cy="276999"/>
          </a:xfrm>
          <a:prstGeom prst="rect">
            <a:avLst/>
          </a:prstGeom>
          <a:noFill/>
          <a:ln/>
        </p:spPr>
        <p:txBody>
          <a:bodyPr wrap="square" lIns="0" tIns="0" rIns="0" bIns="0" rtlCol="0" anchor="t">
            <a:spAutoFit/>
          </a:bodyPr>
          <a:lstStyle/>
          <a:p>
            <a:endParaRPr lang="en-US"/>
          </a:p>
        </p:txBody>
      </p:sp>
      <p:sp>
        <p:nvSpPr>
          <p:cNvPr id="33" name="Shape 30"/>
          <p:cNvSpPr/>
          <p:nvPr/>
        </p:nvSpPr>
        <p:spPr>
          <a:xfrm>
            <a:off x="5486400" y="4177001"/>
            <a:ext cx="3228975" cy="966499"/>
          </a:xfrm>
          <a:prstGeom prst="rect">
            <a:avLst/>
          </a:prstGeom>
          <a:solidFill>
            <a:srgbClr val="FFF3E0"/>
          </a:solidFill>
          <a:ln/>
        </p:spPr>
        <p:txBody>
          <a:bodyPr/>
          <a:lstStyle/>
          <a:p>
            <a:endParaRPr lang="en-US"/>
          </a:p>
        </p:txBody>
      </p:sp>
      <p:sp>
        <p:nvSpPr>
          <p:cNvPr id="34" name="Shape 31"/>
          <p:cNvSpPr/>
          <p:nvPr/>
        </p:nvSpPr>
        <p:spPr>
          <a:xfrm>
            <a:off x="5486400" y="4177001"/>
            <a:ext cx="3228975" cy="28575"/>
          </a:xfrm>
          <a:prstGeom prst="rect">
            <a:avLst/>
          </a:prstGeom>
          <a:solidFill>
            <a:srgbClr val="FF5722"/>
          </a:solidFill>
          <a:ln/>
        </p:spPr>
        <p:txBody>
          <a:bodyPr/>
          <a:lstStyle/>
          <a:p>
            <a:endParaRPr lang="en-US"/>
          </a:p>
        </p:txBody>
      </p:sp>
      <p:sp>
        <p:nvSpPr>
          <p:cNvPr id="35" name="Text 32"/>
          <p:cNvSpPr/>
          <p:nvPr/>
        </p:nvSpPr>
        <p:spPr>
          <a:xfrm>
            <a:off x="5593556" y="4312732"/>
            <a:ext cx="3014663" cy="132159"/>
          </a:xfrm>
          <a:prstGeom prst="rect">
            <a:avLst/>
          </a:prstGeom>
          <a:noFill/>
          <a:ln/>
        </p:spPr>
        <p:txBody>
          <a:bodyPr wrap="none" lIns="0" tIns="0" rIns="0" bIns="0" rtlCol="0" anchor="t">
            <a:spAutoFit/>
          </a:bodyPr>
          <a:lstStyle/>
          <a:p>
            <a:pPr marL="0" indent="0" algn="l">
              <a:lnSpc>
                <a:spcPts val="900"/>
              </a:lnSpc>
              <a:buNone/>
            </a:pPr>
            <a:r>
              <a:rPr lang="en-US" sz="683" b="1">
                <a:solidFill>
                  <a:srgbClr val="E65100"/>
                </a:solidFill>
                <a:latin typeface="Roboto Mono" pitchFamily="34" charset="0"/>
                <a:ea typeface="Roboto Mono" pitchFamily="34" charset="-122"/>
                <a:cs typeface="Roboto Mono" pitchFamily="34" charset="-120"/>
              </a:rPr>
              <a:t>HELP NEEDED / QUESTIONS</a:t>
            </a:r>
            <a:endParaRPr lang="en-US" sz="683"/>
          </a:p>
        </p:txBody>
      </p:sp>
      <p:sp>
        <p:nvSpPr>
          <p:cNvPr id="9" name="Text 19">
            <a:extLst>
              <a:ext uri="{FF2B5EF4-FFF2-40B4-BE49-F238E27FC236}">
                <a16:creationId xmlns:a16="http://schemas.microsoft.com/office/drawing/2014/main" id="{F017F171-5ABA-7FED-BA28-6540C359C231}"/>
              </a:ext>
            </a:extLst>
          </p:cNvPr>
          <p:cNvSpPr/>
          <p:nvPr/>
        </p:nvSpPr>
        <p:spPr>
          <a:xfrm>
            <a:off x="412967" y="2901959"/>
            <a:ext cx="4843463" cy="269433"/>
          </a:xfrm>
          <a:prstGeom prst="rect">
            <a:avLst/>
          </a:prstGeom>
          <a:noFill/>
          <a:ln/>
        </p:spPr>
        <p:txBody>
          <a:bodyPr wrap="square" lIns="102108" tIns="68072" rIns="102108" bIns="68072" rtlCol="0" anchor="t">
            <a:spAutoFit/>
          </a:bodyPr>
          <a:lstStyle/>
          <a:p>
            <a:pPr marL="0" indent="0" algn="l">
              <a:lnSpc>
                <a:spcPts val="1100"/>
              </a:lnSpc>
              <a:buNone/>
            </a:pPr>
            <a:r>
              <a:rPr lang="en-US" sz="784" b="1">
                <a:solidFill>
                  <a:srgbClr val="FFFFFF"/>
                </a:solidFill>
                <a:latin typeface="Roboto Mono" pitchFamily="34" charset="0"/>
                <a:ea typeface="Roboto Mono" pitchFamily="34" charset="-122"/>
              </a:rPr>
              <a:t>IN PROGRESS</a:t>
            </a:r>
            <a:endParaRPr lang="en-US" sz="784"/>
          </a:p>
        </p:txBody>
      </p:sp>
      <p:sp>
        <p:nvSpPr>
          <p:cNvPr id="45" name="AutoShape 8">
            <a:extLst>
              <a:ext uri="{FF2B5EF4-FFF2-40B4-BE49-F238E27FC236}">
                <a16:creationId xmlns:a16="http://schemas.microsoft.com/office/drawing/2014/main" id="{EF6815CA-200F-E3EE-0096-16B28740786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E"/>
          </a:p>
        </p:txBody>
      </p:sp>
      <p:sp>
        <p:nvSpPr>
          <p:cNvPr id="31" name="Oval 30">
            <a:extLst>
              <a:ext uri="{FF2B5EF4-FFF2-40B4-BE49-F238E27FC236}">
                <a16:creationId xmlns:a16="http://schemas.microsoft.com/office/drawing/2014/main" id="{BD2C3BAF-C560-2A3F-C600-8E33B0D45421}"/>
              </a:ext>
            </a:extLst>
          </p:cNvPr>
          <p:cNvSpPr/>
          <p:nvPr/>
        </p:nvSpPr>
        <p:spPr>
          <a:xfrm>
            <a:off x="8210550" y="2767013"/>
            <a:ext cx="85725" cy="78353"/>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 9">
            <a:extLst>
              <a:ext uri="{FF2B5EF4-FFF2-40B4-BE49-F238E27FC236}">
                <a16:creationId xmlns:a16="http://schemas.microsoft.com/office/drawing/2014/main" id="{13423B49-5A78-47F5-9F53-50E0E8E4063F}"/>
              </a:ext>
            </a:extLst>
          </p:cNvPr>
          <p:cNvSpPr/>
          <p:nvPr/>
        </p:nvSpPr>
        <p:spPr>
          <a:xfrm>
            <a:off x="420795" y="2443340"/>
            <a:ext cx="48220" cy="140001"/>
          </a:xfrm>
          <a:prstGeom prst="rect">
            <a:avLst/>
          </a:prstGeom>
          <a:noFill/>
          <a:ln/>
        </p:spPr>
        <p:txBody>
          <a:bodyPr wrap="none" lIns="0" tIns="0" rIns="0" bIns="0" rtlCol="0" anchor="t">
            <a:spAutoFit/>
          </a:bodyPr>
          <a:lstStyle/>
          <a:p>
            <a:pPr marL="0" indent="0" algn="l">
              <a:lnSpc>
                <a:spcPts val="1100"/>
              </a:lnSpc>
              <a:buNone/>
            </a:pPr>
            <a:r>
              <a:rPr lang="en-US" sz="683" b="1" dirty="0">
                <a:solidFill>
                  <a:srgbClr val="FF5722"/>
                </a:solidFill>
                <a:latin typeface="Inter" pitchFamily="34" charset="0"/>
                <a:ea typeface="Inter" pitchFamily="34" charset="-122"/>
                <a:cs typeface="Inter" pitchFamily="34" charset="-120"/>
              </a:rPr>
              <a:t>•</a:t>
            </a:r>
            <a:endParaRPr lang="en-US" sz="683" dirty="0"/>
          </a:p>
        </p:txBody>
      </p:sp>
      <p:pic>
        <p:nvPicPr>
          <p:cNvPr id="17" name="Picture 16" descr="A screen shot of a computer&#10;&#10;AI-generated content may be incorrect.">
            <a:extLst>
              <a:ext uri="{FF2B5EF4-FFF2-40B4-BE49-F238E27FC236}">
                <a16:creationId xmlns:a16="http://schemas.microsoft.com/office/drawing/2014/main" id="{AB802EEE-69B5-F435-96DD-1786631975FB}"/>
              </a:ext>
            </a:extLst>
          </p:cNvPr>
          <p:cNvPicPr>
            <a:picLocks noChangeAspect="1"/>
          </p:cNvPicPr>
          <p:nvPr/>
        </p:nvPicPr>
        <p:blipFill>
          <a:blip r:embed="rId4"/>
          <a:stretch>
            <a:fillRect/>
          </a:stretch>
        </p:blipFill>
        <p:spPr>
          <a:xfrm>
            <a:off x="5589739" y="953081"/>
            <a:ext cx="3123679" cy="1632443"/>
          </a:xfrm>
          <a:prstGeom prst="rect">
            <a:avLst/>
          </a:prstGeom>
        </p:spPr>
      </p:pic>
      <p:pic>
        <p:nvPicPr>
          <p:cNvPr id="24" name="Picture 23" descr="A screenshot of a computer&#10;&#10;AI-generated content may be incorrect.">
            <a:extLst>
              <a:ext uri="{FF2B5EF4-FFF2-40B4-BE49-F238E27FC236}">
                <a16:creationId xmlns:a16="http://schemas.microsoft.com/office/drawing/2014/main" id="{EDD9FC1D-23DA-2105-8D44-4EE01A01A824}"/>
              </a:ext>
            </a:extLst>
          </p:cNvPr>
          <p:cNvPicPr>
            <a:picLocks noChangeAspect="1"/>
          </p:cNvPicPr>
          <p:nvPr/>
        </p:nvPicPr>
        <p:blipFill>
          <a:blip r:embed="rId5"/>
          <a:stretch>
            <a:fillRect/>
          </a:stretch>
        </p:blipFill>
        <p:spPr>
          <a:xfrm>
            <a:off x="5589739" y="2645451"/>
            <a:ext cx="3154994" cy="1661043"/>
          </a:xfrm>
          <a:prstGeom prst="rect">
            <a:avLst/>
          </a:prstGeom>
        </p:spPr>
      </p:pic>
      <p:pic>
        <p:nvPicPr>
          <p:cNvPr id="30" name="Picture 29" descr="A screenshot of a computer&#10;&#10;AI-generated content may be incorrect.">
            <a:extLst>
              <a:ext uri="{FF2B5EF4-FFF2-40B4-BE49-F238E27FC236}">
                <a16:creationId xmlns:a16="http://schemas.microsoft.com/office/drawing/2014/main" id="{4B7063F9-8837-4609-6B8B-B61B2CD1E55F}"/>
              </a:ext>
            </a:extLst>
          </p:cNvPr>
          <p:cNvPicPr>
            <a:picLocks noChangeAspect="1"/>
          </p:cNvPicPr>
          <p:nvPr/>
        </p:nvPicPr>
        <p:blipFill>
          <a:blip r:embed="rId6"/>
          <a:stretch>
            <a:fillRect/>
          </a:stretch>
        </p:blipFill>
        <p:spPr>
          <a:xfrm>
            <a:off x="2497376" y="3484321"/>
            <a:ext cx="3014076" cy="15803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5508" y="-8792"/>
            <a:ext cx="9144000" cy="5143500"/>
          </a:xfrm>
          <a:prstGeom prst="rect">
            <a:avLst/>
          </a:prstGeom>
        </p:spPr>
      </p:pic>
      <p:sp>
        <p:nvSpPr>
          <p:cNvPr id="3" name="Text 0"/>
          <p:cNvSpPr/>
          <p:nvPr/>
        </p:nvSpPr>
        <p:spPr>
          <a:xfrm>
            <a:off x="443042" y="362328"/>
            <a:ext cx="4664739" cy="327013"/>
          </a:xfrm>
          <a:prstGeom prst="rect">
            <a:avLst/>
          </a:prstGeom>
          <a:noFill/>
          <a:ln/>
        </p:spPr>
        <p:txBody>
          <a:bodyPr wrap="none" lIns="0" tIns="0" rIns="0" bIns="0" rtlCol="0" anchor="t">
            <a:spAutoFit/>
          </a:bodyPr>
          <a:lstStyle/>
          <a:p>
            <a:pPr marL="0" indent="0" algn="l">
              <a:lnSpc>
                <a:spcPts val="2700"/>
              </a:lnSpc>
              <a:buNone/>
            </a:pPr>
            <a:r>
              <a:rPr lang="en-US" sz="2016" b="1">
                <a:solidFill>
                  <a:srgbClr val="000000"/>
                </a:solidFill>
                <a:latin typeface="Roboto Mono" pitchFamily="34" charset="0"/>
                <a:ea typeface="Roboto Mono" pitchFamily="34" charset="-122"/>
                <a:cs typeface="Roboto Mono" pitchFamily="34" charset="-120"/>
              </a:rPr>
              <a:t>MEMBER 3: Basel Feras Ghunaim </a:t>
            </a:r>
            <a:endParaRPr lang="en-US" sz="2016"/>
          </a:p>
        </p:txBody>
      </p:sp>
      <p:sp>
        <p:nvSpPr>
          <p:cNvPr id="4" name="Shape 1"/>
          <p:cNvSpPr/>
          <p:nvPr/>
        </p:nvSpPr>
        <p:spPr>
          <a:xfrm>
            <a:off x="428625" y="895594"/>
            <a:ext cx="4036219" cy="312539"/>
          </a:xfrm>
          <a:prstGeom prst="rect">
            <a:avLst/>
          </a:prstGeom>
          <a:solidFill>
            <a:srgbClr val="000000"/>
          </a:solidFill>
          <a:ln/>
        </p:spPr>
        <p:txBody>
          <a:bodyPr/>
          <a:lstStyle/>
          <a:p>
            <a:endParaRPr lang="en-US"/>
          </a:p>
        </p:txBody>
      </p:sp>
      <p:sp>
        <p:nvSpPr>
          <p:cNvPr id="5" name="Shape 2"/>
          <p:cNvSpPr/>
          <p:nvPr/>
        </p:nvSpPr>
        <p:spPr>
          <a:xfrm>
            <a:off x="428625" y="895594"/>
            <a:ext cx="42863" cy="312539"/>
          </a:xfrm>
          <a:prstGeom prst="rect">
            <a:avLst/>
          </a:prstGeom>
          <a:solidFill>
            <a:srgbClr val="FF5722"/>
          </a:solidFill>
          <a:ln/>
        </p:spPr>
        <p:txBody>
          <a:bodyPr/>
          <a:lstStyle/>
          <a:p>
            <a:endParaRPr lang="en-US"/>
          </a:p>
        </p:txBody>
      </p:sp>
      <p:sp>
        <p:nvSpPr>
          <p:cNvPr id="6" name="Text 3"/>
          <p:cNvSpPr/>
          <p:nvPr/>
        </p:nvSpPr>
        <p:spPr>
          <a:xfrm>
            <a:off x="428625" y="895594"/>
            <a:ext cx="4036219" cy="312539"/>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ACCOMPLISHED (SINCE LAST REPORT)</a:t>
            </a:r>
            <a:endParaRPr lang="en-US" sz="885"/>
          </a:p>
        </p:txBody>
      </p:sp>
      <p:sp>
        <p:nvSpPr>
          <p:cNvPr id="7" name="Text 4"/>
          <p:cNvSpPr/>
          <p:nvPr/>
        </p:nvSpPr>
        <p:spPr>
          <a:xfrm>
            <a:off x="428625" y="1315289"/>
            <a:ext cx="4143375" cy="1383264"/>
          </a:xfrm>
          <a:prstGeom prst="rect">
            <a:avLst/>
          </a:prstGeom>
          <a:noFill/>
          <a:ln/>
        </p:spPr>
        <p:txBody>
          <a:bodyPr wrap="square" lIns="170053" tIns="0" rIns="0" bIns="0" rtlCol="0" anchor="t">
            <a:spAutoFit/>
          </a:bodyPr>
          <a:lstStyle/>
          <a:p>
            <a:pPr marL="285750" indent="-285750" algn="just">
              <a:buFont typeface="Arial"/>
              <a:buChar char="•"/>
            </a:pPr>
            <a:r>
              <a:rPr lang="en-US" sz="800">
                <a:ea typeface="+mn-lt"/>
                <a:cs typeface="+mn-lt"/>
              </a:rPr>
              <a:t>Completed evaluation of motion control strategies (</a:t>
            </a:r>
            <a:r>
              <a:rPr lang="en-US" sz="800" err="1">
                <a:ea typeface="+mn-lt"/>
                <a:cs typeface="+mn-lt"/>
              </a:rPr>
              <a:t>AccelStepper</a:t>
            </a:r>
            <a:r>
              <a:rPr lang="en-US" sz="800">
                <a:ea typeface="+mn-lt"/>
                <a:cs typeface="+mn-lt"/>
              </a:rPr>
              <a:t> vs custom step generation). </a:t>
            </a:r>
            <a:endParaRPr lang="en-US"/>
          </a:p>
          <a:p>
            <a:pPr marL="285750" indent="-285750" algn="just">
              <a:buFont typeface="Arial"/>
              <a:buChar char="•"/>
            </a:pPr>
            <a:r>
              <a:rPr lang="en-US" sz="800">
                <a:ea typeface="+mn-lt"/>
                <a:cs typeface="+mn-lt"/>
              </a:rPr>
              <a:t>Finalized decision to use stepper motor step-counting with homing as the primary positioning method. </a:t>
            </a:r>
            <a:endParaRPr lang="en-US"/>
          </a:p>
          <a:p>
            <a:pPr marL="285750" indent="-285750" algn="just">
              <a:buFont typeface="Arial"/>
              <a:buChar char="•"/>
            </a:pPr>
            <a:r>
              <a:rPr lang="en-US" sz="800">
                <a:ea typeface="+mn-lt"/>
                <a:cs typeface="+mn-lt"/>
              </a:rPr>
              <a:t>Conducted detailed analysis of encoder integration options (single encoder, dual encoder, and comparison with motor step tracking). </a:t>
            </a:r>
            <a:endParaRPr lang="en-US"/>
          </a:p>
          <a:p>
            <a:pPr marL="285750" indent="-285750" algn="just">
              <a:buFont typeface="Arial"/>
              <a:buChar char="•"/>
            </a:pPr>
            <a:r>
              <a:rPr lang="en-US" sz="800">
                <a:ea typeface="+mn-lt"/>
                <a:cs typeface="+mn-lt"/>
              </a:rPr>
              <a:t>Refined hybrid end-effector concept (mechanical gripper + suction cup) and validated feasibility for all target objects. </a:t>
            </a:r>
            <a:endParaRPr lang="en-US"/>
          </a:p>
          <a:p>
            <a:pPr marL="285750" indent="-285750" algn="just">
              <a:buFont typeface="Arial"/>
              <a:buChar char="•"/>
            </a:pPr>
            <a:r>
              <a:rPr lang="en-US" sz="800">
                <a:ea typeface="+mn-lt"/>
                <a:cs typeface="+mn-lt"/>
              </a:rPr>
              <a:t>Investigated vacuum pump specifications and confirmed suitability of electric vacuum pump over compressed air systems.</a:t>
            </a:r>
          </a:p>
          <a:p>
            <a:pPr marL="0" indent="0" algn="just">
              <a:lnSpc>
                <a:spcPts val="1300"/>
              </a:lnSpc>
              <a:buNone/>
            </a:pPr>
            <a:endParaRPr lang="en-US" sz="800">
              <a:ea typeface="Calibri"/>
              <a:cs typeface="Calibri"/>
            </a:endParaRPr>
          </a:p>
        </p:txBody>
      </p:sp>
      <p:sp>
        <p:nvSpPr>
          <p:cNvPr id="11" name="Text 8"/>
          <p:cNvSpPr/>
          <p:nvPr/>
        </p:nvSpPr>
        <p:spPr>
          <a:xfrm>
            <a:off x="428625" y="1315289"/>
            <a:ext cx="53578" cy="151580"/>
          </a:xfrm>
          <a:prstGeom prst="rect">
            <a:avLst/>
          </a:prstGeom>
          <a:noFill/>
          <a:ln/>
        </p:spPr>
        <p:txBody>
          <a:bodyPr wrap="squar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13" name="Shape 10"/>
          <p:cNvSpPr/>
          <p:nvPr/>
        </p:nvSpPr>
        <p:spPr>
          <a:xfrm>
            <a:off x="4679156" y="890875"/>
            <a:ext cx="4036219" cy="312539"/>
          </a:xfrm>
          <a:prstGeom prst="rect">
            <a:avLst/>
          </a:prstGeom>
          <a:solidFill>
            <a:srgbClr val="000000"/>
          </a:solidFill>
          <a:ln/>
        </p:spPr>
        <p:txBody>
          <a:bodyPr/>
          <a:lstStyle/>
          <a:p>
            <a:endParaRPr lang="en-US"/>
          </a:p>
        </p:txBody>
      </p:sp>
      <p:sp>
        <p:nvSpPr>
          <p:cNvPr id="14" name="Shape 11"/>
          <p:cNvSpPr/>
          <p:nvPr/>
        </p:nvSpPr>
        <p:spPr>
          <a:xfrm>
            <a:off x="4679156" y="890875"/>
            <a:ext cx="42863" cy="312539"/>
          </a:xfrm>
          <a:prstGeom prst="rect">
            <a:avLst/>
          </a:prstGeom>
          <a:solidFill>
            <a:srgbClr val="FF5722"/>
          </a:solidFill>
          <a:ln/>
        </p:spPr>
        <p:txBody>
          <a:bodyPr/>
          <a:lstStyle/>
          <a:p>
            <a:endParaRPr lang="en-US"/>
          </a:p>
        </p:txBody>
      </p:sp>
      <p:sp>
        <p:nvSpPr>
          <p:cNvPr id="15" name="Text 12"/>
          <p:cNvSpPr/>
          <p:nvPr/>
        </p:nvSpPr>
        <p:spPr>
          <a:xfrm>
            <a:off x="4679156" y="890875"/>
            <a:ext cx="4036219" cy="312539"/>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IN PROGRESS</a:t>
            </a:r>
            <a:endParaRPr lang="en-US" sz="885"/>
          </a:p>
        </p:txBody>
      </p:sp>
      <p:sp>
        <p:nvSpPr>
          <p:cNvPr id="16" name="Text 13"/>
          <p:cNvSpPr/>
          <p:nvPr/>
        </p:nvSpPr>
        <p:spPr>
          <a:xfrm>
            <a:off x="4679157" y="1310570"/>
            <a:ext cx="4032372" cy="644600"/>
          </a:xfrm>
          <a:prstGeom prst="rect">
            <a:avLst/>
          </a:prstGeom>
          <a:noFill/>
          <a:ln/>
        </p:spPr>
        <p:txBody>
          <a:bodyPr wrap="square" lIns="170053" tIns="0" rIns="0" bIns="0" rtlCol="0" anchor="t">
            <a:spAutoFit/>
          </a:bodyPr>
          <a:lstStyle/>
          <a:p>
            <a:pPr marL="285750" indent="-285750" algn="just">
              <a:buFont typeface="Arial"/>
              <a:buChar char="•"/>
            </a:pPr>
            <a:r>
              <a:rPr lang="en-US" sz="800">
                <a:ea typeface="+mn-lt"/>
                <a:cs typeface="+mn-lt"/>
              </a:rPr>
              <a:t>Implementing initial stepper motor control logic and testing basic motion behavior. </a:t>
            </a:r>
            <a:endParaRPr lang="en-US"/>
          </a:p>
          <a:p>
            <a:pPr marL="285750" indent="-285750" algn="just">
              <a:buFont typeface="Arial"/>
              <a:buChar char="•"/>
            </a:pPr>
            <a:r>
              <a:rPr lang="en-US" sz="800">
                <a:ea typeface="+mn-lt"/>
                <a:cs typeface="+mn-lt"/>
              </a:rPr>
              <a:t>Evaluating potential positioning errors due to gear backlash and belt elasticity. </a:t>
            </a:r>
            <a:endParaRPr lang="en-US"/>
          </a:p>
          <a:p>
            <a:pPr marL="285750" indent="-285750" algn="just">
              <a:buFont typeface="Arial"/>
              <a:buChar char="•"/>
            </a:pPr>
            <a:r>
              <a:rPr lang="en-US" sz="800">
                <a:ea typeface="+mn-lt"/>
                <a:cs typeface="+mn-lt"/>
              </a:rPr>
              <a:t>Optimizing suction cup placement and integration within the gripper design. </a:t>
            </a:r>
            <a:endParaRPr lang="en-US"/>
          </a:p>
          <a:p>
            <a:pPr marL="285750" indent="-285750" algn="just">
              <a:buFont typeface="Arial"/>
              <a:buChar char="•"/>
            </a:pPr>
            <a:r>
              <a:rPr lang="en-US" sz="800">
                <a:ea typeface="+mn-lt"/>
                <a:cs typeface="+mn-lt"/>
              </a:rPr>
              <a:t>Reviewing control sequence timing for coordinated pick-and-place operations.</a:t>
            </a:r>
            <a:endParaRPr lang="en-US">
              <a:ea typeface="+mn-lt"/>
              <a:cs typeface="+mn-lt"/>
            </a:endParaRPr>
          </a:p>
          <a:p>
            <a:pPr algn="just">
              <a:lnSpc>
                <a:spcPts val="1300"/>
              </a:lnSpc>
            </a:pPr>
            <a:endParaRPr lang="en-US" sz="800">
              <a:ea typeface="Calibri"/>
              <a:cs typeface="Calibri"/>
            </a:endParaRPr>
          </a:p>
        </p:txBody>
      </p:sp>
      <p:sp>
        <p:nvSpPr>
          <p:cNvPr id="18" name="Text 15"/>
          <p:cNvSpPr/>
          <p:nvPr/>
        </p:nvSpPr>
        <p:spPr>
          <a:xfrm>
            <a:off x="4719202" y="1318629"/>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19" name="Text 16"/>
          <p:cNvSpPr/>
          <p:nvPr/>
        </p:nvSpPr>
        <p:spPr>
          <a:xfrm>
            <a:off x="4732734" y="1656787"/>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22" name="Text 19"/>
          <p:cNvSpPr/>
          <p:nvPr/>
        </p:nvSpPr>
        <p:spPr>
          <a:xfrm>
            <a:off x="428625" y="3520250"/>
            <a:ext cx="4036219" cy="312539"/>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NEXT WEEK PLAN</a:t>
            </a:r>
            <a:endParaRPr lang="en-US" sz="885"/>
          </a:p>
        </p:txBody>
      </p:sp>
      <p:sp>
        <p:nvSpPr>
          <p:cNvPr id="25" name="Text 22"/>
          <p:cNvSpPr/>
          <p:nvPr/>
        </p:nvSpPr>
        <p:spPr>
          <a:xfrm>
            <a:off x="428625" y="3939946"/>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26" name="Text 23"/>
          <p:cNvSpPr/>
          <p:nvPr/>
        </p:nvSpPr>
        <p:spPr>
          <a:xfrm>
            <a:off x="421047" y="4102746"/>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32" name="Text 29"/>
          <p:cNvSpPr/>
          <p:nvPr/>
        </p:nvSpPr>
        <p:spPr>
          <a:xfrm>
            <a:off x="4679156" y="3939946"/>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33" name="Text 30"/>
          <p:cNvSpPr/>
          <p:nvPr/>
        </p:nvSpPr>
        <p:spPr>
          <a:xfrm>
            <a:off x="4674930" y="4254267"/>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44" name="Text 8">
            <a:extLst>
              <a:ext uri="{FF2B5EF4-FFF2-40B4-BE49-F238E27FC236}">
                <a16:creationId xmlns:a16="http://schemas.microsoft.com/office/drawing/2014/main" id="{B7BDA710-F324-3B9A-9710-A0EB76897EA8}"/>
              </a:ext>
            </a:extLst>
          </p:cNvPr>
          <p:cNvSpPr/>
          <p:nvPr/>
        </p:nvSpPr>
        <p:spPr>
          <a:xfrm>
            <a:off x="431762" y="1623161"/>
            <a:ext cx="53578" cy="151580"/>
          </a:xfrm>
          <a:prstGeom prst="rect">
            <a:avLst/>
          </a:prstGeom>
          <a:noFill/>
          <a:ln/>
        </p:spPr>
        <p:txBody>
          <a:bodyPr wrap="squar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45" name="Text 8">
            <a:extLst>
              <a:ext uri="{FF2B5EF4-FFF2-40B4-BE49-F238E27FC236}">
                <a16:creationId xmlns:a16="http://schemas.microsoft.com/office/drawing/2014/main" id="{4B87A222-9B54-646D-A814-BA55603912B6}"/>
              </a:ext>
            </a:extLst>
          </p:cNvPr>
          <p:cNvSpPr/>
          <p:nvPr/>
        </p:nvSpPr>
        <p:spPr>
          <a:xfrm>
            <a:off x="450056" y="1953420"/>
            <a:ext cx="53578" cy="151580"/>
          </a:xfrm>
          <a:prstGeom prst="rect">
            <a:avLst/>
          </a:prstGeom>
          <a:noFill/>
          <a:ln/>
        </p:spPr>
        <p:txBody>
          <a:bodyPr wrap="squar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46" name="Text 8">
            <a:extLst>
              <a:ext uri="{FF2B5EF4-FFF2-40B4-BE49-F238E27FC236}">
                <a16:creationId xmlns:a16="http://schemas.microsoft.com/office/drawing/2014/main" id="{C0566BD4-B742-0886-99DC-9AE7CB7DB887}"/>
              </a:ext>
            </a:extLst>
          </p:cNvPr>
          <p:cNvSpPr/>
          <p:nvPr/>
        </p:nvSpPr>
        <p:spPr>
          <a:xfrm>
            <a:off x="444699" y="2292023"/>
            <a:ext cx="53578" cy="151580"/>
          </a:xfrm>
          <a:prstGeom prst="rect">
            <a:avLst/>
          </a:prstGeom>
          <a:noFill/>
          <a:ln/>
        </p:spPr>
        <p:txBody>
          <a:bodyPr wrap="squar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47" name="Text 8">
            <a:extLst>
              <a:ext uri="{FF2B5EF4-FFF2-40B4-BE49-F238E27FC236}">
                <a16:creationId xmlns:a16="http://schemas.microsoft.com/office/drawing/2014/main" id="{63F8FC43-F0AF-6D1E-874C-A0DACFC03358}"/>
              </a:ext>
            </a:extLst>
          </p:cNvPr>
          <p:cNvSpPr/>
          <p:nvPr/>
        </p:nvSpPr>
        <p:spPr>
          <a:xfrm>
            <a:off x="444699" y="2486174"/>
            <a:ext cx="53578" cy="151580"/>
          </a:xfrm>
          <a:prstGeom prst="rect">
            <a:avLst/>
          </a:prstGeom>
          <a:noFill/>
          <a:ln/>
        </p:spPr>
        <p:txBody>
          <a:bodyPr wrap="squar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50" name="Text 16">
            <a:extLst>
              <a:ext uri="{FF2B5EF4-FFF2-40B4-BE49-F238E27FC236}">
                <a16:creationId xmlns:a16="http://schemas.microsoft.com/office/drawing/2014/main" id="{DEA24835-06C4-63B4-7835-F5C442E9EBEF}"/>
              </a:ext>
            </a:extLst>
          </p:cNvPr>
          <p:cNvSpPr/>
          <p:nvPr/>
        </p:nvSpPr>
        <p:spPr>
          <a:xfrm>
            <a:off x="4719202" y="1963309"/>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51" name="Text 16">
            <a:extLst>
              <a:ext uri="{FF2B5EF4-FFF2-40B4-BE49-F238E27FC236}">
                <a16:creationId xmlns:a16="http://schemas.microsoft.com/office/drawing/2014/main" id="{4B520D02-48BF-20EB-94E5-2D70982829CF}"/>
              </a:ext>
            </a:extLst>
          </p:cNvPr>
          <p:cNvSpPr/>
          <p:nvPr/>
        </p:nvSpPr>
        <p:spPr>
          <a:xfrm>
            <a:off x="4719260" y="2144548"/>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54" name="Text 23">
            <a:extLst>
              <a:ext uri="{FF2B5EF4-FFF2-40B4-BE49-F238E27FC236}">
                <a16:creationId xmlns:a16="http://schemas.microsoft.com/office/drawing/2014/main" id="{44AEFCCD-43CE-E42B-F9B9-6332F348FFC4}"/>
              </a:ext>
            </a:extLst>
          </p:cNvPr>
          <p:cNvSpPr/>
          <p:nvPr/>
        </p:nvSpPr>
        <p:spPr>
          <a:xfrm>
            <a:off x="421047" y="4281434"/>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55" name="Text 23">
            <a:extLst>
              <a:ext uri="{FF2B5EF4-FFF2-40B4-BE49-F238E27FC236}">
                <a16:creationId xmlns:a16="http://schemas.microsoft.com/office/drawing/2014/main" id="{79451E0A-E0B5-E081-8937-AF6C2E6553C0}"/>
              </a:ext>
            </a:extLst>
          </p:cNvPr>
          <p:cNvSpPr/>
          <p:nvPr/>
        </p:nvSpPr>
        <p:spPr>
          <a:xfrm>
            <a:off x="421047" y="4441415"/>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56" name="Text 30">
            <a:extLst>
              <a:ext uri="{FF2B5EF4-FFF2-40B4-BE49-F238E27FC236}">
                <a16:creationId xmlns:a16="http://schemas.microsoft.com/office/drawing/2014/main" id="{18CDCCA9-B3C6-DDA8-6E64-3C1BC48071CC}"/>
              </a:ext>
            </a:extLst>
          </p:cNvPr>
          <p:cNvSpPr/>
          <p:nvPr/>
        </p:nvSpPr>
        <p:spPr>
          <a:xfrm>
            <a:off x="4701719" y="4601396"/>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pic>
        <p:nvPicPr>
          <p:cNvPr id="8" name="Picture 7" descr="A group of black and silver suction cups&#10;&#10;AI-generated content may be incorrect.">
            <a:extLst>
              <a:ext uri="{FF2B5EF4-FFF2-40B4-BE49-F238E27FC236}">
                <a16:creationId xmlns:a16="http://schemas.microsoft.com/office/drawing/2014/main" id="{E04E1D5E-7E56-97A1-74BE-DE43D9D12A80}"/>
              </a:ext>
            </a:extLst>
          </p:cNvPr>
          <p:cNvPicPr>
            <a:picLocks noChangeAspect="1"/>
          </p:cNvPicPr>
          <p:nvPr/>
        </p:nvPicPr>
        <p:blipFill>
          <a:blip r:embed="rId4"/>
          <a:stretch>
            <a:fillRect/>
          </a:stretch>
        </p:blipFill>
        <p:spPr>
          <a:xfrm>
            <a:off x="606669" y="2650156"/>
            <a:ext cx="3683977" cy="13642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79614" y="0"/>
            <a:ext cx="9144000" cy="5143500"/>
          </a:xfrm>
          <a:prstGeom prst="rect">
            <a:avLst/>
          </a:prstGeom>
        </p:spPr>
      </p:pic>
      <p:sp>
        <p:nvSpPr>
          <p:cNvPr id="3" name="Text 0"/>
          <p:cNvSpPr/>
          <p:nvPr/>
        </p:nvSpPr>
        <p:spPr>
          <a:xfrm>
            <a:off x="428625" y="665792"/>
            <a:ext cx="3693319" cy="326436"/>
          </a:xfrm>
          <a:prstGeom prst="rect">
            <a:avLst/>
          </a:prstGeom>
          <a:noFill/>
          <a:ln/>
        </p:spPr>
        <p:txBody>
          <a:bodyPr wrap="none" lIns="0" tIns="0" rIns="0" bIns="0" rtlCol="0" anchor="t">
            <a:spAutoFit/>
          </a:bodyPr>
          <a:lstStyle/>
          <a:p>
            <a:pPr>
              <a:lnSpc>
                <a:spcPts val="2700"/>
              </a:lnSpc>
            </a:pPr>
            <a:r>
              <a:rPr lang="en-US" sz="2000" b="1">
                <a:solidFill>
                  <a:srgbClr val="000000"/>
                </a:solidFill>
                <a:latin typeface="Roboto Mono"/>
                <a:ea typeface="Roboto Mono"/>
                <a:cs typeface="Roboto Mono" pitchFamily="34" charset="-120"/>
              </a:rPr>
              <a:t>MEMBER 4: Ahmed </a:t>
            </a:r>
            <a:r>
              <a:rPr lang="en-US" sz="2000" b="1" err="1">
                <a:solidFill>
                  <a:srgbClr val="000000"/>
                </a:solidFill>
                <a:latin typeface="Roboto Mono"/>
                <a:ea typeface="Roboto Mono"/>
                <a:cs typeface="Roboto Mono" pitchFamily="34" charset="-120"/>
              </a:rPr>
              <a:t>Alshehhi</a:t>
            </a:r>
            <a:endParaRPr lang="en-US" sz="2016" err="1"/>
          </a:p>
        </p:txBody>
      </p:sp>
      <p:sp>
        <p:nvSpPr>
          <p:cNvPr id="4" name="Shape 1"/>
          <p:cNvSpPr/>
          <p:nvPr/>
        </p:nvSpPr>
        <p:spPr>
          <a:xfrm>
            <a:off x="428625" y="1292656"/>
            <a:ext cx="4036219" cy="312539"/>
          </a:xfrm>
          <a:prstGeom prst="rect">
            <a:avLst/>
          </a:prstGeom>
          <a:solidFill>
            <a:srgbClr val="000000"/>
          </a:solidFill>
          <a:ln/>
        </p:spPr>
        <p:txBody>
          <a:bodyPr/>
          <a:lstStyle/>
          <a:p>
            <a:endParaRPr lang="en-US"/>
          </a:p>
        </p:txBody>
      </p:sp>
      <p:sp>
        <p:nvSpPr>
          <p:cNvPr id="5" name="Shape 2"/>
          <p:cNvSpPr/>
          <p:nvPr/>
        </p:nvSpPr>
        <p:spPr>
          <a:xfrm>
            <a:off x="428625" y="1292656"/>
            <a:ext cx="42863" cy="312539"/>
          </a:xfrm>
          <a:prstGeom prst="rect">
            <a:avLst/>
          </a:prstGeom>
          <a:solidFill>
            <a:srgbClr val="FF5722"/>
          </a:solidFill>
          <a:ln/>
        </p:spPr>
        <p:txBody>
          <a:bodyPr/>
          <a:lstStyle/>
          <a:p>
            <a:endParaRPr lang="en-US"/>
          </a:p>
        </p:txBody>
      </p:sp>
      <p:sp>
        <p:nvSpPr>
          <p:cNvPr id="6" name="Text 3"/>
          <p:cNvSpPr/>
          <p:nvPr/>
        </p:nvSpPr>
        <p:spPr>
          <a:xfrm>
            <a:off x="428625" y="1292656"/>
            <a:ext cx="4036219" cy="312539"/>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ACCOMPLISHED (SINCE LAST REPORT)</a:t>
            </a:r>
            <a:endParaRPr lang="en-US" sz="885"/>
          </a:p>
        </p:txBody>
      </p:sp>
      <p:sp>
        <p:nvSpPr>
          <p:cNvPr id="7" name="Text 4"/>
          <p:cNvSpPr/>
          <p:nvPr/>
        </p:nvSpPr>
        <p:spPr>
          <a:xfrm>
            <a:off x="428625" y="1712351"/>
            <a:ext cx="3380926" cy="152158"/>
          </a:xfrm>
          <a:prstGeom prst="rect">
            <a:avLst/>
          </a:prstGeom>
          <a:noFill/>
          <a:ln/>
        </p:spPr>
        <p:txBody>
          <a:bodyPr wrap="none" lIns="170053" tIns="0" rIns="0" bIns="0" rtlCol="0" anchor="t">
            <a:spAutoFit/>
          </a:bodyPr>
          <a:lstStyle/>
          <a:p>
            <a:pPr>
              <a:lnSpc>
                <a:spcPts val="1300"/>
              </a:lnSpc>
            </a:pPr>
            <a:r>
              <a:rPr lang="en-US" sz="800">
                <a:solidFill>
                  <a:srgbClr val="333333"/>
                </a:solidFill>
                <a:ea typeface="+mn-lt"/>
                <a:cs typeface="+mn-lt"/>
              </a:rPr>
              <a:t>Reviewed research papers and technical resources on robotic gripper design.</a:t>
            </a:r>
            <a:endParaRPr lang="en-US">
              <a:ea typeface="+mn-lt"/>
              <a:cs typeface="+mn-lt"/>
            </a:endParaRPr>
          </a:p>
        </p:txBody>
      </p:sp>
      <p:sp>
        <p:nvSpPr>
          <p:cNvPr id="8" name="Text 5"/>
          <p:cNvSpPr/>
          <p:nvPr/>
        </p:nvSpPr>
        <p:spPr>
          <a:xfrm>
            <a:off x="449035" y="1943798"/>
            <a:ext cx="4207823" cy="152158"/>
          </a:xfrm>
          <a:prstGeom prst="rect">
            <a:avLst/>
          </a:prstGeom>
          <a:noFill/>
          <a:ln/>
        </p:spPr>
        <p:txBody>
          <a:bodyPr wrap="square" lIns="170053" tIns="0" rIns="0" bIns="0" rtlCol="0" anchor="t">
            <a:spAutoFit/>
          </a:bodyPr>
          <a:lstStyle/>
          <a:p>
            <a:pPr>
              <a:lnSpc>
                <a:spcPts val="1300"/>
              </a:lnSpc>
            </a:pPr>
            <a:r>
              <a:rPr lang="en-US" sz="800">
                <a:solidFill>
                  <a:srgbClr val="333333"/>
                </a:solidFill>
                <a:ea typeface="+mn-lt"/>
                <a:cs typeface="+mn-lt"/>
              </a:rPr>
              <a:t>Analyzed different gripper types (mechanical, soft grippers, and vacuum-based systems).</a:t>
            </a:r>
            <a:endParaRPr lang="en-US"/>
          </a:p>
        </p:txBody>
      </p:sp>
      <p:sp>
        <p:nvSpPr>
          <p:cNvPr id="10" name="Text 7"/>
          <p:cNvSpPr/>
          <p:nvPr/>
        </p:nvSpPr>
        <p:spPr>
          <a:xfrm>
            <a:off x="428625" y="2246681"/>
            <a:ext cx="4036219" cy="372923"/>
          </a:xfrm>
          <a:prstGeom prst="rect">
            <a:avLst/>
          </a:prstGeom>
          <a:noFill/>
          <a:ln/>
        </p:spPr>
        <p:txBody>
          <a:bodyPr wrap="square" lIns="127508" tIns="127508" rIns="127508" bIns="127508" rtlCol="0" anchor="t">
            <a:spAutoFit/>
          </a:bodyPr>
          <a:lstStyle/>
          <a:p>
            <a:pPr>
              <a:lnSpc>
                <a:spcPts val="900"/>
              </a:lnSpc>
            </a:pPr>
            <a:endParaRPr lang="en-US" sz="800">
              <a:latin typeface="Aptos"/>
              <a:ea typeface="Inter"/>
              <a:cs typeface="Arial"/>
            </a:endParaRPr>
          </a:p>
        </p:txBody>
      </p:sp>
      <p:sp>
        <p:nvSpPr>
          <p:cNvPr id="11" name="Text 8"/>
          <p:cNvSpPr/>
          <p:nvPr/>
        </p:nvSpPr>
        <p:spPr>
          <a:xfrm>
            <a:off x="428625" y="1712351"/>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12" name="Text 9"/>
          <p:cNvSpPr/>
          <p:nvPr/>
        </p:nvSpPr>
        <p:spPr>
          <a:xfrm>
            <a:off x="428625" y="1943798"/>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13" name="Shape 10"/>
          <p:cNvSpPr/>
          <p:nvPr/>
        </p:nvSpPr>
        <p:spPr>
          <a:xfrm>
            <a:off x="4679156" y="1292656"/>
            <a:ext cx="4036219" cy="312539"/>
          </a:xfrm>
          <a:prstGeom prst="rect">
            <a:avLst/>
          </a:prstGeom>
          <a:solidFill>
            <a:srgbClr val="000000"/>
          </a:solidFill>
          <a:ln/>
        </p:spPr>
        <p:txBody>
          <a:bodyPr/>
          <a:lstStyle/>
          <a:p>
            <a:endParaRPr lang="en-US"/>
          </a:p>
        </p:txBody>
      </p:sp>
      <p:sp>
        <p:nvSpPr>
          <p:cNvPr id="14" name="Shape 11"/>
          <p:cNvSpPr/>
          <p:nvPr/>
        </p:nvSpPr>
        <p:spPr>
          <a:xfrm>
            <a:off x="4679156" y="1292656"/>
            <a:ext cx="42863" cy="312539"/>
          </a:xfrm>
          <a:prstGeom prst="rect">
            <a:avLst/>
          </a:prstGeom>
          <a:solidFill>
            <a:srgbClr val="FF5722"/>
          </a:solidFill>
          <a:ln/>
        </p:spPr>
        <p:txBody>
          <a:bodyPr/>
          <a:lstStyle/>
          <a:p>
            <a:endParaRPr lang="en-US"/>
          </a:p>
        </p:txBody>
      </p:sp>
      <p:sp>
        <p:nvSpPr>
          <p:cNvPr id="15" name="Text 12"/>
          <p:cNvSpPr/>
          <p:nvPr/>
        </p:nvSpPr>
        <p:spPr>
          <a:xfrm>
            <a:off x="4679156" y="1292656"/>
            <a:ext cx="4036219" cy="312539"/>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IN PROGRESS</a:t>
            </a:r>
            <a:endParaRPr lang="en-US" sz="885"/>
          </a:p>
        </p:txBody>
      </p:sp>
      <p:sp>
        <p:nvSpPr>
          <p:cNvPr id="16" name="Text 13"/>
          <p:cNvSpPr/>
          <p:nvPr/>
        </p:nvSpPr>
        <p:spPr>
          <a:xfrm>
            <a:off x="4559539" y="1703490"/>
            <a:ext cx="4278607" cy="318870"/>
          </a:xfrm>
          <a:prstGeom prst="rect">
            <a:avLst/>
          </a:prstGeom>
          <a:noFill/>
          <a:ln/>
        </p:spPr>
        <p:txBody>
          <a:bodyPr wrap="none" lIns="170053" tIns="0" rIns="0" bIns="0" rtlCol="0" anchor="t">
            <a:spAutoFit/>
          </a:bodyPr>
          <a:lstStyle/>
          <a:p>
            <a:pPr>
              <a:lnSpc>
                <a:spcPts val="1300"/>
              </a:lnSpc>
            </a:pPr>
            <a:r>
              <a:rPr lang="en-US" sz="800">
                <a:solidFill>
                  <a:schemeClr val="accent2"/>
                </a:solidFill>
                <a:ea typeface="+mn-lt"/>
                <a:cs typeface="+mn-lt"/>
              </a:rPr>
              <a:t>• </a:t>
            </a:r>
            <a:r>
              <a:rPr lang="en-US" sz="800">
                <a:solidFill>
                  <a:srgbClr val="333333"/>
                </a:solidFill>
                <a:ea typeface="+mn-lt"/>
                <a:cs typeface="+mn-lt"/>
              </a:rPr>
              <a:t>Selecting the most suitable gripper design based on object shape, weight, and fragility</a:t>
            </a:r>
            <a:br>
              <a:rPr lang="en-US" sz="800">
                <a:solidFill>
                  <a:srgbClr val="333333"/>
                </a:solidFill>
                <a:ea typeface="+mn-lt"/>
                <a:cs typeface="+mn-lt"/>
              </a:rPr>
            </a:br>
            <a:r>
              <a:rPr lang="en-US" sz="800">
                <a:solidFill>
                  <a:schemeClr val="accent2"/>
                </a:solidFill>
                <a:ea typeface="+mn-lt"/>
                <a:cs typeface="+mn-lt"/>
              </a:rPr>
              <a:t> •</a:t>
            </a:r>
            <a:r>
              <a:rPr lang="en-US" sz="800">
                <a:solidFill>
                  <a:srgbClr val="333333"/>
                </a:solidFill>
                <a:ea typeface="+mn-lt"/>
                <a:cs typeface="+mn-lt"/>
              </a:rPr>
              <a:t> Studying methods to control gripping force to ensure safe handling of delicate objects (e.g., egg)</a:t>
            </a:r>
            <a:endParaRPr lang="en-US"/>
          </a:p>
        </p:txBody>
      </p:sp>
      <p:sp>
        <p:nvSpPr>
          <p:cNvPr id="19" name="Text 16"/>
          <p:cNvSpPr/>
          <p:nvPr/>
        </p:nvSpPr>
        <p:spPr>
          <a:xfrm>
            <a:off x="4679156" y="1943798"/>
            <a:ext cx="65" cy="150426"/>
          </a:xfrm>
          <a:prstGeom prst="rect">
            <a:avLst/>
          </a:prstGeom>
          <a:noFill/>
          <a:ln/>
        </p:spPr>
        <p:txBody>
          <a:bodyPr wrap="none" lIns="0" tIns="0" rIns="0" bIns="0" rtlCol="0" anchor="t">
            <a:spAutoFit/>
          </a:bodyPr>
          <a:lstStyle/>
          <a:p>
            <a:pPr marL="0" indent="0" algn="l">
              <a:lnSpc>
                <a:spcPts val="1300"/>
              </a:lnSpc>
              <a:buNone/>
            </a:pPr>
            <a:endParaRPr lang="en-US" sz="750" b="1">
              <a:solidFill>
                <a:srgbClr val="FF5722"/>
              </a:solidFill>
              <a:latin typeface="Inter"/>
              <a:ea typeface="Calibri"/>
              <a:cs typeface="Calibri"/>
            </a:endParaRPr>
          </a:p>
        </p:txBody>
      </p:sp>
      <p:sp>
        <p:nvSpPr>
          <p:cNvPr id="20" name="Shape 17"/>
          <p:cNvSpPr/>
          <p:nvPr/>
        </p:nvSpPr>
        <p:spPr>
          <a:xfrm>
            <a:off x="428625" y="3600255"/>
            <a:ext cx="4036219" cy="312539"/>
          </a:xfrm>
          <a:prstGeom prst="rect">
            <a:avLst/>
          </a:prstGeom>
          <a:solidFill>
            <a:srgbClr val="000000"/>
          </a:solidFill>
          <a:ln/>
        </p:spPr>
        <p:txBody>
          <a:bodyPr/>
          <a:lstStyle/>
          <a:p>
            <a:endParaRPr lang="en-US"/>
          </a:p>
        </p:txBody>
      </p:sp>
      <p:sp>
        <p:nvSpPr>
          <p:cNvPr id="21" name="Shape 18"/>
          <p:cNvSpPr/>
          <p:nvPr/>
        </p:nvSpPr>
        <p:spPr>
          <a:xfrm>
            <a:off x="428625" y="3600255"/>
            <a:ext cx="42863" cy="312539"/>
          </a:xfrm>
          <a:prstGeom prst="rect">
            <a:avLst/>
          </a:prstGeom>
          <a:solidFill>
            <a:srgbClr val="FF5722"/>
          </a:solidFill>
          <a:ln/>
        </p:spPr>
        <p:txBody>
          <a:bodyPr/>
          <a:lstStyle/>
          <a:p>
            <a:endParaRPr lang="en-US"/>
          </a:p>
        </p:txBody>
      </p:sp>
      <p:sp>
        <p:nvSpPr>
          <p:cNvPr id="22" name="Text 19"/>
          <p:cNvSpPr/>
          <p:nvPr/>
        </p:nvSpPr>
        <p:spPr>
          <a:xfrm>
            <a:off x="428625" y="3600255"/>
            <a:ext cx="4036219" cy="312539"/>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NEXT WEEK PLAN</a:t>
            </a:r>
            <a:endParaRPr lang="en-US" sz="885"/>
          </a:p>
        </p:txBody>
      </p:sp>
      <p:sp>
        <p:nvSpPr>
          <p:cNvPr id="23" name="Text 20"/>
          <p:cNvSpPr/>
          <p:nvPr/>
        </p:nvSpPr>
        <p:spPr>
          <a:xfrm>
            <a:off x="428625" y="4019950"/>
            <a:ext cx="2447978" cy="318870"/>
          </a:xfrm>
          <a:prstGeom prst="rect">
            <a:avLst/>
          </a:prstGeom>
          <a:noFill/>
          <a:ln/>
        </p:spPr>
        <p:txBody>
          <a:bodyPr wrap="none" lIns="170053" tIns="0" rIns="0" bIns="0" rtlCol="0" anchor="t">
            <a:spAutoFit/>
          </a:bodyPr>
          <a:lstStyle/>
          <a:p>
            <a:pPr>
              <a:lnSpc>
                <a:spcPts val="1300"/>
              </a:lnSpc>
            </a:pPr>
            <a:r>
              <a:rPr lang="en-US" sz="800">
                <a:solidFill>
                  <a:srgbClr val="333333"/>
                </a:solidFill>
                <a:ea typeface="+mn-lt"/>
                <a:cs typeface="+mn-lt"/>
              </a:rPr>
              <a:t>Finalize the gripper design and add it to the CAD model</a:t>
            </a:r>
            <a:br>
              <a:rPr lang="en-US" sz="800">
                <a:solidFill>
                  <a:srgbClr val="333333"/>
                </a:solidFill>
                <a:ea typeface="+mn-lt"/>
                <a:cs typeface="+mn-lt"/>
              </a:rPr>
            </a:br>
            <a:endParaRPr lang="en-US" sz="800">
              <a:solidFill>
                <a:srgbClr val="333333"/>
              </a:solidFill>
              <a:ea typeface="+mn-lt"/>
              <a:cs typeface="+mn-lt"/>
            </a:endParaRPr>
          </a:p>
        </p:txBody>
      </p:sp>
      <p:sp>
        <p:nvSpPr>
          <p:cNvPr id="24" name="Text 21"/>
          <p:cNvSpPr/>
          <p:nvPr/>
        </p:nvSpPr>
        <p:spPr>
          <a:xfrm>
            <a:off x="428625" y="4251396"/>
            <a:ext cx="2765372" cy="152158"/>
          </a:xfrm>
          <a:prstGeom prst="rect">
            <a:avLst/>
          </a:prstGeom>
          <a:noFill/>
          <a:ln/>
        </p:spPr>
        <p:txBody>
          <a:bodyPr wrap="none" lIns="170053" tIns="0" rIns="0" bIns="0" rtlCol="0" anchor="t">
            <a:spAutoFit/>
          </a:bodyPr>
          <a:lstStyle/>
          <a:p>
            <a:pPr>
              <a:lnSpc>
                <a:spcPts val="1300"/>
              </a:lnSpc>
            </a:pPr>
            <a:r>
              <a:rPr lang="en-US" sz="800">
                <a:solidFill>
                  <a:srgbClr val="333333"/>
                </a:solidFill>
                <a:ea typeface="+mn-lt"/>
                <a:cs typeface="+mn-lt"/>
              </a:rPr>
              <a:t>Begin testing basic gripping concepts using a simple prototype</a:t>
            </a:r>
            <a:endParaRPr lang="en-US"/>
          </a:p>
        </p:txBody>
      </p:sp>
      <p:sp>
        <p:nvSpPr>
          <p:cNvPr id="25" name="Text 22"/>
          <p:cNvSpPr/>
          <p:nvPr/>
        </p:nvSpPr>
        <p:spPr>
          <a:xfrm>
            <a:off x="428625" y="4019950"/>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26" name="Text 23"/>
          <p:cNvSpPr/>
          <p:nvPr/>
        </p:nvSpPr>
        <p:spPr>
          <a:xfrm>
            <a:off x="428625" y="4251396"/>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27" name="Shape 24"/>
          <p:cNvSpPr/>
          <p:nvPr/>
        </p:nvSpPr>
        <p:spPr>
          <a:xfrm>
            <a:off x="4679156" y="3600255"/>
            <a:ext cx="4036219" cy="312539"/>
          </a:xfrm>
          <a:prstGeom prst="rect">
            <a:avLst/>
          </a:prstGeom>
          <a:solidFill>
            <a:srgbClr val="000000"/>
          </a:solidFill>
          <a:ln/>
        </p:spPr>
        <p:txBody>
          <a:bodyPr/>
          <a:lstStyle/>
          <a:p>
            <a:endParaRPr lang="en-US"/>
          </a:p>
        </p:txBody>
      </p:sp>
      <p:sp>
        <p:nvSpPr>
          <p:cNvPr id="28" name="Shape 25"/>
          <p:cNvSpPr/>
          <p:nvPr/>
        </p:nvSpPr>
        <p:spPr>
          <a:xfrm>
            <a:off x="4679156" y="3600255"/>
            <a:ext cx="42863" cy="312539"/>
          </a:xfrm>
          <a:prstGeom prst="rect">
            <a:avLst/>
          </a:prstGeom>
          <a:solidFill>
            <a:srgbClr val="FF5722"/>
          </a:solidFill>
          <a:ln/>
        </p:spPr>
        <p:txBody>
          <a:bodyPr/>
          <a:lstStyle/>
          <a:p>
            <a:endParaRPr lang="en-US"/>
          </a:p>
        </p:txBody>
      </p:sp>
      <p:sp>
        <p:nvSpPr>
          <p:cNvPr id="29" name="Text 26"/>
          <p:cNvSpPr/>
          <p:nvPr/>
        </p:nvSpPr>
        <p:spPr>
          <a:xfrm>
            <a:off x="4679156" y="3600255"/>
            <a:ext cx="4036219" cy="312539"/>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HELP NEEDED / QUESTIONS</a:t>
            </a:r>
            <a:endParaRPr lang="en-US" sz="885"/>
          </a:p>
        </p:txBody>
      </p:sp>
      <p:sp>
        <p:nvSpPr>
          <p:cNvPr id="30" name="Text 27"/>
          <p:cNvSpPr/>
          <p:nvPr/>
        </p:nvSpPr>
        <p:spPr>
          <a:xfrm>
            <a:off x="4679156" y="4019950"/>
            <a:ext cx="171778" cy="152158"/>
          </a:xfrm>
          <a:prstGeom prst="rect">
            <a:avLst/>
          </a:prstGeom>
          <a:noFill/>
          <a:ln/>
        </p:spPr>
        <p:txBody>
          <a:bodyPr wrap="none" lIns="170053" tIns="0" rIns="0" bIns="0" rtlCol="0" anchor="t">
            <a:spAutoFit/>
          </a:bodyPr>
          <a:lstStyle/>
          <a:p>
            <a:pPr>
              <a:lnSpc>
                <a:spcPts val="1300"/>
              </a:lnSpc>
            </a:pPr>
            <a:endParaRPr lang="en-US" sz="800">
              <a:solidFill>
                <a:srgbClr val="333333"/>
              </a:solidFill>
              <a:latin typeface="Inter"/>
            </a:endParaRPr>
          </a:p>
        </p:txBody>
      </p:sp>
      <p:sp>
        <p:nvSpPr>
          <p:cNvPr id="31" name="Text 28"/>
          <p:cNvSpPr/>
          <p:nvPr/>
        </p:nvSpPr>
        <p:spPr>
          <a:xfrm>
            <a:off x="4679156" y="4251396"/>
            <a:ext cx="171778" cy="152158"/>
          </a:xfrm>
          <a:prstGeom prst="rect">
            <a:avLst/>
          </a:prstGeom>
          <a:noFill/>
          <a:ln/>
        </p:spPr>
        <p:txBody>
          <a:bodyPr wrap="none" lIns="170053" tIns="0" rIns="0" bIns="0" rtlCol="0" anchor="t">
            <a:spAutoFit/>
          </a:bodyPr>
          <a:lstStyle/>
          <a:p>
            <a:pPr marL="0" indent="0" algn="l">
              <a:lnSpc>
                <a:spcPts val="1300"/>
              </a:lnSpc>
              <a:buNone/>
            </a:pPr>
            <a:endParaRPr lang="en-US" sz="800">
              <a:solidFill>
                <a:srgbClr val="333333"/>
              </a:solidFill>
              <a:latin typeface="Inter"/>
            </a:endParaRPr>
          </a:p>
        </p:txBody>
      </p:sp>
      <p:sp>
        <p:nvSpPr>
          <p:cNvPr id="32" name="Text 29"/>
          <p:cNvSpPr/>
          <p:nvPr/>
        </p:nvSpPr>
        <p:spPr>
          <a:xfrm>
            <a:off x="4679156" y="4019950"/>
            <a:ext cx="53578" cy="159981"/>
          </a:xfrm>
          <a:prstGeom prst="rect">
            <a:avLst/>
          </a:prstGeom>
          <a:noFill/>
          <a:ln/>
        </p:spPr>
        <p:txBody>
          <a:bodyPr wrap="none" lIns="0" tIns="0" rIns="0" bIns="0" rtlCol="0" anchor="t">
            <a:spAutoFit/>
          </a:bodyPr>
          <a:lstStyle/>
          <a:p>
            <a:pPr marL="0" indent="0" algn="l">
              <a:lnSpc>
                <a:spcPts val="1300"/>
              </a:lnSpc>
              <a:buNone/>
            </a:pPr>
            <a:r>
              <a:rPr lang="en-US" sz="784" b="1">
                <a:solidFill>
                  <a:srgbClr val="FF5722"/>
                </a:solidFill>
                <a:latin typeface="Inter" pitchFamily="34" charset="0"/>
                <a:ea typeface="Inter" pitchFamily="34" charset="-122"/>
                <a:cs typeface="Inter" pitchFamily="34" charset="-120"/>
              </a:rPr>
              <a:t>•</a:t>
            </a:r>
            <a:endParaRPr lang="en-US" sz="784"/>
          </a:p>
        </p:txBody>
      </p:sp>
      <p:sp>
        <p:nvSpPr>
          <p:cNvPr id="33" name="Text 30"/>
          <p:cNvSpPr/>
          <p:nvPr/>
        </p:nvSpPr>
        <p:spPr>
          <a:xfrm>
            <a:off x="4679156" y="4251396"/>
            <a:ext cx="65" cy="150426"/>
          </a:xfrm>
          <a:prstGeom prst="rect">
            <a:avLst/>
          </a:prstGeom>
          <a:noFill/>
          <a:ln/>
        </p:spPr>
        <p:txBody>
          <a:bodyPr wrap="none" lIns="0" tIns="0" rIns="0" bIns="0" rtlCol="0" anchor="t">
            <a:spAutoFit/>
          </a:bodyPr>
          <a:lstStyle/>
          <a:p>
            <a:pPr marL="0" indent="0" algn="l">
              <a:lnSpc>
                <a:spcPts val="1300"/>
              </a:lnSpc>
              <a:buNone/>
            </a:pPr>
            <a:endParaRPr lang="en-US" sz="750" b="1">
              <a:solidFill>
                <a:srgbClr val="FF5722"/>
              </a:solidFill>
              <a:latin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42876" y="0"/>
            <a:ext cx="9286875" cy="5143500"/>
          </a:xfrm>
          <a:prstGeom prst="rect">
            <a:avLst/>
          </a:prstGeom>
        </p:spPr>
      </p:pic>
      <p:sp>
        <p:nvSpPr>
          <p:cNvPr id="3" name="Text 0"/>
          <p:cNvSpPr/>
          <p:nvPr/>
        </p:nvSpPr>
        <p:spPr>
          <a:xfrm>
            <a:off x="428625" y="665792"/>
            <a:ext cx="8286750" cy="753666"/>
          </a:xfrm>
          <a:prstGeom prst="rect">
            <a:avLst/>
          </a:prstGeom>
          <a:noFill/>
          <a:ln/>
        </p:spPr>
        <p:txBody>
          <a:bodyPr wrap="square" lIns="0" tIns="0" rIns="0" bIns="0" rtlCol="0" anchor="t">
            <a:spAutoFit/>
          </a:bodyPr>
          <a:lstStyle/>
          <a:p>
            <a:pPr marL="0" indent="0" algn="l">
              <a:lnSpc>
                <a:spcPts val="2700"/>
              </a:lnSpc>
              <a:buNone/>
            </a:pPr>
            <a:r>
              <a:rPr lang="en-US" sz="2016" b="1">
                <a:solidFill>
                  <a:srgbClr val="000000"/>
                </a:solidFill>
                <a:latin typeface="Roboto Mono" pitchFamily="34" charset="0"/>
                <a:ea typeface="Roboto Mono" pitchFamily="34" charset="-122"/>
                <a:cs typeface="Roboto Mono" pitchFamily="34" charset="-120"/>
              </a:rPr>
              <a:t>WRAP-UP: WHAT WE NEED FROM THE INSTRUCTOR / STAKEHOLDERS</a:t>
            </a:r>
            <a:endParaRPr lang="en-US" sz="2016"/>
          </a:p>
        </p:txBody>
      </p:sp>
      <p:sp>
        <p:nvSpPr>
          <p:cNvPr id="4" name="Shape 1"/>
          <p:cNvSpPr/>
          <p:nvPr/>
        </p:nvSpPr>
        <p:spPr>
          <a:xfrm>
            <a:off x="428625" y="1669489"/>
            <a:ext cx="4000500" cy="312539"/>
          </a:xfrm>
          <a:prstGeom prst="rect">
            <a:avLst/>
          </a:prstGeom>
          <a:solidFill>
            <a:srgbClr val="000000"/>
          </a:solidFill>
          <a:ln/>
        </p:spPr>
        <p:txBody>
          <a:bodyPr/>
          <a:lstStyle/>
          <a:p>
            <a:endParaRPr lang="en-US"/>
          </a:p>
        </p:txBody>
      </p:sp>
      <p:sp>
        <p:nvSpPr>
          <p:cNvPr id="5" name="Shape 2"/>
          <p:cNvSpPr/>
          <p:nvPr/>
        </p:nvSpPr>
        <p:spPr>
          <a:xfrm>
            <a:off x="428625" y="1669489"/>
            <a:ext cx="42863" cy="312539"/>
          </a:xfrm>
          <a:prstGeom prst="rect">
            <a:avLst/>
          </a:prstGeom>
          <a:solidFill>
            <a:srgbClr val="FF5722"/>
          </a:solidFill>
          <a:ln/>
        </p:spPr>
        <p:txBody>
          <a:bodyPr/>
          <a:lstStyle/>
          <a:p>
            <a:endParaRPr lang="en-US"/>
          </a:p>
        </p:txBody>
      </p:sp>
      <p:sp>
        <p:nvSpPr>
          <p:cNvPr id="6" name="Text 3"/>
          <p:cNvSpPr/>
          <p:nvPr/>
        </p:nvSpPr>
        <p:spPr>
          <a:xfrm>
            <a:off x="428625" y="1669489"/>
            <a:ext cx="4000500" cy="312539"/>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DECISIONS REQUESTED</a:t>
            </a:r>
            <a:endParaRPr lang="en-US" sz="885"/>
          </a:p>
        </p:txBody>
      </p:sp>
      <p:sp>
        <p:nvSpPr>
          <p:cNvPr id="8" name="Text 5"/>
          <p:cNvSpPr/>
          <p:nvPr/>
        </p:nvSpPr>
        <p:spPr>
          <a:xfrm>
            <a:off x="428625" y="2553528"/>
            <a:ext cx="4000500" cy="161776"/>
          </a:xfrm>
          <a:prstGeom prst="rect">
            <a:avLst/>
          </a:prstGeom>
          <a:noFill/>
          <a:ln/>
        </p:spPr>
        <p:txBody>
          <a:bodyPr wrap="square" lIns="170053" tIns="0" rIns="0" bIns="0" rtlCol="0" anchor="t">
            <a:spAutoFit/>
          </a:bodyPr>
          <a:lstStyle/>
          <a:p>
            <a:pPr marL="0" indent="0" algn="l">
              <a:lnSpc>
                <a:spcPts val="1400"/>
              </a:lnSpc>
              <a:buNone/>
            </a:pPr>
            <a:endParaRPr lang="en-US" sz="800">
              <a:solidFill>
                <a:srgbClr val="333333"/>
              </a:solidFill>
              <a:latin typeface="Inter"/>
            </a:endParaRPr>
          </a:p>
        </p:txBody>
      </p:sp>
      <p:sp>
        <p:nvSpPr>
          <p:cNvPr id="9" name="Shape 6"/>
          <p:cNvSpPr/>
          <p:nvPr/>
        </p:nvSpPr>
        <p:spPr>
          <a:xfrm>
            <a:off x="428625" y="3196465"/>
            <a:ext cx="4000500" cy="312539"/>
          </a:xfrm>
          <a:prstGeom prst="rect">
            <a:avLst/>
          </a:prstGeom>
          <a:solidFill>
            <a:srgbClr val="000000"/>
          </a:solidFill>
          <a:ln/>
        </p:spPr>
        <p:txBody>
          <a:bodyPr/>
          <a:lstStyle/>
          <a:p>
            <a:endParaRPr lang="en-US"/>
          </a:p>
        </p:txBody>
      </p:sp>
      <p:sp>
        <p:nvSpPr>
          <p:cNvPr id="10" name="Shape 7"/>
          <p:cNvSpPr/>
          <p:nvPr/>
        </p:nvSpPr>
        <p:spPr>
          <a:xfrm>
            <a:off x="428625" y="3196465"/>
            <a:ext cx="42863" cy="312539"/>
          </a:xfrm>
          <a:prstGeom prst="rect">
            <a:avLst/>
          </a:prstGeom>
          <a:solidFill>
            <a:srgbClr val="FF5722"/>
          </a:solidFill>
          <a:ln/>
        </p:spPr>
        <p:txBody>
          <a:bodyPr/>
          <a:lstStyle/>
          <a:p>
            <a:endParaRPr lang="en-US"/>
          </a:p>
        </p:txBody>
      </p:sp>
      <p:sp>
        <p:nvSpPr>
          <p:cNvPr id="11" name="Text 8"/>
          <p:cNvSpPr/>
          <p:nvPr/>
        </p:nvSpPr>
        <p:spPr>
          <a:xfrm>
            <a:off x="428625" y="3196465"/>
            <a:ext cx="4000500" cy="312539"/>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QUESTIONS / FEEDBACK</a:t>
            </a:r>
            <a:endParaRPr lang="en-US" sz="885"/>
          </a:p>
        </p:txBody>
      </p:sp>
      <p:sp>
        <p:nvSpPr>
          <p:cNvPr id="18" name="Shape 15"/>
          <p:cNvSpPr/>
          <p:nvPr/>
        </p:nvSpPr>
        <p:spPr>
          <a:xfrm>
            <a:off x="4714875" y="1669489"/>
            <a:ext cx="4000500" cy="312539"/>
          </a:xfrm>
          <a:prstGeom prst="rect">
            <a:avLst/>
          </a:prstGeom>
          <a:solidFill>
            <a:srgbClr val="000000"/>
          </a:solidFill>
          <a:ln/>
        </p:spPr>
        <p:txBody>
          <a:bodyPr/>
          <a:lstStyle/>
          <a:p>
            <a:endParaRPr lang="en-US"/>
          </a:p>
        </p:txBody>
      </p:sp>
      <p:sp>
        <p:nvSpPr>
          <p:cNvPr id="19" name="Shape 16"/>
          <p:cNvSpPr/>
          <p:nvPr/>
        </p:nvSpPr>
        <p:spPr>
          <a:xfrm>
            <a:off x="4714875" y="1669489"/>
            <a:ext cx="42863" cy="312539"/>
          </a:xfrm>
          <a:prstGeom prst="rect">
            <a:avLst/>
          </a:prstGeom>
          <a:solidFill>
            <a:srgbClr val="FF5722"/>
          </a:solidFill>
          <a:ln/>
        </p:spPr>
        <p:txBody>
          <a:bodyPr/>
          <a:lstStyle/>
          <a:p>
            <a:endParaRPr lang="en-US"/>
          </a:p>
        </p:txBody>
      </p:sp>
      <p:sp>
        <p:nvSpPr>
          <p:cNvPr id="20" name="Text 17"/>
          <p:cNvSpPr/>
          <p:nvPr/>
        </p:nvSpPr>
        <p:spPr>
          <a:xfrm>
            <a:off x="4714875" y="1669489"/>
            <a:ext cx="4000500" cy="312539"/>
          </a:xfrm>
          <a:prstGeom prst="rect">
            <a:avLst/>
          </a:prstGeom>
          <a:noFill/>
          <a:ln/>
        </p:spPr>
        <p:txBody>
          <a:bodyPr wrap="square" lIns="127508" tIns="85090" rIns="127508" bIns="85090" rtlCol="0" anchor="t">
            <a:spAutoFit/>
          </a:bodyPr>
          <a:lstStyle/>
          <a:p>
            <a:pPr marL="0" indent="0" algn="l">
              <a:lnSpc>
                <a:spcPts val="1200"/>
              </a:lnSpc>
              <a:buNone/>
            </a:pPr>
            <a:r>
              <a:rPr lang="en-US" sz="885" b="1">
                <a:solidFill>
                  <a:srgbClr val="FFFFFF"/>
                </a:solidFill>
                <a:latin typeface="Roboto Mono" pitchFamily="34" charset="0"/>
                <a:ea typeface="Roboto Mono" pitchFamily="34" charset="-122"/>
                <a:cs typeface="Roboto Mono" pitchFamily="34" charset="-120"/>
              </a:rPr>
              <a:t>ACTION ITEMS FOLLOW-UP</a:t>
            </a:r>
            <a:endParaRPr lang="en-US" sz="885"/>
          </a:p>
        </p:txBody>
      </p:sp>
      <p:sp>
        <p:nvSpPr>
          <p:cNvPr id="23" name="Text 20"/>
          <p:cNvSpPr/>
          <p:nvPr/>
        </p:nvSpPr>
        <p:spPr>
          <a:xfrm>
            <a:off x="4714875" y="2639253"/>
            <a:ext cx="171778" cy="161776"/>
          </a:xfrm>
          <a:prstGeom prst="rect">
            <a:avLst/>
          </a:prstGeom>
          <a:noFill/>
          <a:ln/>
        </p:spPr>
        <p:txBody>
          <a:bodyPr wrap="none" lIns="170053" tIns="0" rIns="0" bIns="0" rtlCol="0" anchor="t">
            <a:spAutoFit/>
          </a:bodyPr>
          <a:lstStyle/>
          <a:p>
            <a:pPr marL="0" indent="0" algn="l">
              <a:lnSpc>
                <a:spcPts val="1400"/>
              </a:lnSpc>
              <a:buNone/>
            </a:pPr>
            <a:endParaRPr lang="en-US" sz="800">
              <a:solidFill>
                <a:srgbClr val="333333"/>
              </a:solidFill>
              <a:latin typeface="Inter"/>
            </a:endParaRPr>
          </a:p>
        </p:txBody>
      </p:sp>
      <p:sp>
        <p:nvSpPr>
          <p:cNvPr id="24" name="Shape 21"/>
          <p:cNvSpPr/>
          <p:nvPr/>
        </p:nvSpPr>
        <p:spPr>
          <a:xfrm>
            <a:off x="4714875" y="3568303"/>
            <a:ext cx="4000500" cy="1289447"/>
          </a:xfrm>
          <a:prstGeom prst="rect">
            <a:avLst/>
          </a:prstGeom>
          <a:solidFill>
            <a:srgbClr val="F9F9F9"/>
          </a:solidFill>
          <a:ln/>
        </p:spPr>
        <p:txBody>
          <a:bodyPr/>
          <a:lstStyle/>
          <a:p>
            <a:endParaRPr lang="en-US"/>
          </a:p>
        </p:txBody>
      </p:sp>
      <p:sp>
        <p:nvSpPr>
          <p:cNvPr id="25" name="Shape 22"/>
          <p:cNvSpPr/>
          <p:nvPr/>
        </p:nvSpPr>
        <p:spPr>
          <a:xfrm>
            <a:off x="4714875" y="3568303"/>
            <a:ext cx="4000500" cy="28575"/>
          </a:xfrm>
          <a:prstGeom prst="rect">
            <a:avLst/>
          </a:prstGeom>
          <a:solidFill>
            <a:srgbClr val="000000"/>
          </a:solidFill>
          <a:ln/>
        </p:spPr>
        <p:txBody>
          <a:bodyPr/>
          <a:lstStyle/>
          <a:p>
            <a:endParaRPr lang="en-US"/>
          </a:p>
        </p:txBody>
      </p:sp>
      <p:sp>
        <p:nvSpPr>
          <p:cNvPr id="29" name="Text 26"/>
          <p:cNvSpPr/>
          <p:nvPr/>
        </p:nvSpPr>
        <p:spPr>
          <a:xfrm>
            <a:off x="4857750" y="3739753"/>
            <a:ext cx="476092" cy="109389"/>
          </a:xfrm>
          <a:prstGeom prst="rect">
            <a:avLst/>
          </a:prstGeom>
          <a:noFill/>
          <a:ln/>
        </p:spPr>
        <p:txBody>
          <a:bodyPr wrap="none" lIns="0" tIns="0" rIns="0" bIns="0" rtlCol="0" anchor="t">
            <a:spAutoFit/>
          </a:bodyPr>
          <a:lstStyle/>
          <a:p>
            <a:pPr marL="0" indent="0" algn="l">
              <a:lnSpc>
                <a:spcPts val="900"/>
              </a:lnSpc>
              <a:buNone/>
            </a:pPr>
            <a:r>
              <a:rPr lang="en-US" sz="683" b="1">
                <a:solidFill>
                  <a:srgbClr val="666666"/>
                </a:solidFill>
                <a:latin typeface="Roboto Mono" pitchFamily="34" charset="0"/>
                <a:ea typeface="Roboto Mono" pitchFamily="34" charset="-122"/>
                <a:cs typeface="Roboto Mono" pitchFamily="34" charset="-120"/>
              </a:rPr>
              <a:t>APPENDIX </a:t>
            </a:r>
            <a:endParaRPr lang="en-US" sz="683"/>
          </a:p>
        </p:txBody>
      </p:sp>
      <p:sp>
        <p:nvSpPr>
          <p:cNvPr id="30" name="Text 27"/>
          <p:cNvSpPr/>
          <p:nvPr/>
        </p:nvSpPr>
        <p:spPr>
          <a:xfrm>
            <a:off x="4857750" y="3943350"/>
            <a:ext cx="171778" cy="161776"/>
          </a:xfrm>
          <a:prstGeom prst="rect">
            <a:avLst/>
          </a:prstGeom>
          <a:noFill/>
          <a:ln/>
        </p:spPr>
        <p:txBody>
          <a:bodyPr wrap="none" lIns="170053" tIns="0" rIns="0" bIns="0" rtlCol="0" anchor="t">
            <a:spAutoFit/>
          </a:bodyPr>
          <a:lstStyle/>
          <a:p>
            <a:pPr>
              <a:lnSpc>
                <a:spcPts val="1400"/>
              </a:lnSpc>
            </a:pPr>
            <a:endParaRPr lang="en-US" sz="800">
              <a:solidFill>
                <a:srgbClr val="333333"/>
              </a:solidFill>
              <a:latin typeface="Inter"/>
            </a:endParaRPr>
          </a:p>
        </p:txBody>
      </p:sp>
      <p:sp>
        <p:nvSpPr>
          <p:cNvPr id="31" name="Text 28"/>
          <p:cNvSpPr/>
          <p:nvPr/>
        </p:nvSpPr>
        <p:spPr>
          <a:xfrm>
            <a:off x="4857750" y="4200525"/>
            <a:ext cx="171778" cy="161776"/>
          </a:xfrm>
          <a:prstGeom prst="rect">
            <a:avLst/>
          </a:prstGeom>
          <a:noFill/>
          <a:ln/>
        </p:spPr>
        <p:txBody>
          <a:bodyPr wrap="none" lIns="170053" tIns="0" rIns="0" bIns="0" rtlCol="0" anchor="t">
            <a:spAutoFit/>
          </a:bodyPr>
          <a:lstStyle/>
          <a:p>
            <a:pPr marL="0" indent="0" algn="l">
              <a:lnSpc>
                <a:spcPts val="1400"/>
              </a:lnSpc>
              <a:buNone/>
            </a:pPr>
            <a:endParaRPr lang="en-US" sz="800">
              <a:solidFill>
                <a:srgbClr val="333333"/>
              </a:solidFill>
              <a:latin typeface="Inter"/>
            </a:endParaRPr>
          </a:p>
        </p:txBody>
      </p:sp>
      <p:sp>
        <p:nvSpPr>
          <p:cNvPr id="32" name="Text 29"/>
          <p:cNvSpPr/>
          <p:nvPr/>
        </p:nvSpPr>
        <p:spPr>
          <a:xfrm>
            <a:off x="4857750" y="4457700"/>
            <a:ext cx="171778" cy="161776"/>
          </a:xfrm>
          <a:prstGeom prst="rect">
            <a:avLst/>
          </a:prstGeom>
          <a:noFill/>
          <a:ln/>
        </p:spPr>
        <p:txBody>
          <a:bodyPr wrap="none" lIns="170053" tIns="0" rIns="0" bIns="0" rtlCol="0" anchor="t">
            <a:spAutoFit/>
          </a:bodyPr>
          <a:lstStyle/>
          <a:p>
            <a:pPr marL="0" indent="0" algn="l">
              <a:lnSpc>
                <a:spcPts val="1400"/>
              </a:lnSpc>
              <a:buNone/>
            </a:pPr>
            <a:endParaRPr lang="en-US" sz="800">
              <a:solidFill>
                <a:srgbClr val="333333"/>
              </a:solidFill>
              <a:latin typeface="Inter"/>
            </a:endParaRPr>
          </a:p>
        </p:txBody>
      </p:sp>
      <p:sp>
        <p:nvSpPr>
          <p:cNvPr id="33" name="Text 30"/>
          <p:cNvSpPr/>
          <p:nvPr/>
        </p:nvSpPr>
        <p:spPr>
          <a:xfrm>
            <a:off x="4857750" y="3943350"/>
            <a:ext cx="65" cy="161198"/>
          </a:xfrm>
          <a:prstGeom prst="rect">
            <a:avLst/>
          </a:prstGeom>
          <a:noFill/>
          <a:ln/>
        </p:spPr>
        <p:txBody>
          <a:bodyPr wrap="none" lIns="0" tIns="0" rIns="0" bIns="0" rtlCol="0" anchor="t">
            <a:spAutoFit/>
          </a:bodyPr>
          <a:lstStyle/>
          <a:p>
            <a:pPr marL="0" indent="0" algn="l">
              <a:lnSpc>
                <a:spcPts val="1400"/>
              </a:lnSpc>
              <a:buNone/>
            </a:pPr>
            <a:endParaRPr lang="en-US" sz="784" dirty="0"/>
          </a:p>
        </p:txBody>
      </p:sp>
      <p:sp>
        <p:nvSpPr>
          <p:cNvPr id="36" name="Text 27">
            <a:extLst>
              <a:ext uri="{FF2B5EF4-FFF2-40B4-BE49-F238E27FC236}">
                <a16:creationId xmlns:a16="http://schemas.microsoft.com/office/drawing/2014/main" id="{1AD73AC1-3C42-9F63-40ED-CF67B3D236FE}"/>
              </a:ext>
            </a:extLst>
          </p:cNvPr>
          <p:cNvSpPr/>
          <p:nvPr/>
        </p:nvSpPr>
        <p:spPr>
          <a:xfrm>
            <a:off x="4857750" y="4095750"/>
            <a:ext cx="171778" cy="161776"/>
          </a:xfrm>
          <a:prstGeom prst="rect">
            <a:avLst/>
          </a:prstGeom>
          <a:noFill/>
          <a:ln/>
        </p:spPr>
        <p:txBody>
          <a:bodyPr wrap="none" lIns="170053" tIns="0" rIns="0" bIns="0" rtlCol="0" anchor="t">
            <a:spAutoFit/>
          </a:bodyPr>
          <a:lstStyle/>
          <a:p>
            <a:pPr>
              <a:lnSpc>
                <a:spcPts val="1400"/>
              </a:lnSpc>
            </a:pPr>
            <a:endParaRPr lang="en-US" sz="800">
              <a:solidFill>
                <a:srgbClr val="333333"/>
              </a:solidFill>
              <a:latin typeface="Inter"/>
            </a:endParaRPr>
          </a:p>
        </p:txBody>
      </p:sp>
      <p:sp>
        <p:nvSpPr>
          <p:cNvPr id="37" name="Text 30">
            <a:extLst>
              <a:ext uri="{FF2B5EF4-FFF2-40B4-BE49-F238E27FC236}">
                <a16:creationId xmlns:a16="http://schemas.microsoft.com/office/drawing/2014/main" id="{0E96E905-36F9-C692-A9BB-2D2C4A18AEAA}"/>
              </a:ext>
            </a:extLst>
          </p:cNvPr>
          <p:cNvSpPr/>
          <p:nvPr/>
        </p:nvSpPr>
        <p:spPr>
          <a:xfrm>
            <a:off x="4857750" y="4095750"/>
            <a:ext cx="65" cy="161198"/>
          </a:xfrm>
          <a:prstGeom prst="rect">
            <a:avLst/>
          </a:prstGeom>
          <a:noFill/>
          <a:ln/>
        </p:spPr>
        <p:txBody>
          <a:bodyPr wrap="none" lIns="0" tIns="0" rIns="0" bIns="0" rtlCol="0" anchor="t">
            <a:spAutoFit/>
          </a:bodyPr>
          <a:lstStyle/>
          <a:p>
            <a:pPr marL="0" indent="0" algn="l">
              <a:lnSpc>
                <a:spcPts val="1400"/>
              </a:lnSpc>
              <a:buNone/>
            </a:pPr>
            <a:endParaRPr lang="en-US" sz="784" dirty="0"/>
          </a:p>
        </p:txBody>
      </p:sp>
      <p:sp>
        <p:nvSpPr>
          <p:cNvPr id="26" name="TextBox 25">
            <a:extLst>
              <a:ext uri="{FF2B5EF4-FFF2-40B4-BE49-F238E27FC236}">
                <a16:creationId xmlns:a16="http://schemas.microsoft.com/office/drawing/2014/main" id="{1A6FA2A9-625A-64C5-E8F2-89BCA962C13F}"/>
              </a:ext>
            </a:extLst>
          </p:cNvPr>
          <p:cNvSpPr txBox="1"/>
          <p:nvPr/>
        </p:nvSpPr>
        <p:spPr>
          <a:xfrm>
            <a:off x="425017" y="2024032"/>
            <a:ext cx="4000749" cy="954107"/>
          </a:xfrm>
          <a:prstGeom prst="rect">
            <a:avLst/>
          </a:prstGeom>
          <a:noFill/>
        </p:spPr>
        <p:txBody>
          <a:bodyPr wrap="square" lIns="91440" tIns="45720" rIns="91440" bIns="45720" rtlCol="0" anchor="t">
            <a:spAutoFit/>
          </a:bodyPr>
          <a:lstStyle/>
          <a:p>
            <a:pPr marL="171450" indent="-171450">
              <a:buClr>
                <a:schemeClr val="accent2"/>
              </a:buClr>
              <a:buFont typeface="Arial" panose="020B0604020202020204" pitchFamily="34" charset="0"/>
              <a:buChar char="•"/>
            </a:pPr>
            <a:r>
              <a:rPr lang="en-US" sz="800" dirty="0">
                <a:latin typeface="Calibri"/>
                <a:ea typeface="Calibri"/>
                <a:cs typeface="Calibri"/>
              </a:rPr>
              <a:t>Gripper design</a:t>
            </a:r>
          </a:p>
          <a:p>
            <a:pPr marL="171450" indent="-171450">
              <a:buClr>
                <a:schemeClr val="accent2"/>
              </a:buClr>
              <a:buFont typeface="Arial" panose="020B0604020202020204" pitchFamily="34" charset="0"/>
              <a:buChar char="•"/>
            </a:pPr>
            <a:endParaRPr lang="en-US" sz="800" dirty="0">
              <a:latin typeface="Calibri"/>
              <a:ea typeface="Calibri"/>
              <a:cs typeface="Calibri"/>
            </a:endParaRPr>
          </a:p>
          <a:p>
            <a:pPr marL="171450" indent="-171450">
              <a:buClr>
                <a:schemeClr val="accent2"/>
              </a:buClr>
              <a:buFont typeface="Arial" panose="020B0604020202020204" pitchFamily="34" charset="0"/>
              <a:buChar char="•"/>
            </a:pPr>
            <a:r>
              <a:rPr lang="en-US" sz="800" dirty="0">
                <a:latin typeface="Calibri"/>
                <a:ea typeface="Calibri"/>
                <a:cs typeface="Calibri"/>
              </a:rPr>
              <a:t>Pneumatic integration</a:t>
            </a:r>
          </a:p>
          <a:p>
            <a:pPr marL="171450" indent="-171450">
              <a:buClr>
                <a:schemeClr val="accent2"/>
              </a:buClr>
              <a:buFont typeface="Arial" panose="020B0604020202020204" pitchFamily="34" charset="0"/>
              <a:buChar char="•"/>
            </a:pPr>
            <a:endParaRPr lang="en-US" sz="800" dirty="0">
              <a:latin typeface="Calibri"/>
              <a:ea typeface="Calibri"/>
              <a:cs typeface="Calibri"/>
            </a:endParaRPr>
          </a:p>
          <a:p>
            <a:pPr marL="171450" indent="-171450">
              <a:buClr>
                <a:schemeClr val="accent2"/>
              </a:buClr>
              <a:buFont typeface="Arial" panose="020B0604020202020204" pitchFamily="34" charset="0"/>
              <a:buChar char="•"/>
            </a:pPr>
            <a:r>
              <a:rPr lang="en-US" sz="800" dirty="0">
                <a:latin typeface="Calibri"/>
                <a:ea typeface="Calibri"/>
                <a:cs typeface="Calibri"/>
              </a:rPr>
              <a:t>Exploring other required features such as a mobile robot and how this can be integrated</a:t>
            </a:r>
          </a:p>
          <a:p>
            <a:pPr marL="171450" indent="-171450">
              <a:buClr>
                <a:schemeClr val="accent2"/>
              </a:buClr>
              <a:buFont typeface="Arial" panose="020B0604020202020204" pitchFamily="34" charset="0"/>
              <a:buChar char="•"/>
            </a:pPr>
            <a:endParaRPr lang="en-US" sz="800" dirty="0">
              <a:latin typeface="Calibri"/>
              <a:ea typeface="Calibri"/>
              <a:cs typeface="Calibri"/>
            </a:endParaRPr>
          </a:p>
          <a:p>
            <a:pPr marL="171450" indent="-171450">
              <a:buClr>
                <a:schemeClr val="accent2"/>
              </a:buClr>
              <a:buFont typeface="Arial" panose="020B0604020202020204" pitchFamily="34" charset="0"/>
              <a:buChar char="•"/>
            </a:pPr>
            <a:endParaRPr lang="en-US" sz="800" dirty="0">
              <a:latin typeface="Calibri"/>
              <a:ea typeface="Calibri"/>
              <a:cs typeface="Calibri"/>
            </a:endParaRPr>
          </a:p>
        </p:txBody>
      </p:sp>
      <p:sp>
        <p:nvSpPr>
          <p:cNvPr id="27" name="TextBox 26">
            <a:extLst>
              <a:ext uri="{FF2B5EF4-FFF2-40B4-BE49-F238E27FC236}">
                <a16:creationId xmlns:a16="http://schemas.microsoft.com/office/drawing/2014/main" id="{BCCB6EAA-7561-9951-C6BC-26F7172DEBAF}"/>
              </a:ext>
            </a:extLst>
          </p:cNvPr>
          <p:cNvSpPr txBox="1"/>
          <p:nvPr/>
        </p:nvSpPr>
        <p:spPr>
          <a:xfrm>
            <a:off x="425016" y="3579003"/>
            <a:ext cx="4000749" cy="338554"/>
          </a:xfrm>
          <a:prstGeom prst="rect">
            <a:avLst/>
          </a:prstGeom>
          <a:noFill/>
        </p:spPr>
        <p:txBody>
          <a:bodyPr wrap="square" lIns="91440" tIns="45720" rIns="91440" bIns="45720" rtlCol="0" anchor="t">
            <a:spAutoFit/>
          </a:bodyPr>
          <a:lstStyle/>
          <a:p>
            <a:pPr marL="171450" indent="-171450">
              <a:buClr>
                <a:schemeClr val="accent2"/>
              </a:buClr>
              <a:buFont typeface="Arial" panose="020B0604020202020204" pitchFamily="34" charset="0"/>
              <a:buChar char="•"/>
            </a:pPr>
            <a:r>
              <a:rPr lang="en-US" sz="800" dirty="0">
                <a:latin typeface="Calibri"/>
                <a:ea typeface="Calibri"/>
                <a:cs typeface="Calibri"/>
              </a:rPr>
              <a:t> Could you guide us on inserts and threading's for 3D parts.  Is it necessary, if so, what is the best approach?  </a:t>
            </a:r>
          </a:p>
        </p:txBody>
      </p:sp>
      <p:sp>
        <p:nvSpPr>
          <p:cNvPr id="14" name="TextBox 13">
            <a:extLst>
              <a:ext uri="{FF2B5EF4-FFF2-40B4-BE49-F238E27FC236}">
                <a16:creationId xmlns:a16="http://schemas.microsoft.com/office/drawing/2014/main" id="{25EE179B-FA96-0A39-5947-0A2639E200FC}"/>
              </a:ext>
            </a:extLst>
          </p:cNvPr>
          <p:cNvSpPr txBox="1"/>
          <p:nvPr/>
        </p:nvSpPr>
        <p:spPr>
          <a:xfrm>
            <a:off x="4714875" y="2060943"/>
            <a:ext cx="4674636" cy="120032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Calibri"/>
                <a:ea typeface="Calibri"/>
                <a:cs typeface="Calibri"/>
              </a:rPr>
              <a:t>Gripper design</a:t>
            </a: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Calibri"/>
                <a:ea typeface="Calibri"/>
                <a:cs typeface="Calibri"/>
              </a:rPr>
              <a:t>Pneumatic integration</a:t>
            </a: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Calibri"/>
                <a:ea typeface="Calibri"/>
                <a:cs typeface="Calibri"/>
              </a:rPr>
              <a:t>Exploring other required features such as a mobile robot and how this can be integrated</a:t>
            </a: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r>
              <a:rPr lang="en-US" sz="800" dirty="0">
                <a:solidFill>
                  <a:prstClr val="black"/>
                </a:solidFill>
                <a:latin typeface="Calibri"/>
                <a:ea typeface="Calibri"/>
                <a:cs typeface="Calibri"/>
              </a:rPr>
              <a:t>Building on the computer vision model.</a:t>
            </a: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21" name="TextBox 20">
            <a:extLst>
              <a:ext uri="{FF2B5EF4-FFF2-40B4-BE49-F238E27FC236}">
                <a16:creationId xmlns:a16="http://schemas.microsoft.com/office/drawing/2014/main" id="{5E4EDFC8-AB22-910B-6617-934AD3C2B339}"/>
              </a:ext>
            </a:extLst>
          </p:cNvPr>
          <p:cNvSpPr txBox="1"/>
          <p:nvPr/>
        </p:nvSpPr>
        <p:spPr>
          <a:xfrm>
            <a:off x="4757738" y="3923407"/>
            <a:ext cx="4795934" cy="1938992"/>
          </a:xfrm>
          <a:prstGeom prst="rect">
            <a:avLst/>
          </a:prstGeom>
          <a:noFill/>
        </p:spPr>
        <p:txBody>
          <a:bodyPr wrap="square">
            <a:spAutoFit/>
          </a:bodyPr>
          <a:lstStyle/>
          <a:p>
            <a:pPr marL="171450" lvl="0" indent="-171450">
              <a:buClr>
                <a:srgbClr val="ED7D31"/>
              </a:buClr>
              <a:buFont typeface="Arial" panose="020B0604020202020204" pitchFamily="34" charset="0"/>
              <a:buChar char="•"/>
              <a:defRPr/>
            </a:pPr>
            <a:r>
              <a:rPr lang="en-US" sz="800" dirty="0">
                <a:solidFill>
                  <a:prstClr val="black"/>
                </a:solidFill>
                <a:ea typeface="Calibri"/>
                <a:cs typeface="Calibri"/>
                <a:hlinkClick r:id="rId4"/>
              </a:rPr>
              <a:t>https://maherrrrr99.github.io/maherrrrr99/</a:t>
            </a:r>
            <a:endParaRPr lang="en-US" sz="800" dirty="0">
              <a:solidFill>
                <a:prstClr val="black"/>
              </a:solidFill>
              <a:ea typeface="Calibri"/>
              <a:cs typeface="Calibri"/>
            </a:endParaRPr>
          </a:p>
          <a:p>
            <a:pPr lvl="0">
              <a:buClr>
                <a:srgbClr val="ED7D31"/>
              </a:buClr>
              <a:defRPr/>
            </a:pPr>
            <a:endParaRPr lang="en-US" sz="800" dirty="0">
              <a:solidFill>
                <a:prstClr val="black"/>
              </a:solidFill>
              <a:ea typeface="Calibri"/>
              <a:cs typeface="Calibri"/>
            </a:endParaRPr>
          </a:p>
          <a:p>
            <a:pPr marL="171450" lvl="0" indent="-171450">
              <a:buClr>
                <a:srgbClr val="ED7D31"/>
              </a:buClr>
              <a:buFont typeface="Arial" panose="020B0604020202020204" pitchFamily="34" charset="0"/>
              <a:buChar char="•"/>
              <a:defRPr/>
            </a:pPr>
            <a:r>
              <a:rPr lang="en-US" sz="800" dirty="0">
                <a:solidFill>
                  <a:prstClr val="black"/>
                </a:solidFill>
                <a:ea typeface="Calibri"/>
                <a:cs typeface="Calibri"/>
                <a:hlinkClick r:id="rId5"/>
              </a:rPr>
              <a:t>https://sabeehahasham.github.io/</a:t>
            </a:r>
            <a:endParaRPr lang="en-US" sz="800" dirty="0">
              <a:solidFill>
                <a:prstClr val="black"/>
              </a:solidFill>
              <a:ea typeface="Calibri"/>
              <a:cs typeface="Calibri"/>
            </a:endParaRPr>
          </a:p>
          <a:p>
            <a:pPr lvl="0">
              <a:buClr>
                <a:srgbClr val="ED7D31"/>
              </a:buClr>
              <a:defRPr/>
            </a:pPr>
            <a:endParaRPr lang="en-US" sz="800" dirty="0">
              <a:solidFill>
                <a:prstClr val="black"/>
              </a:solidFill>
              <a:ea typeface="Calibri"/>
              <a:cs typeface="Calibri"/>
            </a:endParaRPr>
          </a:p>
          <a:p>
            <a:pPr marL="171450" lvl="0" indent="-171450">
              <a:buClr>
                <a:srgbClr val="ED7D31"/>
              </a:buClr>
              <a:buFont typeface="Arial" panose="020B0604020202020204" pitchFamily="34" charset="0"/>
              <a:buChar char="•"/>
              <a:defRPr/>
            </a:pPr>
            <a:r>
              <a:rPr lang="en-US" sz="800" dirty="0">
                <a:solidFill>
                  <a:prstClr val="black"/>
                </a:solidFill>
                <a:ea typeface="Calibri"/>
                <a:cs typeface="Calibri"/>
                <a:hlinkClick r:id="rId6"/>
              </a:rPr>
              <a:t>https://basel-ghunaim.github.io/</a:t>
            </a: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a:p>
            <a:pPr marL="171450" lvl="0" indent="-171450">
              <a:buClr>
                <a:srgbClr val="ED7D31"/>
              </a:buClr>
              <a:buFont typeface="Arial" panose="020B0604020202020204" pitchFamily="34" charset="0"/>
              <a:buChar char="•"/>
              <a:defRPr/>
            </a:pPr>
            <a:r>
              <a:rPr lang="en-US" sz="800" dirty="0">
                <a:solidFill>
                  <a:prstClr val="black"/>
                </a:solidFill>
                <a:ea typeface="Calibri"/>
                <a:cs typeface="Calibri"/>
                <a:hlinkClick r:id="rId7"/>
              </a:rPr>
              <a:t>https://ahmed1090822.github.io/Ahmed109.github.io/</a:t>
            </a:r>
            <a:endParaRPr lang="en-US" sz="800" dirty="0">
              <a:solidFill>
                <a:prstClr val="black"/>
              </a:solidFill>
              <a:ea typeface="Calibri"/>
              <a:cs typeface="Calibri"/>
            </a:endParaRPr>
          </a:p>
          <a:p>
            <a:pPr marL="171450" lvl="0" indent="-171450">
              <a:buClr>
                <a:srgbClr val="ED7D31"/>
              </a:buClr>
              <a:buFont typeface="Arial" panose="020B0604020202020204" pitchFamily="34" charset="0"/>
              <a:buChar char="•"/>
              <a:defRPr/>
            </a:pPr>
            <a:endParaRPr lang="en-US" sz="800" dirty="0">
              <a:solidFill>
                <a:prstClr val="black"/>
              </a:solidFill>
              <a:ea typeface="Calibri"/>
              <a:cs typeface="Calibri"/>
            </a:endParaRPr>
          </a:p>
          <a:p>
            <a:pPr marL="171450" lvl="0" indent="-171450">
              <a:buClr>
                <a:srgbClr val="ED7D31"/>
              </a:buClr>
              <a:buFont typeface="Arial" panose="020B0604020202020204" pitchFamily="34" charset="0"/>
              <a:buChar char="•"/>
              <a:defRPr/>
            </a:pPr>
            <a:endParaRPr lang="en-US" sz="800" dirty="0">
              <a:solidFill>
                <a:prstClr val="black"/>
              </a:solidFill>
              <a:ea typeface="Calibri"/>
              <a:cs typeface="Calibri"/>
            </a:endParaRPr>
          </a:p>
          <a:p>
            <a:pPr marL="171450" lvl="0" indent="-171450">
              <a:buClr>
                <a:srgbClr val="ED7D31"/>
              </a:buClr>
              <a:buFont typeface="Arial" panose="020B0604020202020204" pitchFamily="34" charset="0"/>
              <a:buChar char="•"/>
              <a:defRPr/>
            </a:pP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endParaRPr lang="en-US" sz="800" dirty="0">
              <a:solidFill>
                <a:prstClr val="black"/>
              </a:solidFill>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a:p>
            <a:pPr marL="171450" marR="0" lvl="0" indent="-17145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Calibri"/>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93d1ae2-586b-4762-bfc6-b6d9cd65cc2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696354FFF6CC942A19C2C083F94702F" ma:contentTypeVersion="15" ma:contentTypeDescription="Create a new document." ma:contentTypeScope="" ma:versionID="51772ab33cecb87251aa33550c28e442">
  <xsd:schema xmlns:xsd="http://www.w3.org/2001/XMLSchema" xmlns:xs="http://www.w3.org/2001/XMLSchema" xmlns:p="http://schemas.microsoft.com/office/2006/metadata/properties" xmlns:ns3="c9c03dcb-1852-45b8-a297-7cb123ff6eff" xmlns:ns4="793d1ae2-586b-4762-bfc6-b6d9cd65cc26" targetNamespace="http://schemas.microsoft.com/office/2006/metadata/properties" ma:root="true" ma:fieldsID="c5de175633f0ecf58f5b9e8331d93e2c" ns3:_="" ns4:_="">
    <xsd:import namespace="c9c03dcb-1852-45b8-a297-7cb123ff6eff"/>
    <xsd:import namespace="793d1ae2-586b-4762-bfc6-b6d9cd65cc2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_activity" minOccurs="0"/>
                <xsd:element ref="ns4:MediaServiceAutoTags" minOccurs="0"/>
                <xsd:element ref="ns4:MediaServiceGenerationTime" minOccurs="0"/>
                <xsd:element ref="ns4:MediaServiceEventHashCode" minOccurs="0"/>
                <xsd:element ref="ns4:MediaServiceObjectDetectorVersions" minOccurs="0"/>
                <xsd:element ref="ns4:MediaServiceDateTaken" minOccurs="0"/>
                <xsd:element ref="ns4:MediaServiceSystemTags" minOccurs="0"/>
                <xsd:element ref="ns4:MediaLengthInSeconds" minOccurs="0"/>
                <xsd:element ref="ns4:MediaServiceSearchProperties"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c03dcb-1852-45b8-a297-7cb123ff6e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93d1ae2-586b-4762-bfc6-b6d9cd65cc2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BF07C3-32F2-4B54-ABEC-F568E42565AD}">
  <ds:schemaRefs>
    <ds:schemaRef ds:uri="793d1ae2-586b-4762-bfc6-b6d9cd65cc26"/>
    <ds:schemaRef ds:uri="c9c03dcb-1852-45b8-a297-7cb123ff6ef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41F096D-F3D9-4AB2-8749-1B5564A99E52}">
  <ds:schemaRefs>
    <ds:schemaRef ds:uri="793d1ae2-586b-4762-bfc6-b6d9cd65cc26"/>
    <ds:schemaRef ds:uri="c9c03dcb-1852-45b8-a297-7cb123ff6ef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E42817B-8532-4D50-923B-5326B5BF6E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338</TotalTime>
  <Words>1176</Words>
  <Application>Microsoft Office PowerPoint</Application>
  <PresentationFormat>On-screen Show (16:9)</PresentationFormat>
  <Paragraphs>202</Paragraphs>
  <Slides>11</Slides>
  <Notes>10</Notes>
  <HiddenSlides>0</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Arial</vt:lpstr>
      <vt:lpstr>Calibri</vt:lpstr>
      <vt:lpstr>Inter</vt:lpstr>
      <vt:lpstr>Inter </vt:lpstr>
      <vt:lpstr>Roboto Mono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Maher Nader Abo Abed</cp:lastModifiedBy>
  <cp:revision>224</cp:revision>
  <dcterms:created xsi:type="dcterms:W3CDTF">2026-03-09T12:39:49Z</dcterms:created>
  <dcterms:modified xsi:type="dcterms:W3CDTF">2026-04-07T06:52:06Z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0x010100B696354FFF6CC942A19C2C083F94702F</vt:lpwstr>
  </property>
</Properties>
</file>