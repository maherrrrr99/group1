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70" r:id="rId7"/>
    <p:sldId id="260" r:id="rId8"/>
    <p:sldId id="262" r:id="rId9"/>
    <p:sldId id="263" r:id="rId10"/>
    <p:sldId id="275" r:id="rId11"/>
    <p:sldId id="276" r:id="rId12"/>
    <p:sldId id="264" r:id="rId13"/>
    <p:sldId id="274" r:id="rId14"/>
    <p:sldId id="265" r:id="rId15"/>
    <p:sldId id="272" r:id="rId16"/>
    <p:sldId id="273" r:id="rId17"/>
    <p:sldId id="266" r:id="rId18"/>
    <p:sldId id="267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40E880-3626-4DB2-980B-A008C91FABD0}" v="309" vWet="310" dt="2026-04-14T06:54:48.588"/>
    <p1510:client id="{3994103A-DDD1-42FB-D485-9E51C1ABEA9C}" v="1099" dt="2026-04-13T19:41:50.067"/>
    <p1510:client id="{88C75776-5C9E-3DCF-1915-B0B32433A57A}" v="28" dt="2026-04-13T22:10:28.367"/>
    <p1510:client id="{98B9AD9C-7099-452B-A3D7-560BBA38F5D9}" v="206" dt="2026-04-13T22:26:21.555"/>
    <p1510:client id="{C1D66FB0-4DE7-45C9-B3C9-7F8B0BE08D63}" v="1937" dt="2026-04-14T06:57:48.490"/>
    <p1510:client id="{EC8F59CA-6C09-4495-8B5C-5B336077DBD0}" v="1360" dt="2026-04-14T06:21:21.9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436" autoAdjust="0"/>
  </p:normalViewPr>
  <p:slideViewPr>
    <p:cSldViewPr snapToGrid="0">
      <p:cViewPr varScale="1">
        <p:scale>
          <a:sx n="127" d="100"/>
          <a:sy n="127" d="100"/>
        </p:scale>
        <p:origin x="10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12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entsaduac-my.sharepoint.com/:x:/g/personal/1087993_students_adu_ac_ae/IQCVl5X-gnVOTbJbda9AOzVBAQxvkQVJ4Exoq-0edEJwLJE?e=tAfXTX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hyperlink" Target="https://ahmed1090822.github.io/Ahmed109.github.io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asel-ghunaim.github.io/" TargetMode="External"/><Relationship Id="rId5" Type="http://schemas.openxmlformats.org/officeDocument/2006/relationships/hyperlink" Target="https://sabeehahasham.github.io/" TargetMode="External"/><Relationship Id="rId4" Type="http://schemas.openxmlformats.org/officeDocument/2006/relationships/hyperlink" Target="https://maherrrrr99.github.io/maherrrrr99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70672"/>
            <a:ext cx="8286750" cy="6018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WEEKLY PROGRESS REPORT</a:t>
            </a:r>
            <a:endParaRPr lang="en-US" sz="3294"/>
          </a:p>
        </p:txBody>
      </p:sp>
      <p:sp>
        <p:nvSpPr>
          <p:cNvPr id="4" name="Text 1"/>
          <p:cNvSpPr/>
          <p:nvPr/>
        </p:nvSpPr>
        <p:spPr>
          <a:xfrm>
            <a:off x="268605" y="1482315"/>
            <a:ext cx="5976188" cy="2323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Mechatronic System Design (MEC483) – Course Project</a:t>
            </a:r>
            <a:endParaRPr lang="en-US" sz="1486"/>
          </a:p>
        </p:txBody>
      </p:sp>
      <p:sp>
        <p:nvSpPr>
          <p:cNvPr id="6" name="Text 3"/>
          <p:cNvSpPr/>
          <p:nvPr/>
        </p:nvSpPr>
        <p:spPr>
          <a:xfrm>
            <a:off x="428625" y="3925491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/ PHASE</a:t>
            </a:r>
            <a:endParaRPr lang="en-US" sz="683"/>
          </a:p>
        </p:txBody>
      </p:sp>
      <p:sp>
        <p:nvSpPr>
          <p:cNvPr id="7" name="Text 4"/>
          <p:cNvSpPr/>
          <p:nvPr/>
        </p:nvSpPr>
        <p:spPr>
          <a:xfrm>
            <a:off x="428625" y="4093369"/>
            <a:ext cx="1519647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Pick and Place Robot </a:t>
            </a:r>
            <a:endParaRPr lang="en-US" sz="1050"/>
          </a:p>
        </p:txBody>
      </p:sp>
      <p:sp>
        <p:nvSpPr>
          <p:cNvPr id="8" name="Text 5"/>
          <p:cNvSpPr/>
          <p:nvPr/>
        </p:nvSpPr>
        <p:spPr>
          <a:xfrm>
            <a:off x="4643438" y="3925491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DATE RANGE</a:t>
            </a:r>
            <a:endParaRPr lang="en-US" sz="683"/>
          </a:p>
        </p:txBody>
      </p:sp>
      <p:sp>
        <p:nvSpPr>
          <p:cNvPr id="9" name="Text 6"/>
          <p:cNvSpPr/>
          <p:nvPr/>
        </p:nvSpPr>
        <p:spPr>
          <a:xfrm>
            <a:off x="4643438" y="4093369"/>
            <a:ext cx="1384995" cy="169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7/4/2026 – 14/4/2026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8625" y="4509492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TEAM MEMBERS</a:t>
            </a:r>
            <a:endParaRPr lang="en-US" sz="683"/>
          </a:p>
        </p:txBody>
      </p:sp>
      <p:sp>
        <p:nvSpPr>
          <p:cNvPr id="11" name="Text 8"/>
          <p:cNvSpPr/>
          <p:nvPr/>
        </p:nvSpPr>
        <p:spPr>
          <a:xfrm>
            <a:off x="428625" y="4677370"/>
            <a:ext cx="832920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Maher Abo Abed (1087993) , Sabeeha </a:t>
            </a: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Zainab 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Hasham (1089042), Basel Feras </a:t>
            </a:r>
            <a:r>
              <a:rPr lang="en-US" sz="1050" err="1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Ghunaim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  (1088912), Ahmad Nasser </a:t>
            </a:r>
            <a:r>
              <a:rPr lang="en-US" sz="1050" err="1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Alshehhi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 (1090882)</a:t>
            </a:r>
            <a:endParaRPr lang="en-US" sz="1050">
              <a:latin typeface="Inter"/>
              <a:ea typeface="Int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D61D1B-B582-DFBF-FDF9-68A8A5F66518}"/>
              </a:ext>
            </a:extLst>
          </p:cNvPr>
          <p:cNvSpPr/>
          <p:nvPr/>
        </p:nvSpPr>
        <p:spPr>
          <a:xfrm>
            <a:off x="4572000" y="4373880"/>
            <a:ext cx="4143376" cy="132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000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HOW ARE WE DOING THIS WEEK?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221218"/>
            <a:ext cx="2666991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221218"/>
            <a:ext cx="2666991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TOP WINS </a:t>
            </a:r>
            <a:endParaRPr lang="en-US" sz="885"/>
          </a:p>
        </p:txBody>
      </p:sp>
      <p:sp>
        <p:nvSpPr>
          <p:cNvPr id="9" name="Text 6"/>
          <p:cNvSpPr/>
          <p:nvPr/>
        </p:nvSpPr>
        <p:spPr>
          <a:xfrm>
            <a:off x="428625" y="1590908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10" name="Text 7"/>
          <p:cNvSpPr/>
          <p:nvPr/>
        </p:nvSpPr>
        <p:spPr>
          <a:xfrm>
            <a:off x="431601" y="2236181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12" name="Shape 9"/>
          <p:cNvSpPr/>
          <p:nvPr/>
        </p:nvSpPr>
        <p:spPr>
          <a:xfrm>
            <a:off x="3238491" y="1221218"/>
            <a:ext cx="2666991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38491" y="1221218"/>
            <a:ext cx="2666991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BLOCKERS / RISKS </a:t>
            </a:r>
            <a:endParaRPr lang="en-US" sz="885"/>
          </a:p>
        </p:txBody>
      </p:sp>
      <p:sp>
        <p:nvSpPr>
          <p:cNvPr id="19" name="Text 16"/>
          <p:cNvSpPr/>
          <p:nvPr/>
        </p:nvSpPr>
        <p:spPr>
          <a:xfrm>
            <a:off x="3238491" y="2795252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20" name="Shape 17"/>
          <p:cNvSpPr/>
          <p:nvPr/>
        </p:nvSpPr>
        <p:spPr>
          <a:xfrm>
            <a:off x="6048356" y="1221218"/>
            <a:ext cx="2667019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48356" y="1221218"/>
            <a:ext cx="2667019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HEALTH</a:t>
            </a:r>
            <a:endParaRPr lang="en-US" sz="885"/>
          </a:p>
        </p:txBody>
      </p:sp>
      <p:sp>
        <p:nvSpPr>
          <p:cNvPr id="22" name="Text 19"/>
          <p:cNvSpPr/>
          <p:nvPr/>
        </p:nvSpPr>
        <p:spPr>
          <a:xfrm>
            <a:off x="6291244" y="1648058"/>
            <a:ext cx="264496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Scope</a:t>
            </a:r>
            <a:endParaRPr lang="en-US" sz="683"/>
          </a:p>
        </p:txBody>
      </p:sp>
      <p:sp>
        <p:nvSpPr>
          <p:cNvPr id="23" name="Text 20"/>
          <p:cNvSpPr/>
          <p:nvPr/>
        </p:nvSpPr>
        <p:spPr>
          <a:xfrm>
            <a:off x="8007406" y="1653415"/>
            <a:ext cx="650819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</a:rPr>
              <a:t>Under Execution</a:t>
            </a:r>
            <a:endParaRPr lang="en-US" sz="727"/>
          </a:p>
        </p:txBody>
      </p:sp>
      <p:sp>
        <p:nvSpPr>
          <p:cNvPr id="24" name="Text 21"/>
          <p:cNvSpPr/>
          <p:nvPr/>
        </p:nvSpPr>
        <p:spPr>
          <a:xfrm>
            <a:off x="6291244" y="1987386"/>
            <a:ext cx="423193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Schedule</a:t>
            </a:r>
            <a:endParaRPr lang="en-US" sz="683"/>
          </a:p>
        </p:txBody>
      </p:sp>
      <p:sp>
        <p:nvSpPr>
          <p:cNvPr id="25" name="Text 22"/>
          <p:cNvSpPr/>
          <p:nvPr/>
        </p:nvSpPr>
        <p:spPr>
          <a:xfrm>
            <a:off x="8047481" y="1992743"/>
            <a:ext cx="610744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Delays</a:t>
            </a:r>
            <a:endParaRPr lang="en-US" sz="727"/>
          </a:p>
        </p:txBody>
      </p:sp>
      <p:sp>
        <p:nvSpPr>
          <p:cNvPr id="26" name="Text 23"/>
          <p:cNvSpPr/>
          <p:nvPr/>
        </p:nvSpPr>
        <p:spPr>
          <a:xfrm>
            <a:off x="6291244" y="2326714"/>
            <a:ext cx="1322478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Fabrication &amp; Prototyping</a:t>
            </a:r>
            <a:endParaRPr lang="en-US" sz="683"/>
          </a:p>
        </p:txBody>
      </p:sp>
      <p:sp>
        <p:nvSpPr>
          <p:cNvPr id="27" name="Text 24"/>
          <p:cNvSpPr/>
          <p:nvPr/>
        </p:nvSpPr>
        <p:spPr>
          <a:xfrm>
            <a:off x="8007406" y="2332072"/>
            <a:ext cx="650819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Execution</a:t>
            </a:r>
            <a:endParaRPr lang="en-US" sz="727"/>
          </a:p>
        </p:txBody>
      </p:sp>
      <p:sp>
        <p:nvSpPr>
          <p:cNvPr id="28" name="Shape 25"/>
          <p:cNvSpPr/>
          <p:nvPr/>
        </p:nvSpPr>
        <p:spPr>
          <a:xfrm>
            <a:off x="6048356" y="2723192"/>
            <a:ext cx="2667019" cy="5197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048356" y="2723192"/>
            <a:ext cx="2667019" cy="28575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134081" y="2808917"/>
            <a:ext cx="493725" cy="964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ISSUES</a:t>
            </a:r>
            <a:endParaRPr lang="en-US" sz="584"/>
          </a:p>
        </p:txBody>
      </p:sp>
      <p:sp>
        <p:nvSpPr>
          <p:cNvPr id="31" name="Text 28"/>
          <p:cNvSpPr/>
          <p:nvPr/>
        </p:nvSpPr>
        <p:spPr>
          <a:xfrm>
            <a:off x="6134081" y="2921431"/>
            <a:ext cx="508152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>
                <a:solidFill>
                  <a:srgbClr val="000000"/>
                </a:solidFill>
                <a:latin typeface="Inter" pitchFamily="34" charset="0"/>
                <a:ea typeface="Inter" pitchFamily="34" charset="-122"/>
              </a:rPr>
              <a:t>3 Active</a:t>
            </a:r>
            <a:endParaRPr lang="en-US" sz="1193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E9FC47-D95F-B36D-EA15-0D696889EAB4}"/>
              </a:ext>
            </a:extLst>
          </p:cNvPr>
          <p:cNvSpPr txBox="1"/>
          <p:nvPr/>
        </p:nvSpPr>
        <p:spPr>
          <a:xfrm>
            <a:off x="365897" y="1580627"/>
            <a:ext cx="2729654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/>
              <a:t>Completed the gripper design (electrical + pneumatic)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/>
              <a:t>Completed forward kinematics </a:t>
            </a:r>
          </a:p>
          <a:p>
            <a:pPr>
              <a:buClr>
                <a:schemeClr val="accent2"/>
              </a:buClr>
            </a:pPr>
            <a:endParaRPr lang="en-US" sz="800" dirty="0"/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/>
              <a:t>Attempted three different approaches for inverse kinematics</a:t>
            </a:r>
          </a:p>
          <a:p>
            <a:pPr>
              <a:buClr>
                <a:schemeClr val="accent2"/>
              </a:buClr>
            </a:pPr>
            <a:endParaRPr lang="en-US" sz="800" dirty="0"/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Established control of the motors through an interactive UI, considering it a method amongst alternatives of manual override</a:t>
            </a:r>
          </a:p>
          <a:p>
            <a:pPr>
              <a:buClr>
                <a:schemeClr val="accent2"/>
              </a:buClr>
            </a:pPr>
            <a:endParaRPr lang="en-US" sz="8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 err="1">
                <a:latin typeface="Times New Roman"/>
                <a:ea typeface="+mn-lt"/>
                <a:cs typeface="Times New Roman"/>
              </a:rPr>
              <a:t>Finalised</a:t>
            </a:r>
            <a:r>
              <a:rPr lang="en-US" sz="800" dirty="0">
                <a:latin typeface="Times New Roman"/>
                <a:ea typeface="+mn-lt"/>
                <a:cs typeface="Times New Roman"/>
              </a:rPr>
              <a:t> the vision detection system – has fairly decent accuracy but can be used for initial testing until it is refined more </a:t>
            </a:r>
            <a:endParaRPr lang="en-US" dirty="0"/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 dirty="0">
              <a:latin typeface="Inter 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C156F-7AD9-DC02-254D-19506AE6F4B4}"/>
              </a:ext>
            </a:extLst>
          </p:cNvPr>
          <p:cNvSpPr txBox="1"/>
          <p:nvPr/>
        </p:nvSpPr>
        <p:spPr>
          <a:xfrm>
            <a:off x="3252957" y="1501799"/>
            <a:ext cx="2542439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/>
              <a:t>Blocker :Completed 3D Parts were misplaced in the university, printing must be restarted .</a:t>
            </a:r>
            <a:endParaRPr lang="en-US" sz="800" dirty="0">
              <a:ea typeface="Calibri"/>
              <a:cs typeface="Calibri"/>
            </a:endParaRPr>
          </a:p>
          <a:p>
            <a:pPr>
              <a:buClr>
                <a:schemeClr val="accent2"/>
              </a:buClr>
            </a:pPr>
            <a:endParaRPr lang="en-US" sz="8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Blocker: Printing issues with the spur gears, alternative fabrication method needs to be considered (laser cutting)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Blocker: The run time of training datasets is massive, sometimes can take up to a day depending on the number of images used to train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B2297B-5BBF-E577-E0CE-59FC2FF3B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558" y="2264516"/>
            <a:ext cx="239111" cy="1992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5C741AB-39EC-2AA6-968B-ABD933D74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335C9814-FA25-2EF1-B06C-3E2735E9BCEC}"/>
              </a:ext>
            </a:extLst>
          </p:cNvPr>
          <p:cNvSpPr/>
          <p:nvPr/>
        </p:nvSpPr>
        <p:spPr>
          <a:xfrm>
            <a:off x="428625" y="665792"/>
            <a:ext cx="3731791" cy="6742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Schedule (Gantt)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201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E3C2E7-665E-4C09-FF9D-14860C5E6215}"/>
              </a:ext>
            </a:extLst>
          </p:cNvPr>
          <p:cNvSpPr txBox="1"/>
          <p:nvPr/>
        </p:nvSpPr>
        <p:spPr>
          <a:xfrm>
            <a:off x="5345976" y="601744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u="sng" strike="noStrike" baseline="0" dirty="0">
                <a:solidFill>
                  <a:srgbClr val="0563C1"/>
                </a:solidFill>
                <a:latin typeface="Arial"/>
                <a:ea typeface="Segoe UI"/>
                <a:cs typeface="Segoe UI"/>
                <a:hlinkClick r:id="rId3"/>
              </a:rPr>
              <a:t>Agile Gantt chart1.xlsx</a:t>
            </a:r>
            <a:r>
              <a:rPr sz="1800" dirty="0">
                <a:latin typeface="Arial"/>
                <a:ea typeface="Arial"/>
                <a:cs typeface="Arial"/>
              </a:rPr>
              <a:t>​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3D43F7-9186-2AF7-856D-D7B5767C3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002904"/>
            <a:ext cx="7549468" cy="356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32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80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ISSUES, RISKS, AND ACTION ITEMS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292656"/>
            <a:ext cx="3636811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292656"/>
            <a:ext cx="3636811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TOP ISSUES (BLOCKING PROGRESS)</a:t>
            </a:r>
            <a:endParaRPr lang="en-US" sz="885"/>
          </a:p>
        </p:txBody>
      </p:sp>
      <p:sp>
        <p:nvSpPr>
          <p:cNvPr id="6" name="Text 3"/>
          <p:cNvSpPr/>
          <p:nvPr/>
        </p:nvSpPr>
        <p:spPr>
          <a:xfrm>
            <a:off x="428625" y="1712351"/>
            <a:ext cx="171778" cy="1408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50">
              <a:solidFill>
                <a:srgbClr val="333333"/>
              </a:solidFill>
              <a:latin typeface="Inter"/>
              <a:ea typeface="Inter"/>
            </a:endParaRPr>
          </a:p>
        </p:txBody>
      </p:sp>
      <p:sp>
        <p:nvSpPr>
          <p:cNvPr id="9" name="Text 6"/>
          <p:cNvSpPr/>
          <p:nvPr/>
        </p:nvSpPr>
        <p:spPr>
          <a:xfrm>
            <a:off x="428625" y="1712351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10" name="Text 7"/>
          <p:cNvSpPr/>
          <p:nvPr/>
        </p:nvSpPr>
        <p:spPr>
          <a:xfrm>
            <a:off x="428625" y="2113870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12" name="Shape 9"/>
          <p:cNvSpPr/>
          <p:nvPr/>
        </p:nvSpPr>
        <p:spPr>
          <a:xfrm>
            <a:off x="444283" y="2629198"/>
            <a:ext cx="3636811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6454" y="2629197"/>
            <a:ext cx="3628982" cy="31675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MITIGATIONS / DECISIONS NEEDED</a:t>
            </a:r>
            <a:endParaRPr lang="en-US" sz="885"/>
          </a:p>
        </p:txBody>
      </p:sp>
      <p:sp>
        <p:nvSpPr>
          <p:cNvPr id="18" name="Text 15"/>
          <p:cNvSpPr/>
          <p:nvPr/>
        </p:nvSpPr>
        <p:spPr>
          <a:xfrm>
            <a:off x="436454" y="2996343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20" name="Shape 17"/>
          <p:cNvSpPr/>
          <p:nvPr/>
        </p:nvSpPr>
        <p:spPr>
          <a:xfrm>
            <a:off x="4351186" y="1292656"/>
            <a:ext cx="436418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351186" y="1292656"/>
            <a:ext cx="436418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ITEMS (NEXT 7 DAYS)</a:t>
            </a:r>
            <a:endParaRPr lang="en-US" sz="885"/>
          </a:p>
        </p:txBody>
      </p:sp>
      <p:sp>
        <p:nvSpPr>
          <p:cNvPr id="22" name="Shape 19"/>
          <p:cNvSpPr/>
          <p:nvPr/>
        </p:nvSpPr>
        <p:spPr>
          <a:xfrm>
            <a:off x="4354757" y="1715923"/>
            <a:ext cx="435769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54757" y="1715923"/>
            <a:ext cx="435769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</a:t>
            </a:r>
            <a:endParaRPr lang="en-US" sz="683"/>
          </a:p>
        </p:txBody>
      </p:sp>
      <p:sp>
        <p:nvSpPr>
          <p:cNvPr id="24" name="Shape 21"/>
          <p:cNvSpPr/>
          <p:nvPr/>
        </p:nvSpPr>
        <p:spPr>
          <a:xfrm>
            <a:off x="4790526" y="1715923"/>
            <a:ext cx="2192489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90526" y="1715923"/>
            <a:ext cx="2192489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 DESCRIPTION</a:t>
            </a:r>
            <a:endParaRPr lang="en-US" sz="683"/>
          </a:p>
        </p:txBody>
      </p:sp>
      <p:sp>
        <p:nvSpPr>
          <p:cNvPr id="26" name="Shape 23"/>
          <p:cNvSpPr/>
          <p:nvPr/>
        </p:nvSpPr>
        <p:spPr>
          <a:xfrm>
            <a:off x="6983016" y="1715923"/>
            <a:ext cx="864394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983016" y="1715923"/>
            <a:ext cx="86439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b="1">
                <a:solidFill>
                  <a:srgbClr val="FFFFFF"/>
                </a:solidFill>
                <a:latin typeface="Roboto Mono"/>
                <a:ea typeface="Roboto Mono"/>
              </a:rPr>
              <a:t>MEMBER</a:t>
            </a:r>
            <a:endParaRPr lang="en-US" sz="683"/>
          </a:p>
        </p:txBody>
      </p:sp>
      <p:sp>
        <p:nvSpPr>
          <p:cNvPr id="28" name="Shape 25"/>
          <p:cNvSpPr/>
          <p:nvPr/>
        </p:nvSpPr>
        <p:spPr>
          <a:xfrm>
            <a:off x="7847409" y="1715923"/>
            <a:ext cx="864394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847409" y="1715923"/>
            <a:ext cx="86439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50" b="1">
                <a:solidFill>
                  <a:srgbClr val="FFFFFF"/>
                </a:solidFill>
                <a:latin typeface="Roboto Mono"/>
                <a:ea typeface="Roboto Mono"/>
              </a:rPr>
              <a:t>WEEK DUE</a:t>
            </a:r>
            <a:endParaRPr lang="en-US" sz="683"/>
          </a:p>
        </p:txBody>
      </p:sp>
      <p:sp>
        <p:nvSpPr>
          <p:cNvPr id="30" name="Text 27"/>
          <p:cNvSpPr/>
          <p:nvPr/>
        </p:nvSpPr>
        <p:spPr>
          <a:xfrm>
            <a:off x="4354757" y="1990958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</a:t>
            </a:r>
            <a:endParaRPr lang="en-US" sz="683"/>
          </a:p>
        </p:txBody>
      </p:sp>
      <p:sp>
        <p:nvSpPr>
          <p:cNvPr id="31" name="Text 28"/>
          <p:cNvSpPr/>
          <p:nvPr/>
        </p:nvSpPr>
        <p:spPr>
          <a:xfrm>
            <a:off x="4790526" y="1994601"/>
            <a:ext cx="2192489" cy="2641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r>
              <a:rPr lang="en-US" sz="600" dirty="0">
                <a:latin typeface="Times New Roman"/>
                <a:ea typeface="Calibri"/>
                <a:cs typeface="Times New Roman"/>
              </a:rPr>
              <a:t>Finalize and deploy the computer vision model</a:t>
            </a:r>
          </a:p>
        </p:txBody>
      </p:sp>
      <p:sp>
        <p:nvSpPr>
          <p:cNvPr id="32" name="Text 29"/>
          <p:cNvSpPr/>
          <p:nvPr/>
        </p:nvSpPr>
        <p:spPr>
          <a:xfrm>
            <a:off x="6983016" y="1985625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latin typeface="Times New Roman"/>
                <a:ea typeface="Calibri"/>
                <a:cs typeface="Times New Roman"/>
              </a:rPr>
              <a:t>Sabeeha</a:t>
            </a:r>
          </a:p>
        </p:txBody>
      </p:sp>
      <p:sp>
        <p:nvSpPr>
          <p:cNvPr id="33" name="Text 30"/>
          <p:cNvSpPr/>
          <p:nvPr/>
        </p:nvSpPr>
        <p:spPr>
          <a:xfrm>
            <a:off x="7847409" y="1985625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 dirty="0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Week 7</a:t>
            </a:r>
          </a:p>
        </p:txBody>
      </p:sp>
      <p:sp>
        <p:nvSpPr>
          <p:cNvPr id="34" name="Shape 31"/>
          <p:cNvSpPr/>
          <p:nvPr/>
        </p:nvSpPr>
        <p:spPr>
          <a:xfrm>
            <a:off x="4351186" y="2315101"/>
            <a:ext cx="4357046" cy="27146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354757" y="2262420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</a:t>
            </a:r>
            <a:endParaRPr lang="en-US" sz="683"/>
          </a:p>
        </p:txBody>
      </p:sp>
      <p:sp>
        <p:nvSpPr>
          <p:cNvPr id="36" name="Text 33"/>
          <p:cNvSpPr/>
          <p:nvPr/>
        </p:nvSpPr>
        <p:spPr>
          <a:xfrm>
            <a:off x="4790526" y="2259908"/>
            <a:ext cx="2192489" cy="27648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 dirty="0">
                <a:latin typeface="Times New Roman"/>
                <a:ea typeface="Calibri"/>
                <a:cs typeface="Times New Roman"/>
              </a:rPr>
              <a:t>Finish the IK kinematics  </a:t>
            </a:r>
          </a:p>
        </p:txBody>
      </p:sp>
      <p:sp>
        <p:nvSpPr>
          <p:cNvPr id="37" name="Text 34"/>
          <p:cNvSpPr/>
          <p:nvPr/>
        </p:nvSpPr>
        <p:spPr>
          <a:xfrm>
            <a:off x="6983016" y="2257087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Maher</a:t>
            </a:r>
            <a:endParaRPr lang="en-US" sz="700">
              <a:latin typeface="Inter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847409" y="2257087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 dirty="0">
                <a:solidFill>
                  <a:srgbClr val="333333"/>
                </a:solidFill>
                <a:latin typeface="Inter"/>
              </a:rPr>
              <a:t>Week 7</a:t>
            </a:r>
          </a:p>
        </p:txBody>
      </p:sp>
      <p:sp>
        <p:nvSpPr>
          <p:cNvPr id="39" name="Text 36"/>
          <p:cNvSpPr/>
          <p:nvPr/>
        </p:nvSpPr>
        <p:spPr>
          <a:xfrm>
            <a:off x="4354757" y="2533883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</a:t>
            </a:r>
            <a:endParaRPr lang="en-US" sz="683"/>
          </a:p>
        </p:txBody>
      </p:sp>
      <p:sp>
        <p:nvSpPr>
          <p:cNvPr id="40" name="Text 37"/>
          <p:cNvSpPr/>
          <p:nvPr/>
        </p:nvSpPr>
        <p:spPr>
          <a:xfrm>
            <a:off x="4790526" y="2585050"/>
            <a:ext cx="2192489" cy="27873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 dirty="0">
                <a:solidFill>
                  <a:srgbClr val="333333"/>
                </a:solidFill>
                <a:latin typeface="Inter"/>
                <a:ea typeface="Calibri"/>
                <a:cs typeface="Calibri"/>
              </a:rPr>
              <a:t>Procure, assemble, and experiment on gripper.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983016" y="2528550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Basel</a:t>
            </a:r>
          </a:p>
        </p:txBody>
      </p:sp>
      <p:sp>
        <p:nvSpPr>
          <p:cNvPr id="42" name="Text 39"/>
          <p:cNvSpPr/>
          <p:nvPr/>
        </p:nvSpPr>
        <p:spPr>
          <a:xfrm>
            <a:off x="7847409" y="2528550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 dirty="0">
                <a:solidFill>
                  <a:srgbClr val="333333"/>
                </a:solidFill>
                <a:latin typeface="Inter"/>
              </a:rPr>
              <a:t>Week 7</a:t>
            </a:r>
            <a:endParaRPr lang="en-US" sz="727" dirty="0"/>
          </a:p>
        </p:txBody>
      </p:sp>
      <p:sp>
        <p:nvSpPr>
          <p:cNvPr id="43" name="Shape 40"/>
          <p:cNvSpPr/>
          <p:nvPr/>
        </p:nvSpPr>
        <p:spPr>
          <a:xfrm>
            <a:off x="4358329" y="2862349"/>
            <a:ext cx="4357046" cy="27146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354757" y="2805345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A4</a:t>
            </a:r>
            <a:endParaRPr lang="en-US" sz="683"/>
          </a:p>
        </p:txBody>
      </p:sp>
      <p:sp>
        <p:nvSpPr>
          <p:cNvPr id="45" name="Text 42"/>
          <p:cNvSpPr/>
          <p:nvPr/>
        </p:nvSpPr>
        <p:spPr>
          <a:xfrm>
            <a:off x="4790526" y="2800012"/>
            <a:ext cx="2192489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 dirty="0">
                <a:solidFill>
                  <a:srgbClr val="333333"/>
                </a:solidFill>
                <a:latin typeface="Inter"/>
              </a:rPr>
              <a:t>Finalize a manual override system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983016" y="2800012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Ahmad</a:t>
            </a:r>
          </a:p>
        </p:txBody>
      </p:sp>
      <p:sp>
        <p:nvSpPr>
          <p:cNvPr id="47" name="Text 44"/>
          <p:cNvSpPr/>
          <p:nvPr/>
        </p:nvSpPr>
        <p:spPr>
          <a:xfrm>
            <a:off x="7847409" y="2800012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 dirty="0">
                <a:solidFill>
                  <a:srgbClr val="333333"/>
                </a:solidFill>
                <a:latin typeface="Inter"/>
              </a:rPr>
              <a:t>Week 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E5D39F-A107-DB92-438C-F1C07FE11B48}"/>
              </a:ext>
            </a:extLst>
          </p:cNvPr>
          <p:cNvSpPr txBox="1"/>
          <p:nvPr/>
        </p:nvSpPr>
        <p:spPr>
          <a:xfrm>
            <a:off x="403152" y="1674511"/>
            <a:ext cx="377260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Fabrication delays</a:t>
            </a:r>
          </a:p>
          <a:p>
            <a:pPr>
              <a:buClr>
                <a:schemeClr val="accent2"/>
              </a:buClr>
            </a:pPr>
            <a:endParaRPr lang="en-US" sz="8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No access to university is slowing down work efforts, and overall progress.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 dirty="0">
              <a:latin typeface="Inter 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F5213A-04DC-99F6-56D0-C31C13B51EA9}"/>
              </a:ext>
            </a:extLst>
          </p:cNvPr>
          <p:cNvSpPr txBox="1"/>
          <p:nvPr/>
        </p:nvSpPr>
        <p:spPr>
          <a:xfrm>
            <a:off x="439675" y="3139997"/>
            <a:ext cx="3772608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Conduct virtual meetings often.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Constant communication and updates.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Each member should take their own initiatives.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Aim to make any sort of progress, regardless of how small or big.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2382971"/>
            <a:ext cx="7715250" cy="753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145" b="1" kern="0" spc="-2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INDIVIDUAL UPDATES</a:t>
            </a:r>
            <a:endParaRPr lang="en-US" sz="4145"/>
          </a:p>
        </p:txBody>
      </p:sp>
      <p:sp>
        <p:nvSpPr>
          <p:cNvPr id="4" name="Text 1"/>
          <p:cNvSpPr/>
          <p:nvPr/>
        </p:nvSpPr>
        <p:spPr>
          <a:xfrm>
            <a:off x="771525" y="3279511"/>
            <a:ext cx="77152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WEEKLY PROGRESS &amp; NEXT STEPS</a:t>
            </a:r>
            <a:endParaRPr lang="en-US" sz="1193"/>
          </a:p>
        </p:txBody>
      </p:sp>
      <p:sp>
        <p:nvSpPr>
          <p:cNvPr id="5" name="Text 2"/>
          <p:cNvSpPr/>
          <p:nvPr/>
        </p:nvSpPr>
        <p:spPr>
          <a:xfrm>
            <a:off x="942975" y="3677776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1</a:t>
            </a:r>
            <a:endParaRPr lang="en-US" sz="727"/>
          </a:p>
        </p:txBody>
      </p:sp>
      <p:sp>
        <p:nvSpPr>
          <p:cNvPr id="6" name="Text 3"/>
          <p:cNvSpPr/>
          <p:nvPr/>
        </p:nvSpPr>
        <p:spPr>
          <a:xfrm>
            <a:off x="942975" y="3838510"/>
            <a:ext cx="3693319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Maher Abo Abed 			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3843338" y="3677776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2</a:t>
            </a:r>
            <a:endParaRPr lang="en-US" sz="727"/>
          </a:p>
        </p:txBody>
      </p:sp>
      <p:sp>
        <p:nvSpPr>
          <p:cNvPr id="8" name="Text 5"/>
          <p:cNvSpPr/>
          <p:nvPr/>
        </p:nvSpPr>
        <p:spPr>
          <a:xfrm>
            <a:off x="3843338" y="3838510"/>
            <a:ext cx="16831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Sabeeha Zainab Hasham</a:t>
            </a:r>
            <a:endParaRPr lang="en-US" sz="1050"/>
          </a:p>
        </p:txBody>
      </p:sp>
      <p:sp>
        <p:nvSpPr>
          <p:cNvPr id="9" name="Text 6"/>
          <p:cNvSpPr/>
          <p:nvPr/>
        </p:nvSpPr>
        <p:spPr>
          <a:xfrm>
            <a:off x="942975" y="4142119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3</a:t>
            </a:r>
            <a:endParaRPr lang="en-US" sz="727"/>
          </a:p>
        </p:txBody>
      </p:sp>
      <p:sp>
        <p:nvSpPr>
          <p:cNvPr id="10" name="Text 7"/>
          <p:cNvSpPr/>
          <p:nvPr/>
        </p:nvSpPr>
        <p:spPr>
          <a:xfrm>
            <a:off x="942975" y="4302854"/>
            <a:ext cx="15228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Basel Feras </a:t>
            </a:r>
            <a:r>
              <a:rPr lang="en-US" sz="1050" err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Ghunaim</a:t>
            </a:r>
            <a:endParaRPr lang="en-US" sz="1050"/>
          </a:p>
        </p:txBody>
      </p:sp>
      <p:sp>
        <p:nvSpPr>
          <p:cNvPr id="11" name="Text 8"/>
          <p:cNvSpPr/>
          <p:nvPr/>
        </p:nvSpPr>
        <p:spPr>
          <a:xfrm>
            <a:off x="3843338" y="4142119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4</a:t>
            </a:r>
            <a:endParaRPr lang="en-US" sz="727"/>
          </a:p>
        </p:txBody>
      </p:sp>
      <p:sp>
        <p:nvSpPr>
          <p:cNvPr id="12" name="Text 9"/>
          <p:cNvSpPr/>
          <p:nvPr/>
        </p:nvSpPr>
        <p:spPr>
          <a:xfrm>
            <a:off x="3843338" y="4302854"/>
            <a:ext cx="16831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Ahmad Nasser </a:t>
            </a:r>
            <a:r>
              <a:rPr lang="en-US" sz="1050" err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Alshehhi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2962349" cy="26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1: Maher Abo Abed</a:t>
            </a:r>
            <a:endParaRPr lang="en-US" sz="1602"/>
          </a:p>
        </p:txBody>
      </p:sp>
      <p:sp>
        <p:nvSpPr>
          <p:cNvPr id="4" name="Shape 1"/>
          <p:cNvSpPr/>
          <p:nvPr/>
        </p:nvSpPr>
        <p:spPr>
          <a:xfrm>
            <a:off x="428625" y="1093851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093851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101923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ACCOMPLISHED (SINCE LAST REPORT)</a:t>
            </a:r>
            <a:endParaRPr lang="en-US" sz="784"/>
          </a:p>
        </p:txBody>
      </p:sp>
      <p:sp>
        <p:nvSpPr>
          <p:cNvPr id="18" name="Text 15"/>
          <p:cNvSpPr/>
          <p:nvPr/>
        </p:nvSpPr>
        <p:spPr>
          <a:xfrm>
            <a:off x="428625" y="2644973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20" name="Shape 17"/>
          <p:cNvSpPr/>
          <p:nvPr/>
        </p:nvSpPr>
        <p:spPr>
          <a:xfrm>
            <a:off x="428625" y="3681888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3681888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28625" y="3681888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WEEK PLAN</a:t>
            </a:r>
            <a:endParaRPr lang="en-US" sz="784"/>
          </a:p>
        </p:txBody>
      </p:sp>
      <p:sp>
        <p:nvSpPr>
          <p:cNvPr id="27" name="Shape 24"/>
          <p:cNvSpPr/>
          <p:nvPr/>
        </p:nvSpPr>
        <p:spPr>
          <a:xfrm>
            <a:off x="5486400" y="1101923"/>
            <a:ext cx="3228975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486400" y="1101923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486400" y="1101923"/>
            <a:ext cx="3228975" cy="26943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EVIDENCE</a:t>
            </a:r>
            <a:endParaRPr lang="en-US" sz="784"/>
          </a:p>
        </p:txBody>
      </p:sp>
      <p:sp>
        <p:nvSpPr>
          <p:cNvPr id="41" name="Text 38"/>
          <p:cNvSpPr/>
          <p:nvPr/>
        </p:nvSpPr>
        <p:spPr>
          <a:xfrm>
            <a:off x="5593556" y="4473773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BC5C11AB-4298-1F3D-4BAB-A15E04959EA3}"/>
              </a:ext>
            </a:extLst>
          </p:cNvPr>
          <p:cNvSpPr/>
          <p:nvPr/>
        </p:nvSpPr>
        <p:spPr>
          <a:xfrm>
            <a:off x="432197" y="2106660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D4137FF8-BCB6-131E-C126-133FA6B6492C}"/>
              </a:ext>
            </a:extLst>
          </p:cNvPr>
          <p:cNvSpPr/>
          <p:nvPr/>
        </p:nvSpPr>
        <p:spPr>
          <a:xfrm>
            <a:off x="428625" y="2305644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7F8F1F96-9CDD-DA54-2FD8-627D600644BE}"/>
              </a:ext>
            </a:extLst>
          </p:cNvPr>
          <p:cNvSpPr/>
          <p:nvPr/>
        </p:nvSpPr>
        <p:spPr>
          <a:xfrm>
            <a:off x="428625" y="2450997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57E5E1-D9EE-98B2-92F1-5A277F23A7CA}"/>
              </a:ext>
            </a:extLst>
          </p:cNvPr>
          <p:cNvSpPr txBox="1"/>
          <p:nvPr/>
        </p:nvSpPr>
        <p:spPr>
          <a:xfrm>
            <a:off x="426720" y="1476705"/>
            <a:ext cx="46189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Position based control of the motor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Software developed to control angular position of motors using interactive GUI through a python code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Attempted three approaches for inverse kinematics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 err="1">
                <a:latin typeface="Inter "/>
              </a:rPr>
              <a:t>IKFast</a:t>
            </a:r>
            <a:r>
              <a:rPr lang="en-US" sz="800" dirty="0">
                <a:latin typeface="Inter "/>
              </a:rPr>
              <a:t> an analytical IK solver in ROS – Converts URDF to DAE, extracts kinematic chains, solves symbolic equations and gives a .</a:t>
            </a:r>
            <a:r>
              <a:rPr lang="en-US" sz="800" dirty="0" err="1">
                <a:latin typeface="Inter "/>
              </a:rPr>
              <a:t>cpp</a:t>
            </a:r>
            <a:r>
              <a:rPr lang="en-US" sz="800" dirty="0">
                <a:latin typeface="Inter "/>
              </a:rPr>
              <a:t> file – solver validation and IK were inconsistent – issue with modeling and kinematic chain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Moveit2 – FK kinematics works fine – however IK Solver is 6 DOF, our system is 4 DOF is over constrained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Manual ai-aided calculations using </a:t>
            </a:r>
            <a:r>
              <a:rPr lang="en-US" sz="800" dirty="0" err="1">
                <a:latin typeface="Inter "/>
              </a:rPr>
              <a:t>matlab</a:t>
            </a:r>
            <a:endParaRPr lang="en-US" sz="8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 dirty="0">
              <a:latin typeface="Inter "/>
            </a:endParaRPr>
          </a:p>
        </p:txBody>
      </p:sp>
      <p:sp>
        <p:nvSpPr>
          <p:cNvPr id="51" name="Shape 1">
            <a:extLst>
              <a:ext uri="{FF2B5EF4-FFF2-40B4-BE49-F238E27FC236}">
                <a16:creationId xmlns:a16="http://schemas.microsoft.com/office/drawing/2014/main" id="{CB3CB0D9-571B-33FB-9203-503A4DD142BF}"/>
              </a:ext>
            </a:extLst>
          </p:cNvPr>
          <p:cNvSpPr/>
          <p:nvPr/>
        </p:nvSpPr>
        <p:spPr>
          <a:xfrm>
            <a:off x="428625" y="2721221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r>
              <a:rPr lang="en-US" sz="800" b="1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 PROGRESS</a:t>
            </a:r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2F31ABC2-C27E-9258-D5CF-D35B548E4FE2}"/>
              </a:ext>
            </a:extLst>
          </p:cNvPr>
          <p:cNvSpPr/>
          <p:nvPr/>
        </p:nvSpPr>
        <p:spPr>
          <a:xfrm>
            <a:off x="428625" y="2721221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0EE0C4A1-62DE-BC2B-5C97-F1823850A00B}"/>
              </a:ext>
            </a:extLst>
          </p:cNvPr>
          <p:cNvSpPr/>
          <p:nvPr/>
        </p:nvSpPr>
        <p:spPr>
          <a:xfrm>
            <a:off x="428625" y="2729293"/>
            <a:ext cx="4843463" cy="26981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059FF9-8741-C360-B346-CD9C1E9C826B}"/>
              </a:ext>
            </a:extLst>
          </p:cNvPr>
          <p:cNvSpPr txBox="1"/>
          <p:nvPr/>
        </p:nvSpPr>
        <p:spPr>
          <a:xfrm>
            <a:off x="428625" y="3025909"/>
            <a:ext cx="4618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Inverse kinematic and assembly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A9F6B7-30B7-104D-1FAE-5250DE80EAE7}"/>
              </a:ext>
            </a:extLst>
          </p:cNvPr>
          <p:cNvSpPr txBox="1"/>
          <p:nvPr/>
        </p:nvSpPr>
        <p:spPr>
          <a:xfrm>
            <a:off x="428625" y="3986576"/>
            <a:ext cx="4618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Mechanical assembly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Finish the  IK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Control the motors, by linking them to the classifier model.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>
              <a:latin typeface="Inter "/>
            </a:endParaRPr>
          </a:p>
        </p:txBody>
      </p:sp>
      <p:pic>
        <p:nvPicPr>
          <p:cNvPr id="2" name="WhatsApp Video 2026-04-14 at 10.32.12 AM">
            <a:hlinkClick r:id="" action="ppaction://media"/>
            <a:extLst>
              <a:ext uri="{FF2B5EF4-FFF2-40B4-BE49-F238E27FC236}">
                <a16:creationId xmlns:a16="http://schemas.microsoft.com/office/drawing/2014/main" id="{F8365E91-029D-803B-3957-E7D4DDAF763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511403" y="1390941"/>
            <a:ext cx="3200400" cy="2788526"/>
          </a:xfrm>
          <a:prstGeom prst="rect">
            <a:avLst/>
          </a:prstGeom>
        </p:spPr>
      </p:pic>
      <p:sp>
        <p:nvSpPr>
          <p:cNvPr id="7" name="Shape 30">
            <a:extLst>
              <a:ext uri="{FF2B5EF4-FFF2-40B4-BE49-F238E27FC236}">
                <a16:creationId xmlns:a16="http://schemas.microsoft.com/office/drawing/2014/main" id="{E599C16C-B7ED-4AF4-A674-352BE2AA59CE}"/>
              </a:ext>
            </a:extLst>
          </p:cNvPr>
          <p:cNvSpPr/>
          <p:nvPr/>
        </p:nvSpPr>
        <p:spPr>
          <a:xfrm>
            <a:off x="5482828" y="4199053"/>
            <a:ext cx="3228975" cy="818812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dirty="0">
              <a:solidFill>
                <a:prstClr val="black"/>
              </a:solidFill>
              <a:latin typeface="Inter 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dirty="0">
                <a:solidFill>
                  <a:prstClr val="black"/>
                </a:solidFill>
                <a:latin typeface="Inter "/>
              </a:rPr>
              <a:t>What is the best inverse kinematic approach, or what are possible solutions to my problems?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ter "/>
              <a:ea typeface="+mn-ea"/>
              <a:cs typeface="+mn-cs"/>
            </a:endParaRPr>
          </a:p>
        </p:txBody>
      </p:sp>
      <p:sp>
        <p:nvSpPr>
          <p:cNvPr id="8" name="Text 32">
            <a:extLst>
              <a:ext uri="{FF2B5EF4-FFF2-40B4-BE49-F238E27FC236}">
                <a16:creationId xmlns:a16="http://schemas.microsoft.com/office/drawing/2014/main" id="{CF9FCB6F-BCEE-2D2D-0D54-9CB4A3362EB6}"/>
              </a:ext>
            </a:extLst>
          </p:cNvPr>
          <p:cNvSpPr/>
          <p:nvPr/>
        </p:nvSpPr>
        <p:spPr>
          <a:xfrm>
            <a:off x="5535432" y="4212883"/>
            <a:ext cx="301466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51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HELP NEEDED / QUESTIONS</a:t>
            </a:r>
            <a:endParaRPr lang="en-US" sz="68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73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97BE94F-3439-89F7-49F0-A83B4F397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95151"/>
            <a:ext cx="9144000" cy="2027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D4D2C2F-A9E9-35C3-6108-B4A223FD2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566" y="0"/>
            <a:ext cx="4438434" cy="2455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4A964E-1758-812A-5322-8B97B1D2A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25" y="-1"/>
            <a:ext cx="4646341" cy="239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259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8CA5C8-2CC8-1545-92DF-4318D8315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89" y="0"/>
            <a:ext cx="8297613" cy="507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909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5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42072"/>
            <a:ext cx="3446456" cy="2877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b="1">
                <a:solidFill>
                  <a:srgbClr val="000000"/>
                </a:solidFill>
                <a:latin typeface="Roboto Mono"/>
                <a:ea typeface="Roboto Mono"/>
                <a:cs typeface="Roboto Mono" pitchFamily="34" charset="-120"/>
              </a:rPr>
              <a:t>MEMBER 2: Sabeeha Hasham </a:t>
            </a:r>
            <a:endParaRPr lang="en-US">
              <a:latin typeface="Roboto Mono"/>
              <a:ea typeface="Roboto Mono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159994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159994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159994"/>
            <a:ext cx="4843463" cy="26693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>
              <a:lnSpc>
                <a:spcPts val="1100"/>
              </a:lnSpc>
            </a:pPr>
            <a:r>
              <a:rPr lang="en-US" sz="750" b="1">
                <a:solidFill>
                  <a:srgbClr val="FFFFFF"/>
                </a:solidFill>
                <a:latin typeface="Roboto Mono"/>
                <a:ea typeface="Roboto Mono"/>
              </a:rPr>
              <a:t>ACCOMPLISHED (SINCE LAST REPORT)</a:t>
            </a:r>
            <a:endParaRPr lang="en-US" sz="7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8625" y="1510038"/>
            <a:ext cx="6340069" cy="12952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>
              <a:lnSpc>
                <a:spcPts val="1100"/>
              </a:lnSpc>
            </a:pPr>
            <a:endParaRPr lang="en-US" sz="700">
              <a:solidFill>
                <a:srgbClr val="333333"/>
              </a:solidFill>
              <a:latin typeface="Inter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476845" y="1495813"/>
            <a:ext cx="4615182" cy="192732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r>
              <a:rPr lang="en-US" sz="900">
                <a:latin typeface="Times New Roman"/>
                <a:ea typeface="Calibri"/>
                <a:cs typeface="Times New Roman"/>
              </a:rPr>
              <a:t>Made the dataset for the compass, and for half of the bolt identification (the rest was an online dataset) and annotated the objects - this meant the corresponding annotations were downloaded in the YOLO format label file from </a:t>
            </a:r>
            <a:r>
              <a:rPr lang="en-US" sz="900" err="1">
                <a:latin typeface="Times New Roman"/>
                <a:ea typeface="Calibri"/>
                <a:cs typeface="Times New Roman"/>
              </a:rPr>
              <a:t>cvat</a:t>
            </a:r>
            <a:r>
              <a:rPr lang="en-US" sz="900">
                <a:latin typeface="Times New Roman"/>
                <a:ea typeface="Calibri"/>
                <a:cs typeface="Times New Roman"/>
              </a:rPr>
              <a:t>.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US" sz="9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9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Used PyCharm to train the Yolov8 model using the </a:t>
            </a:r>
            <a:r>
              <a:rPr lang="en-US" sz="9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ultralytics</a:t>
            </a:r>
            <a:r>
              <a:rPr lang="en-US" sz="9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library and tested it – used 400 images to train for the egg, nut, bolt and compass, the dataset was clean and split into image files and their corresponding label txt files – took 100 images for the dataset for the compass</a:t>
            </a:r>
            <a:endParaRPr lang="en-US"/>
          </a:p>
          <a:p>
            <a:endParaRPr lang="en-US" sz="9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9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Training for 100 epochs showed higher accuracy using the live feed using </a:t>
            </a:r>
            <a:r>
              <a:rPr lang="en-US" sz="9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openCV</a:t>
            </a:r>
            <a:r>
              <a:rPr lang="en-US" sz="9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for all of the objects – Connected the </a:t>
            </a:r>
            <a:r>
              <a:rPr lang="en-US" sz="9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iVCam</a:t>
            </a:r>
            <a:r>
              <a:rPr lang="en-US" sz="9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 from my iPhone to my laptop to have my phone camera displayed as opposed to using the laptop camera – see </a:t>
            </a:r>
            <a:r>
              <a:rPr lang="en-US" sz="9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i</a:t>
            </a:r>
            <a:r>
              <a:rPr lang="en-US" sz="9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f this increases accuracy.</a:t>
            </a:r>
            <a:endParaRPr lang="en-US" sz="900">
              <a:latin typeface="Times New Roman"/>
              <a:ea typeface="Calibri"/>
              <a:cs typeface="Times New Roman"/>
            </a:endParaRPr>
          </a:p>
          <a:p>
            <a:r>
              <a:rPr lang="en-US" sz="9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 Not holding up the objects to the camera also increase the sensitivity for detection a lot as it reduces visual noise- determined through experimentation</a:t>
            </a:r>
          </a:p>
          <a:p>
            <a:pPr>
              <a:lnSpc>
                <a:spcPts val="1100"/>
              </a:lnSpc>
            </a:pPr>
            <a:endParaRPr lang="en-US" sz="700">
              <a:solidFill>
                <a:srgbClr val="333333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28625" y="1510038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11" name="Text 8"/>
          <p:cNvSpPr/>
          <p:nvPr/>
        </p:nvSpPr>
        <p:spPr>
          <a:xfrm>
            <a:off x="428625" y="1707189"/>
            <a:ext cx="65" cy="127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650" b="1">
              <a:solidFill>
                <a:srgbClr val="FF5722"/>
              </a:solidFill>
              <a:latin typeface="Inter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28625" y="1904340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13" name="Shape 10"/>
          <p:cNvSpPr/>
          <p:nvPr/>
        </p:nvSpPr>
        <p:spPr>
          <a:xfrm>
            <a:off x="411597" y="3338922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14337" y="2918288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44016" y="3669510"/>
            <a:ext cx="4921753" cy="27699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r>
              <a:rPr lang="en-US" sz="900">
                <a:latin typeface="Times New Roman"/>
                <a:ea typeface="Calibri"/>
                <a:cs typeface="Times New Roman"/>
              </a:rPr>
              <a:t>Refine the current model – make the compass detection more accurate, ensure it does not get confused with the bolt, figure out a way to integrate everything so it can be used in the final system</a:t>
            </a:r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28625" y="2845366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19" name="Text 16"/>
          <p:cNvSpPr/>
          <p:nvPr/>
        </p:nvSpPr>
        <p:spPr>
          <a:xfrm>
            <a:off x="381652" y="3269551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20" name="Shape 17"/>
          <p:cNvSpPr/>
          <p:nvPr/>
        </p:nvSpPr>
        <p:spPr>
          <a:xfrm>
            <a:off x="418275" y="4016264"/>
            <a:ext cx="4843463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0796" y="3672208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3838" y="4016788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WEEK PLAN</a:t>
            </a:r>
            <a:endParaRPr lang="en-US" sz="784"/>
          </a:p>
        </p:txBody>
      </p:sp>
      <p:sp>
        <p:nvSpPr>
          <p:cNvPr id="23" name="Text 20"/>
          <p:cNvSpPr/>
          <p:nvPr/>
        </p:nvSpPr>
        <p:spPr>
          <a:xfrm>
            <a:off x="410446" y="4390943"/>
            <a:ext cx="4432888" cy="41498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>
              <a:lnSpc>
                <a:spcPts val="1100"/>
              </a:lnSpc>
            </a:pPr>
            <a:r>
              <a:rPr lang="en-US" sz="900">
                <a:latin typeface="Times New Roman"/>
                <a:ea typeface="Calibri"/>
                <a:cs typeface="Times New Roman"/>
              </a:rPr>
              <a:t>Final object detection refining – ensure it works </a:t>
            </a:r>
            <a:r>
              <a:rPr lang="en-US" sz="900" err="1">
                <a:latin typeface="Times New Roman"/>
                <a:ea typeface="Calibri"/>
                <a:cs typeface="Times New Roman"/>
              </a:rPr>
              <a:t>fo</a:t>
            </a:r>
            <a:r>
              <a:rPr lang="en-US" sz="900">
                <a:latin typeface="Times New Roman"/>
                <a:ea typeface="Calibri"/>
                <a:cs typeface="Times New Roman"/>
              </a:rPr>
              <a:t>r the other objects that we have using the data sets collected – implement it </a:t>
            </a:r>
          </a:p>
          <a:p>
            <a:pPr>
              <a:lnSpc>
                <a:spcPts val="1100"/>
              </a:lnSpc>
            </a:pPr>
            <a:endParaRPr lang="en-US" sz="900">
              <a:solidFill>
                <a:srgbClr val="4A5568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52111" y="4045737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sp>
        <p:nvSpPr>
          <p:cNvPr id="27" name="Shape 24"/>
          <p:cNvSpPr/>
          <p:nvPr/>
        </p:nvSpPr>
        <p:spPr>
          <a:xfrm>
            <a:off x="5514975" y="643946"/>
            <a:ext cx="3228975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522768" y="640915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514975" y="643946"/>
            <a:ext cx="3228975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EVIDENCE (SHOW, DON'T TELL)</a:t>
            </a:r>
            <a:endParaRPr lang="en-US" sz="784"/>
          </a:p>
        </p:txBody>
      </p:sp>
      <p:sp>
        <p:nvSpPr>
          <p:cNvPr id="32" name="Text 29"/>
          <p:cNvSpPr/>
          <p:nvPr/>
        </p:nvSpPr>
        <p:spPr>
          <a:xfrm>
            <a:off x="6179065" y="2048925"/>
            <a:ext cx="2236859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486400" y="4177001"/>
            <a:ext cx="3228975" cy="966499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486400" y="4177001"/>
            <a:ext cx="3228975" cy="28575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593556" y="4312732"/>
            <a:ext cx="301466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E651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HELP NEEDED / QUESTIONS</a:t>
            </a:r>
            <a:endParaRPr lang="en-US" sz="683"/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F017F171-5ABA-7FED-BA28-6540C359C231}"/>
              </a:ext>
            </a:extLst>
          </p:cNvPr>
          <p:cNvSpPr/>
          <p:nvPr/>
        </p:nvSpPr>
        <p:spPr>
          <a:xfrm>
            <a:off x="387754" y="3338988"/>
            <a:ext cx="4843463" cy="26943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IN PROGRESS</a:t>
            </a:r>
            <a:endParaRPr lang="en-US" sz="784"/>
          </a:p>
        </p:txBody>
      </p:sp>
      <p:sp>
        <p:nvSpPr>
          <p:cNvPr id="45" name="AutoShape 8">
            <a:extLst>
              <a:ext uri="{FF2B5EF4-FFF2-40B4-BE49-F238E27FC236}">
                <a16:creationId xmlns:a16="http://schemas.microsoft.com/office/drawing/2014/main" id="{EF6815CA-200F-E3EE-0096-16B2874078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D2C3BAF-C560-2A3F-C600-8E33B0D45421}"/>
              </a:ext>
            </a:extLst>
          </p:cNvPr>
          <p:cNvSpPr/>
          <p:nvPr/>
        </p:nvSpPr>
        <p:spPr>
          <a:xfrm>
            <a:off x="8210550" y="2767013"/>
            <a:ext cx="85725" cy="7835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13423B49-5A78-47F5-9F53-50E0E8E4063F}"/>
              </a:ext>
            </a:extLst>
          </p:cNvPr>
          <p:cNvSpPr/>
          <p:nvPr/>
        </p:nvSpPr>
        <p:spPr>
          <a:xfrm>
            <a:off x="420795" y="2443340"/>
            <a:ext cx="48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83"/>
          </a:p>
        </p:txBody>
      </p:sp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D9FC1D-23DA-2105-8D44-4EE01A01A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650" y="1157985"/>
            <a:ext cx="3154994" cy="16610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6-04-14 at 09.42.32">
            <a:hlinkClick r:id="" action="ppaction://media"/>
            <a:extLst>
              <a:ext uri="{FF2B5EF4-FFF2-40B4-BE49-F238E27FC236}">
                <a16:creationId xmlns:a16="http://schemas.microsoft.com/office/drawing/2014/main" id="{BE8BF760-B8F7-463E-F183-7A78607E503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542925"/>
            <a:ext cx="731520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9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3042" y="362328"/>
            <a:ext cx="4664739" cy="327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3: Basel Feras Ghunaim 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895594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895594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895594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ACCOMPLISHED (SINCE LAST REPORT)</a:t>
            </a:r>
            <a:endParaRPr lang="en-US" sz="885"/>
          </a:p>
        </p:txBody>
      </p:sp>
      <p:sp>
        <p:nvSpPr>
          <p:cNvPr id="7" name="Text 4"/>
          <p:cNvSpPr/>
          <p:nvPr/>
        </p:nvSpPr>
        <p:spPr>
          <a:xfrm>
            <a:off x="428625" y="1315289"/>
            <a:ext cx="4143375" cy="110799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Completed the gripper mechanical design using a rack and pinion mechanism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Finalized the V-shaped gripping area for improved handling of small objects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Completed full CAD design of the gripper, including suction integration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Designed and aligned the suction mounting system with the gripper tip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Selected and finalized components:</a:t>
            </a:r>
          </a:p>
          <a:p>
            <a:pPr marL="742950" lvl="1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Vacuum pump</a:t>
            </a:r>
          </a:p>
          <a:p>
            <a:pPr marL="742950" lvl="1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M5 joint silicone suction cup</a:t>
            </a:r>
          </a:p>
          <a:p>
            <a:pPr marL="742950" lvl="1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4 mm brass barbed connector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Sent all parts for 3D printing</a:t>
            </a:r>
            <a:endParaRPr lang="en-US" sz="800">
              <a:ea typeface="Calibri"/>
              <a:cs typeface="Calibri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679156" y="890875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79156" y="89087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79156" y="890875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 PROGRESS</a:t>
            </a:r>
            <a:endParaRPr lang="en-US" sz="885"/>
          </a:p>
        </p:txBody>
      </p:sp>
      <p:sp>
        <p:nvSpPr>
          <p:cNvPr id="16" name="Text 13"/>
          <p:cNvSpPr/>
          <p:nvPr/>
        </p:nvSpPr>
        <p:spPr>
          <a:xfrm>
            <a:off x="4679157" y="1310570"/>
            <a:ext cx="4032372" cy="36933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Fabrication phase: 3D printing of gripper components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Preparing for assembly of mechanical and suction systems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Reviewing design for any last adjustments before testing</a:t>
            </a:r>
            <a:endParaRPr lang="en-US" sz="800">
              <a:ea typeface="Calibri"/>
              <a:cs typeface="Calibri"/>
            </a:endParaRPr>
          </a:p>
        </p:txBody>
      </p:sp>
      <p:sp>
        <p:nvSpPr>
          <p:cNvPr id="9" name="Shape 17">
            <a:extLst>
              <a:ext uri="{FF2B5EF4-FFF2-40B4-BE49-F238E27FC236}">
                <a16:creationId xmlns:a16="http://schemas.microsoft.com/office/drawing/2014/main" id="{F08FA920-262A-027D-F8B0-48B74695F9F1}"/>
              </a:ext>
            </a:extLst>
          </p:cNvPr>
          <p:cNvSpPr/>
          <p:nvPr/>
        </p:nvSpPr>
        <p:spPr>
          <a:xfrm>
            <a:off x="345688" y="2562349"/>
            <a:ext cx="4106971" cy="2643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18">
            <a:extLst>
              <a:ext uri="{FF2B5EF4-FFF2-40B4-BE49-F238E27FC236}">
                <a16:creationId xmlns:a16="http://schemas.microsoft.com/office/drawing/2014/main" id="{55A05CCD-5AF9-137C-11D5-B20658210679}"/>
              </a:ext>
            </a:extLst>
          </p:cNvPr>
          <p:cNvSpPr/>
          <p:nvPr/>
        </p:nvSpPr>
        <p:spPr>
          <a:xfrm>
            <a:off x="309284" y="2572275"/>
            <a:ext cx="28575" cy="26431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9">
            <a:extLst>
              <a:ext uri="{FF2B5EF4-FFF2-40B4-BE49-F238E27FC236}">
                <a16:creationId xmlns:a16="http://schemas.microsoft.com/office/drawing/2014/main" id="{8236D2F3-39F0-957D-EA72-63F4429D6E25}"/>
              </a:ext>
            </a:extLst>
          </p:cNvPr>
          <p:cNvSpPr/>
          <p:nvPr/>
        </p:nvSpPr>
        <p:spPr>
          <a:xfrm>
            <a:off x="317113" y="2572274"/>
            <a:ext cx="4843463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WEEK PLAN</a:t>
            </a:r>
            <a:endParaRPr lang="en-US" sz="784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FB89DB1A-8A87-13F0-75C0-6E554485E069}"/>
              </a:ext>
            </a:extLst>
          </p:cNvPr>
          <p:cNvSpPr/>
          <p:nvPr/>
        </p:nvSpPr>
        <p:spPr>
          <a:xfrm>
            <a:off x="309284" y="2984534"/>
            <a:ext cx="4143375" cy="110799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Receive and assemble printed parts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Integrate:</a:t>
            </a:r>
          </a:p>
          <a:p>
            <a:pPr marL="742950" lvl="1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Gripper mechanism</a:t>
            </a:r>
          </a:p>
          <a:p>
            <a:pPr marL="742950" lvl="1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Suction system (pump + tube + suction cup)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Perform initial functional testing:</a:t>
            </a:r>
          </a:p>
          <a:p>
            <a:pPr marL="742950" lvl="1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Gripper opening/closing</a:t>
            </a:r>
          </a:p>
          <a:p>
            <a:pPr marL="742950" lvl="1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Suction performance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Identify and fix any mechanical or alignment issues</a:t>
            </a:r>
          </a:p>
          <a:p>
            <a:pPr marL="285750" indent="-285750" algn="just">
              <a:buFont typeface="Arial"/>
              <a:buChar char="•"/>
            </a:pPr>
            <a:r>
              <a:rPr lang="en-US" sz="800">
                <a:ea typeface="+mn-lt"/>
                <a:cs typeface="+mn-lt"/>
              </a:rPr>
              <a:t>Begin basic control integration</a:t>
            </a:r>
            <a:endParaRPr lang="en-US" sz="800">
              <a:ea typeface="Calibri"/>
              <a:cs typeface="Calibri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0188C75-0A6A-95F3-FB81-1E97381BB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850" y="1787058"/>
            <a:ext cx="3218985" cy="30863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2FD0AC-36AA-0875-E3A6-DBCFC2FD7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73" y="167640"/>
            <a:ext cx="3560456" cy="23025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2D88A4-369C-8974-842A-737C2A6E4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573" y="97161"/>
            <a:ext cx="3446824" cy="2443501"/>
          </a:xfrm>
          <a:prstGeom prst="rect">
            <a:avLst/>
          </a:prstGeom>
        </p:spPr>
      </p:pic>
      <p:pic>
        <p:nvPicPr>
          <p:cNvPr id="6" name="Picture 5" descr="370 Mini Vacuum Pump">
            <a:extLst>
              <a:ext uri="{FF2B5EF4-FFF2-40B4-BE49-F238E27FC236}">
                <a16:creationId xmlns:a16="http://schemas.microsoft.com/office/drawing/2014/main" id="{4AD16085-7955-9E6E-A3E1-82EE2C17B1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24" y="2571750"/>
            <a:ext cx="2099310" cy="2099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3EFD95-BC96-A90A-C2C3-5096F4F11B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7834" y="2654452"/>
            <a:ext cx="1424249" cy="1886827"/>
          </a:xfrm>
          <a:prstGeom prst="rect">
            <a:avLst/>
          </a:prstGeom>
        </p:spPr>
      </p:pic>
      <p:pic>
        <p:nvPicPr>
          <p:cNvPr id="8" name="Picture 7" descr="4mm Brass Bulkhead Engine Bay To In Car Hose Connector | R-Spec Performance">
            <a:extLst>
              <a:ext uri="{FF2B5EF4-FFF2-40B4-BE49-F238E27FC236}">
                <a16:creationId xmlns:a16="http://schemas.microsoft.com/office/drawing/2014/main" id="{8FC46B5E-E15B-1E92-AF75-20D25045466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010" y="2641254"/>
            <a:ext cx="1965960" cy="196596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4A31D0-4710-462D-BF56-54C817F4FFC9}"/>
              </a:ext>
            </a:extLst>
          </p:cNvPr>
          <p:cNvSpPr txBox="1"/>
          <p:nvPr/>
        </p:nvSpPr>
        <p:spPr>
          <a:xfrm>
            <a:off x="6011090" y="4541279"/>
            <a:ext cx="30777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M5 Joint Silicone Vacuum Pneumatic Suction Cup</a:t>
            </a:r>
          </a:p>
          <a:p>
            <a:pPr algn="ctr"/>
            <a:endParaRPr lang="en-US" sz="11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39C867-A742-DAF4-2C48-D121A35AF707}"/>
              </a:ext>
            </a:extLst>
          </p:cNvPr>
          <p:cNvSpPr txBox="1"/>
          <p:nvPr/>
        </p:nvSpPr>
        <p:spPr>
          <a:xfrm>
            <a:off x="2756873" y="4541279"/>
            <a:ext cx="3077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E" sz="1200"/>
              <a:t>4mm Brass Barbed Hose Connector</a:t>
            </a:r>
            <a:endParaRPr lang="en-US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21FDE2-9D2A-FC78-EC49-40F003B6DAF5}"/>
              </a:ext>
            </a:extLst>
          </p:cNvPr>
          <p:cNvSpPr txBox="1"/>
          <p:nvPr/>
        </p:nvSpPr>
        <p:spPr>
          <a:xfrm>
            <a:off x="-137989" y="4479723"/>
            <a:ext cx="3077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err="1"/>
              <a:t>Vacuum</a:t>
            </a:r>
            <a:r>
              <a:rPr lang="es-ES" sz="1200"/>
              <a:t> </a:t>
            </a:r>
            <a:r>
              <a:rPr lang="es-ES" sz="1200" err="1"/>
              <a:t>pump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3903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5B97239-2685-48C8-8104-1D4E4E383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72613E-12EB-9F38-6E4B-3C5EC8A854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6" r="-4" b="-4"/>
          <a:stretch>
            <a:fillRect/>
          </a:stretch>
        </p:blipFill>
        <p:spPr>
          <a:xfrm rot="5400000">
            <a:off x="1350344" y="-601913"/>
            <a:ext cx="1796782" cy="33642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8D55CE-0B4E-5BFB-8A32-5A58FB95B3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636" b="-3"/>
          <a:stretch>
            <a:fillRect/>
          </a:stretch>
        </p:blipFill>
        <p:spPr>
          <a:xfrm>
            <a:off x="83252" y="2398374"/>
            <a:ext cx="2157483" cy="22380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75C6CB-C0EA-F7EE-BB2A-0A961DCBC5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88" b="4"/>
          <a:stretch>
            <a:fillRect/>
          </a:stretch>
        </p:blipFill>
        <p:spPr>
          <a:xfrm>
            <a:off x="4967815" y="444822"/>
            <a:ext cx="3978804" cy="39071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9AC9DD-B41A-D319-579E-D54266E480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283" r="2" b="8011"/>
          <a:stretch>
            <a:fillRect/>
          </a:stretch>
        </p:blipFill>
        <p:spPr>
          <a:xfrm>
            <a:off x="2322844" y="2088735"/>
            <a:ext cx="2570861" cy="270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46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9614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3693319" cy="3264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US" sz="2000" b="1">
                <a:solidFill>
                  <a:srgbClr val="000000"/>
                </a:solidFill>
                <a:latin typeface="Roboto Mono"/>
                <a:ea typeface="Roboto Mono"/>
                <a:cs typeface="Roboto Mono" pitchFamily="34" charset="-120"/>
              </a:rPr>
              <a:t>MEMBER 4: Ahmed </a:t>
            </a:r>
            <a:r>
              <a:rPr lang="en-US" sz="2000" b="1" err="1">
                <a:solidFill>
                  <a:srgbClr val="000000"/>
                </a:solidFill>
                <a:latin typeface="Roboto Mono"/>
                <a:ea typeface="Roboto Mono"/>
                <a:cs typeface="Roboto Mono" pitchFamily="34" charset="-120"/>
              </a:rPr>
              <a:t>Alshehhi</a:t>
            </a:r>
            <a:endParaRPr lang="en-US" sz="2016" err="1"/>
          </a:p>
        </p:txBody>
      </p:sp>
      <p:sp>
        <p:nvSpPr>
          <p:cNvPr id="4" name="Shape 1"/>
          <p:cNvSpPr/>
          <p:nvPr/>
        </p:nvSpPr>
        <p:spPr>
          <a:xfrm>
            <a:off x="428625" y="1292656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292656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292656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ACCOMPLISHED (SINCE LAST REPORT)</a:t>
            </a:r>
            <a:endParaRPr lang="en-US" sz="885"/>
          </a:p>
        </p:txBody>
      </p:sp>
      <p:sp>
        <p:nvSpPr>
          <p:cNvPr id="7" name="Text 4"/>
          <p:cNvSpPr/>
          <p:nvPr/>
        </p:nvSpPr>
        <p:spPr>
          <a:xfrm>
            <a:off x="428625" y="1712351"/>
            <a:ext cx="3970831" cy="65229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00">
                <a:solidFill>
                  <a:srgbClr val="333333"/>
                </a:solidFill>
                <a:ea typeface="+mn-lt"/>
                <a:cs typeface="+mn-lt"/>
              </a:rPr>
              <a:t>Researched manual control methods for the robotic arm (joystick-based system and Robot </a:t>
            </a:r>
            <a:endParaRPr lang="en-US"/>
          </a:p>
          <a:p>
            <a:pPr>
              <a:lnSpc>
                <a:spcPts val="1300"/>
              </a:lnSpc>
            </a:pPr>
            <a:r>
              <a:rPr lang="en-US" sz="800">
                <a:solidFill>
                  <a:srgbClr val="333333"/>
                </a:solidFill>
                <a:ea typeface="+mn-lt"/>
                <a:cs typeface="+mn-lt"/>
              </a:rPr>
              <a:t>Shaped miniature control arm).</a:t>
            </a:r>
          </a:p>
          <a:p>
            <a:pPr>
              <a:lnSpc>
                <a:spcPts val="1300"/>
              </a:lnSpc>
            </a:pPr>
            <a:endParaRPr lang="en-US" sz="800">
              <a:solidFill>
                <a:srgbClr val="333333"/>
              </a:solidFill>
              <a:ea typeface="Calibri"/>
              <a:cs typeface="Calibri"/>
            </a:endParaRPr>
          </a:p>
          <a:p>
            <a:pPr>
              <a:lnSpc>
                <a:spcPts val="1300"/>
              </a:lnSpc>
            </a:pPr>
            <a:endParaRPr lang="en-US" sz="800">
              <a:solidFill>
                <a:srgbClr val="333333"/>
              </a:solidFill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449035" y="1943798"/>
            <a:ext cx="4207823" cy="11524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endParaRPr lang="en-US" sz="800">
              <a:solidFill>
                <a:srgbClr val="333333"/>
              </a:solidFill>
              <a:ea typeface="+mn-lt"/>
              <a:cs typeface="+mn-lt"/>
            </a:endParaRPr>
          </a:p>
          <a:p>
            <a:pPr>
              <a:lnSpc>
                <a:spcPts val="1300"/>
              </a:lnSpc>
            </a:pPr>
            <a:r>
              <a:rPr lang="en-US" sz="800">
                <a:solidFill>
                  <a:srgbClr val="333333"/>
                </a:solidFill>
                <a:ea typeface="+mn-lt"/>
                <a:cs typeface="+mn-lt"/>
              </a:rPr>
              <a:t>Identified and listed required components for the control system (Arduino, joystick, wires, potentiometer, etc.)</a:t>
            </a:r>
            <a:endParaRPr lang="en-US"/>
          </a:p>
          <a:p>
            <a:pPr>
              <a:lnSpc>
                <a:spcPts val="1300"/>
              </a:lnSpc>
            </a:pPr>
            <a:endParaRPr lang="en-US" sz="800">
              <a:solidFill>
                <a:srgbClr val="333333"/>
              </a:solidFill>
              <a:ea typeface="Calibri"/>
              <a:cs typeface="Calibri"/>
            </a:endParaRPr>
          </a:p>
          <a:p>
            <a:pPr>
              <a:lnSpc>
                <a:spcPts val="1300"/>
              </a:lnSpc>
            </a:pPr>
            <a:r>
              <a:rPr lang="en-US" sz="800">
                <a:solidFill>
                  <a:schemeClr val="accent2"/>
                </a:solidFill>
                <a:ea typeface="Calibri"/>
                <a:cs typeface="Calibri"/>
              </a:rPr>
              <a:t>•  </a:t>
            </a:r>
            <a:r>
              <a:rPr lang="en-US" sz="800">
                <a:ea typeface="Calibri"/>
                <a:cs typeface="Calibri"/>
              </a:rPr>
              <a:t>Collected approximate prices for all components and compared options.</a:t>
            </a:r>
          </a:p>
          <a:p>
            <a:pPr>
              <a:lnSpc>
                <a:spcPts val="1300"/>
              </a:lnSpc>
            </a:pPr>
            <a:endParaRPr lang="en-US" sz="80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lnSpc>
                <a:spcPts val="1300"/>
              </a:lnSpc>
            </a:pPr>
            <a:r>
              <a:rPr lang="en-US" sz="800">
                <a:solidFill>
                  <a:schemeClr val="accent2"/>
                </a:solidFill>
                <a:ea typeface="Calibri"/>
                <a:cs typeface="Calibri"/>
              </a:rPr>
              <a:t>•</a:t>
            </a:r>
            <a:r>
              <a:rPr lang="en-US" sz="800">
                <a:solidFill>
                  <a:srgbClr val="333333"/>
                </a:solidFill>
                <a:ea typeface="Calibri"/>
                <a:cs typeface="Calibri"/>
              </a:rPr>
              <a:t> Watched and analyzed reference videos to understand implementation.</a:t>
            </a:r>
          </a:p>
        </p:txBody>
      </p:sp>
      <p:sp>
        <p:nvSpPr>
          <p:cNvPr id="10" name="Text 7"/>
          <p:cNvSpPr/>
          <p:nvPr/>
        </p:nvSpPr>
        <p:spPr>
          <a:xfrm>
            <a:off x="428625" y="2246681"/>
            <a:ext cx="4036219" cy="37292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>
              <a:lnSpc>
                <a:spcPts val="900"/>
              </a:lnSpc>
            </a:pPr>
            <a:endParaRPr lang="en-US" sz="800">
              <a:latin typeface="Aptos"/>
              <a:ea typeface="Inter"/>
              <a:cs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28625" y="1712351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12" name="Text 9"/>
          <p:cNvSpPr/>
          <p:nvPr/>
        </p:nvSpPr>
        <p:spPr>
          <a:xfrm>
            <a:off x="420461" y="2168316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13" name="Shape 10"/>
          <p:cNvSpPr/>
          <p:nvPr/>
        </p:nvSpPr>
        <p:spPr>
          <a:xfrm>
            <a:off x="4679156" y="1292656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79156" y="1292656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79156" y="1292656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 PROGRESS</a:t>
            </a:r>
            <a:endParaRPr lang="en-US" sz="885"/>
          </a:p>
        </p:txBody>
      </p:sp>
      <p:sp>
        <p:nvSpPr>
          <p:cNvPr id="16" name="Text 13"/>
          <p:cNvSpPr/>
          <p:nvPr/>
        </p:nvSpPr>
        <p:spPr>
          <a:xfrm>
            <a:off x="4559539" y="1703490"/>
            <a:ext cx="3034677" cy="31887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00">
                <a:solidFill>
                  <a:schemeClr val="accent2"/>
                </a:solidFill>
                <a:ea typeface="+mn-lt"/>
                <a:cs typeface="+mn-lt"/>
              </a:rPr>
              <a:t>• </a:t>
            </a:r>
            <a:r>
              <a:rPr lang="en-US" sz="800">
                <a:solidFill>
                  <a:srgbClr val="333333"/>
                </a:solidFill>
                <a:ea typeface="+mn-lt"/>
                <a:cs typeface="+mn-lt"/>
              </a:rPr>
              <a:t>Refining component selection based on cost and availability.</a:t>
            </a:r>
            <a:br>
              <a:rPr lang="en-US" sz="800">
                <a:ea typeface="+mn-lt"/>
                <a:cs typeface="+mn-lt"/>
              </a:rPr>
            </a:br>
            <a:r>
              <a:rPr lang="en-US" sz="800">
                <a:solidFill>
                  <a:schemeClr val="accent2"/>
                </a:solidFill>
                <a:ea typeface="+mn-lt"/>
                <a:cs typeface="+mn-lt"/>
              </a:rPr>
              <a:t> •</a:t>
            </a:r>
            <a:r>
              <a:rPr lang="en-US" sz="800">
                <a:solidFill>
                  <a:srgbClr val="333333"/>
                </a:solidFill>
                <a:ea typeface="+mn-lt"/>
                <a:cs typeface="+mn-lt"/>
              </a:rPr>
              <a:t> Studying how to connect joystick with Arduino for manual control.</a:t>
            </a:r>
          </a:p>
        </p:txBody>
      </p:sp>
      <p:sp>
        <p:nvSpPr>
          <p:cNvPr id="19" name="Text 16"/>
          <p:cNvSpPr/>
          <p:nvPr/>
        </p:nvSpPr>
        <p:spPr>
          <a:xfrm>
            <a:off x="4679156" y="1943798"/>
            <a:ext cx="65" cy="150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750" b="1">
              <a:solidFill>
                <a:srgbClr val="FF5722"/>
              </a:solidFill>
              <a:latin typeface="Inter"/>
              <a:ea typeface="Calibri"/>
              <a:cs typeface="Calibri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28625" y="3600255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360025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28625" y="3600255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WEEK PLAN</a:t>
            </a:r>
            <a:endParaRPr lang="en-US" sz="885"/>
          </a:p>
        </p:txBody>
      </p:sp>
      <p:sp>
        <p:nvSpPr>
          <p:cNvPr id="23" name="Text 20"/>
          <p:cNvSpPr/>
          <p:nvPr/>
        </p:nvSpPr>
        <p:spPr>
          <a:xfrm>
            <a:off x="428625" y="4019950"/>
            <a:ext cx="2162643" cy="31887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00">
                <a:solidFill>
                  <a:srgbClr val="333333"/>
                </a:solidFill>
                <a:ea typeface="+mn-lt"/>
                <a:cs typeface="+mn-lt"/>
              </a:rPr>
              <a:t>Finalize component list and confirm availability.</a:t>
            </a:r>
            <a:br>
              <a:rPr lang="en-US" sz="800">
                <a:ea typeface="+mn-lt"/>
                <a:cs typeface="+mn-lt"/>
              </a:rPr>
            </a:br>
            <a:endParaRPr lang="en-US" sz="800">
              <a:solidFill>
                <a:srgbClr val="333333"/>
              </a:solidFill>
              <a:ea typeface="+mn-lt"/>
              <a:cs typeface="+mn-lt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28625" y="4251396"/>
            <a:ext cx="2483244" cy="15215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800">
                <a:solidFill>
                  <a:srgbClr val="333333"/>
                </a:solidFill>
                <a:ea typeface="+mn-lt"/>
                <a:cs typeface="+mn-lt"/>
              </a:rPr>
              <a:t>Start basic wiring and testing of joystick control system.</a:t>
            </a:r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28625" y="4019950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26" name="Text 23"/>
          <p:cNvSpPr/>
          <p:nvPr/>
        </p:nvSpPr>
        <p:spPr>
          <a:xfrm>
            <a:off x="428625" y="4251396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27" name="Shape 24"/>
          <p:cNvSpPr/>
          <p:nvPr/>
        </p:nvSpPr>
        <p:spPr>
          <a:xfrm>
            <a:off x="4679156" y="3600255"/>
            <a:ext cx="403621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679156" y="360025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679156" y="3600255"/>
            <a:ext cx="403621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HELP NEEDED / QUESTIONS</a:t>
            </a:r>
            <a:endParaRPr lang="en-US" sz="885"/>
          </a:p>
        </p:txBody>
      </p:sp>
      <p:sp>
        <p:nvSpPr>
          <p:cNvPr id="30" name="Text 27"/>
          <p:cNvSpPr/>
          <p:nvPr/>
        </p:nvSpPr>
        <p:spPr>
          <a:xfrm>
            <a:off x="4679156" y="4019950"/>
            <a:ext cx="171778" cy="15215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679156" y="4251396"/>
            <a:ext cx="171778" cy="15215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679156" y="4019950"/>
            <a:ext cx="53578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/>
          </a:p>
        </p:txBody>
      </p:sp>
      <p:sp>
        <p:nvSpPr>
          <p:cNvPr id="33" name="Text 30"/>
          <p:cNvSpPr/>
          <p:nvPr/>
        </p:nvSpPr>
        <p:spPr>
          <a:xfrm>
            <a:off x="4679156" y="4251396"/>
            <a:ext cx="65" cy="150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750" b="1">
              <a:solidFill>
                <a:srgbClr val="FF5722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76" y="0"/>
            <a:ext cx="9286875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753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WRAP-UP: WHAT WE NEED FROM THE INSTRUCTOR / STAKEHOLDERS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669489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669489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669489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DECISIONS REQUESTED</a:t>
            </a:r>
            <a:endParaRPr lang="en-US" sz="885"/>
          </a:p>
        </p:txBody>
      </p:sp>
      <p:sp>
        <p:nvSpPr>
          <p:cNvPr id="8" name="Text 5"/>
          <p:cNvSpPr/>
          <p:nvPr/>
        </p:nvSpPr>
        <p:spPr>
          <a:xfrm>
            <a:off x="428625" y="2553528"/>
            <a:ext cx="4000500" cy="16177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8625" y="3196465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8625" y="319646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8625" y="3196465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QUESTIONS / FEEDBACK</a:t>
            </a:r>
            <a:endParaRPr lang="en-US" sz="885"/>
          </a:p>
        </p:txBody>
      </p:sp>
      <p:sp>
        <p:nvSpPr>
          <p:cNvPr id="18" name="Shape 15"/>
          <p:cNvSpPr/>
          <p:nvPr/>
        </p:nvSpPr>
        <p:spPr>
          <a:xfrm>
            <a:off x="4714875" y="1669489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14875" y="1669489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14875" y="1669489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ITEMS FOLLOW-UP</a:t>
            </a:r>
            <a:endParaRPr lang="en-US" sz="885"/>
          </a:p>
        </p:txBody>
      </p:sp>
      <p:sp>
        <p:nvSpPr>
          <p:cNvPr id="23" name="Text 20"/>
          <p:cNvSpPr/>
          <p:nvPr/>
        </p:nvSpPr>
        <p:spPr>
          <a:xfrm>
            <a:off x="4714875" y="2639253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714875" y="3568303"/>
            <a:ext cx="4000500" cy="128944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14875" y="3568303"/>
            <a:ext cx="40005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57750" y="3739753"/>
            <a:ext cx="476092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APPENDIX </a:t>
            </a:r>
            <a:endParaRPr lang="en-US" sz="683"/>
          </a:p>
        </p:txBody>
      </p:sp>
      <p:sp>
        <p:nvSpPr>
          <p:cNvPr id="30" name="Text 27"/>
          <p:cNvSpPr/>
          <p:nvPr/>
        </p:nvSpPr>
        <p:spPr>
          <a:xfrm>
            <a:off x="4857750" y="394335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857750" y="4200525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857750" y="445770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857750" y="3943350"/>
            <a:ext cx="65" cy="161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784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1AD73AC1-3C42-9F63-40ED-CF67B3D236FE}"/>
              </a:ext>
            </a:extLst>
          </p:cNvPr>
          <p:cNvSpPr/>
          <p:nvPr/>
        </p:nvSpPr>
        <p:spPr>
          <a:xfrm>
            <a:off x="4857750" y="409575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0E96E905-36F9-C692-A9BB-2D2C4A18AEAA}"/>
              </a:ext>
            </a:extLst>
          </p:cNvPr>
          <p:cNvSpPr/>
          <p:nvPr/>
        </p:nvSpPr>
        <p:spPr>
          <a:xfrm>
            <a:off x="4857750" y="4095750"/>
            <a:ext cx="65" cy="161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784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CB6EAA-7561-9951-C6BC-26F7172DEBAF}"/>
              </a:ext>
            </a:extLst>
          </p:cNvPr>
          <p:cNvSpPr txBox="1"/>
          <p:nvPr/>
        </p:nvSpPr>
        <p:spPr>
          <a:xfrm>
            <a:off x="425016" y="3579003"/>
            <a:ext cx="4000749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EE179B-FA96-0A39-5947-0A2639E200FC}"/>
              </a:ext>
            </a:extLst>
          </p:cNvPr>
          <p:cNvSpPr txBox="1"/>
          <p:nvPr/>
        </p:nvSpPr>
        <p:spPr>
          <a:xfrm>
            <a:off x="4714875" y="2060943"/>
            <a:ext cx="4674636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Determine the control method – joystick/app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Pneumatic integration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Physical 3d printed prototype so testing can begin</a:t>
            </a:r>
            <a:endParaRPr lang="en-US">
              <a:solidFill>
                <a:prstClr val="black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Refining the computer vision model.</a:t>
            </a:r>
            <a:endParaRPr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4EDFC8-AB22-910B-6617-934AD3C2B339}"/>
              </a:ext>
            </a:extLst>
          </p:cNvPr>
          <p:cNvSpPr txBox="1"/>
          <p:nvPr/>
        </p:nvSpPr>
        <p:spPr>
          <a:xfrm>
            <a:off x="4757738" y="3923407"/>
            <a:ext cx="47959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4"/>
              </a:rPr>
              <a:t>https://maherrrrr99.github.io/maherrrrr99/</a:t>
            </a: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lvl="0">
              <a:buClr>
                <a:srgbClr val="ED7D31"/>
              </a:buClr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5"/>
              </a:rPr>
              <a:t>https://sabeehahasham.github.io/</a:t>
            </a: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lvl="0">
              <a:buClr>
                <a:srgbClr val="ED7D31"/>
              </a:buClr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6"/>
              </a:rPr>
              <a:t>https://basel-ghunaim.github.io/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7"/>
              </a:rPr>
              <a:t>https://ahmed1090822.github.io/Ahmed109.github.io/</a:t>
            </a: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93d1ae2-586b-4762-bfc6-b6d9cd65cc2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96354FFF6CC942A19C2C083F94702F" ma:contentTypeVersion="15" ma:contentTypeDescription="Create a new document." ma:contentTypeScope="" ma:versionID="51772ab33cecb87251aa33550c28e442">
  <xsd:schema xmlns:xsd="http://www.w3.org/2001/XMLSchema" xmlns:xs="http://www.w3.org/2001/XMLSchema" xmlns:p="http://schemas.microsoft.com/office/2006/metadata/properties" xmlns:ns3="c9c03dcb-1852-45b8-a297-7cb123ff6eff" xmlns:ns4="793d1ae2-586b-4762-bfc6-b6d9cd65cc26" targetNamespace="http://schemas.microsoft.com/office/2006/metadata/properties" ma:root="true" ma:fieldsID="c5de175633f0ecf58f5b9e8331d93e2c" ns3:_="" ns4:_="">
    <xsd:import namespace="c9c03dcb-1852-45b8-a297-7cb123ff6eff"/>
    <xsd:import namespace="793d1ae2-586b-4762-bfc6-b6d9cd65cc2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bjectDetectorVersions" minOccurs="0"/>
                <xsd:element ref="ns4:MediaServiceDateTaken" minOccurs="0"/>
                <xsd:element ref="ns4:MediaServiceSystemTags" minOccurs="0"/>
                <xsd:element ref="ns4:MediaLengthInSeconds" minOccurs="0"/>
                <xsd:element ref="ns4:MediaServiceSearchProperties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03dcb-1852-45b8-a297-7cb123ff6ef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d1ae2-586b-4762-bfc6-b6d9cd65cc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BF07C3-32F2-4B54-ABEC-F568E42565AD}">
  <ds:schemaRefs>
    <ds:schemaRef ds:uri="793d1ae2-586b-4762-bfc6-b6d9cd65cc26"/>
    <ds:schemaRef ds:uri="c9c03dcb-1852-45b8-a297-7cb123ff6ef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E42817B-8532-4D50-923B-5326B5BF6E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1F096D-F3D9-4AB2-8749-1B5564A99E52}">
  <ds:schemaRefs>
    <ds:schemaRef ds:uri="793d1ae2-586b-4762-bfc6-b6d9cd65cc26"/>
    <ds:schemaRef ds:uri="c9c03dcb-1852-45b8-a297-7cb123ff6ef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1169</Words>
  <Application>Microsoft Office PowerPoint</Application>
  <PresentationFormat>On-screen Show (16:9)</PresentationFormat>
  <Paragraphs>202</Paragraphs>
  <Slides>15</Slides>
  <Notes>9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Calibri</vt:lpstr>
      <vt:lpstr>Inter</vt:lpstr>
      <vt:lpstr>Inter </vt:lpstr>
      <vt:lpstr>Roboto Mono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Maher Nader Abo Abed</cp:lastModifiedBy>
  <cp:revision>1</cp:revision>
  <dcterms:created xsi:type="dcterms:W3CDTF">2026-03-09T12:39:49Z</dcterms:created>
  <dcterms:modified xsi:type="dcterms:W3CDTF">2026-04-14T06:57:48Z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0x010100B696354FFF6CC942A19C2C083F94702F</vt:lpwstr>
  </property>
</Properties>
</file>